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1"/>
  </p:notesMasterIdLst>
  <p:sldIdLst>
    <p:sldId id="256" r:id="rId2"/>
    <p:sldId id="258" r:id="rId3"/>
    <p:sldId id="371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399" r:id="rId31"/>
    <p:sldId id="400" r:id="rId32"/>
    <p:sldId id="401" r:id="rId33"/>
    <p:sldId id="402" r:id="rId34"/>
    <p:sldId id="403" r:id="rId35"/>
    <p:sldId id="404" r:id="rId36"/>
    <p:sldId id="405" r:id="rId37"/>
    <p:sldId id="406" r:id="rId38"/>
    <p:sldId id="407" r:id="rId39"/>
    <p:sldId id="408" r:id="rId40"/>
    <p:sldId id="409" r:id="rId41"/>
    <p:sldId id="410" r:id="rId42"/>
    <p:sldId id="411" r:id="rId43"/>
    <p:sldId id="412" r:id="rId44"/>
    <p:sldId id="413" r:id="rId45"/>
    <p:sldId id="414" r:id="rId46"/>
    <p:sldId id="415" r:id="rId47"/>
    <p:sldId id="416" r:id="rId48"/>
    <p:sldId id="417" r:id="rId49"/>
    <p:sldId id="418" r:id="rId50"/>
    <p:sldId id="419" r:id="rId51"/>
    <p:sldId id="420" r:id="rId52"/>
    <p:sldId id="421" r:id="rId53"/>
    <p:sldId id="422" r:id="rId54"/>
    <p:sldId id="423" r:id="rId55"/>
    <p:sldId id="424" r:id="rId56"/>
    <p:sldId id="425" r:id="rId57"/>
    <p:sldId id="426" r:id="rId58"/>
    <p:sldId id="427" r:id="rId59"/>
    <p:sldId id="260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CCFFFF"/>
    <a:srgbClr val="FFFFCC"/>
    <a:srgbClr val="CC00FF"/>
    <a:srgbClr val="FFCCFF"/>
    <a:srgbClr val="CCCCFF"/>
    <a:srgbClr val="CCFF99"/>
    <a:srgbClr val="00FFFF"/>
    <a:srgbClr val="FF9900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6461" autoAdjust="0"/>
  </p:normalViewPr>
  <p:slideViewPr>
    <p:cSldViewPr snapToGrid="0">
      <p:cViewPr varScale="1">
        <p:scale>
          <a:sx n="57" d="100"/>
          <a:sy n="57" d="100"/>
        </p:scale>
        <p:origin x="400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C86C8-EC39-4B80-9CB7-25E1F22C80C0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85DE5-EBF8-478B-BEE9-FD20CE0710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99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442FE5-7B48-4CBC-9A30-F305306F894E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3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地址指内存地址， 地址与内容无关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任何变量都有两个属性：变量值和地址</a:t>
            </a:r>
          </a:p>
        </p:txBody>
      </p:sp>
    </p:spTree>
    <p:extLst>
      <p:ext uri="{BB962C8B-B14F-4D97-AF65-F5344CB8AC3E}">
        <p14:creationId xmlns:p14="http://schemas.microsoft.com/office/powerpoint/2010/main" val="4150030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A37DA3-F6D1-4EE3-9F76-AAB390EE7042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4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以后，如果特别说明，指针就是指指针变量</a:t>
            </a:r>
          </a:p>
        </p:txBody>
      </p:sp>
    </p:spTree>
    <p:extLst>
      <p:ext uri="{BB962C8B-B14F-4D97-AF65-F5344CB8AC3E}">
        <p14:creationId xmlns:p14="http://schemas.microsoft.com/office/powerpoint/2010/main" val="3401459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0A8332-F7C7-41DD-ABEE-8FD3D784DFB4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5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Int </a:t>
            </a:r>
            <a:r>
              <a:rPr lang="zh-CN" altLang="en-US">
                <a:latin typeface="Arial" panose="020B0604020202020204" pitchFamily="34" charset="0"/>
              </a:rPr>
              <a:t>指指向变量的基类型</a:t>
            </a:r>
          </a:p>
        </p:txBody>
      </p:sp>
    </p:spTree>
    <p:extLst>
      <p:ext uri="{BB962C8B-B14F-4D97-AF65-F5344CB8AC3E}">
        <p14:creationId xmlns:p14="http://schemas.microsoft.com/office/powerpoint/2010/main" val="2974827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A1CE2F-8D25-40C6-A085-C30902625245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6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赋值注意必须是地址类型，不能为常数，也不能为不同类型的变量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p</a:t>
            </a:r>
            <a:r>
              <a:rPr lang="zh-CN" altLang="en-US" dirty="0">
                <a:latin typeface="Arial" panose="020B0604020202020204" pitchFamily="34" charset="0"/>
              </a:rPr>
              <a:t>和*</a:t>
            </a:r>
            <a:r>
              <a:rPr lang="en-US" altLang="zh-CN" dirty="0">
                <a:latin typeface="Arial" panose="020B0604020202020204" pitchFamily="34" charset="0"/>
              </a:rPr>
              <a:t>p</a:t>
            </a:r>
            <a:r>
              <a:rPr lang="zh-CN" altLang="en-US" dirty="0">
                <a:latin typeface="Arial" panose="020B0604020202020204" pitchFamily="34" charset="0"/>
              </a:rPr>
              <a:t>的区别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p</a:t>
            </a:r>
            <a:r>
              <a:rPr lang="zh-CN" altLang="en-US" dirty="0">
                <a:latin typeface="Arial" panose="020B0604020202020204" pitchFamily="34" charset="0"/>
              </a:rPr>
              <a:t>为地址，*</a:t>
            </a:r>
            <a:r>
              <a:rPr lang="en-US" altLang="zh-CN" dirty="0">
                <a:latin typeface="Arial" panose="020B0604020202020204" pitchFamily="34" charset="0"/>
              </a:rPr>
              <a:t>p</a:t>
            </a:r>
            <a:r>
              <a:rPr lang="zh-CN" altLang="en-US" dirty="0">
                <a:latin typeface="Arial" panose="020B0604020202020204" pitchFamily="34" charset="0"/>
              </a:rPr>
              <a:t>为变量</a:t>
            </a: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定义和引用*</a:t>
            </a:r>
            <a:r>
              <a:rPr lang="en-US" altLang="zh-CN" dirty="0">
                <a:latin typeface="Arial" panose="020B0604020202020204" pitchFamily="34" charset="0"/>
              </a:rPr>
              <a:t>p</a:t>
            </a:r>
            <a:r>
              <a:rPr lang="zh-CN" altLang="en-US" dirty="0">
                <a:latin typeface="Arial" panose="020B0604020202020204" pitchFamily="34" charset="0"/>
              </a:rPr>
              <a:t>的作用不同</a:t>
            </a:r>
          </a:p>
        </p:txBody>
      </p:sp>
    </p:spTree>
    <p:extLst>
      <p:ext uri="{BB962C8B-B14F-4D97-AF65-F5344CB8AC3E}">
        <p14:creationId xmlns:p14="http://schemas.microsoft.com/office/powerpoint/2010/main" val="3898794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26A94A-A3FC-453E-92BE-B92024D3EE79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7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376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52FD387-5F03-493C-B3BE-645482D7BEC8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9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注意：加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的含义是指后移到下一个元素或者说是后移数据类型所占的字节数，而不是加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个字节。</a:t>
            </a:r>
          </a:p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534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0FA10C-D29E-45FA-92AB-E4D5C92E9AB7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10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注意：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zh-CN" altLang="en-US">
                <a:latin typeface="Arial" panose="020B0604020202020204" pitchFamily="34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b</a:t>
            </a:r>
            <a:r>
              <a:rPr lang="zh-CN" altLang="en-US">
                <a:latin typeface="Arial" panose="020B0604020202020204" pitchFamily="34" charset="0"/>
              </a:rPr>
              <a:t>的值并未改变</a:t>
            </a:r>
          </a:p>
        </p:txBody>
      </p:sp>
    </p:spTree>
    <p:extLst>
      <p:ext uri="{BB962C8B-B14F-4D97-AF65-F5344CB8AC3E}">
        <p14:creationId xmlns:p14="http://schemas.microsoft.com/office/powerpoint/2010/main" val="3647686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A85DE5-EBF8-478B-BEE9-FD20CE07108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586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Win7</a:t>
            </a:r>
            <a:r>
              <a:rPr lang="zh-CN" altLang="en-US" dirty="0">
                <a:latin typeface="Arial" panose="020B0604020202020204" pitchFamily="34" charset="0"/>
              </a:rPr>
              <a:t>有内存保护，此程序无法正常运行，会造成系统错误。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 err="1">
                <a:latin typeface="Arial" panose="020B0604020202020204" pitchFamily="34" charset="0"/>
              </a:rPr>
              <a:t>Winxp</a:t>
            </a:r>
            <a:r>
              <a:rPr lang="zh-CN" altLang="en-US" dirty="0">
                <a:latin typeface="Arial" panose="020B0604020202020204" pitchFamily="34" charset="0"/>
              </a:rPr>
              <a:t>可以正常运行，并输出结果。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Dev</a:t>
            </a:r>
            <a:r>
              <a:rPr lang="zh-CN" altLang="en-US" dirty="0">
                <a:latin typeface="Arial" panose="020B0604020202020204" pitchFamily="34" charset="0"/>
              </a:rPr>
              <a:t>程序在</a:t>
            </a:r>
            <a:r>
              <a:rPr lang="en-US" altLang="zh-CN" dirty="0">
                <a:latin typeface="Arial" panose="020B0604020202020204" pitchFamily="34" charset="0"/>
              </a:rPr>
              <a:t>win10</a:t>
            </a:r>
            <a:r>
              <a:rPr lang="zh-CN" altLang="en-US" dirty="0">
                <a:latin typeface="Arial" panose="020B0604020202020204" pitchFamily="34" charset="0"/>
              </a:rPr>
              <a:t>下不会崩溃，但会卡顿，且提前结束。</a:t>
            </a: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17F0AA-682E-4868-9EC4-2C49ACA934BE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13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05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F60E39F-6487-45F4-A2FA-C6897E523891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17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742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注意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zh-CN" altLang="en-US">
                <a:latin typeface="Arial" panose="020B0604020202020204" pitchFamily="34" charset="0"/>
              </a:rPr>
              <a:t>为常量，</a:t>
            </a:r>
            <a:r>
              <a:rPr lang="en-US" altLang="zh-CN">
                <a:latin typeface="Arial" panose="020B0604020202020204" pitchFamily="34" charset="0"/>
              </a:rPr>
              <a:t>p</a:t>
            </a:r>
            <a:r>
              <a:rPr lang="zh-CN" altLang="en-US">
                <a:latin typeface="Arial" panose="020B0604020202020204" pitchFamily="34" charset="0"/>
              </a:rPr>
              <a:t>为变量</a:t>
            </a: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0C3FA56-1758-4A1A-A75D-C2D034B195A2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18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566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E34691-3F9E-4E3C-A6F2-0EBD08D0816F}" type="slidenum">
              <a:rPr lang="zh-CN" altLang="en-US" sz="1200" b="0">
                <a:latin typeface="Arial" panose="020B0604020202020204" pitchFamily="34" charset="0"/>
              </a:rPr>
              <a:pPr eaLnBrk="1" hangingPunct="1"/>
              <a:t>20</a:t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a+5</a:t>
            </a:r>
            <a:r>
              <a:rPr lang="zh-CN" altLang="en-US">
                <a:latin typeface="Arial" panose="020B0604020202020204" pitchFamily="34" charset="0"/>
              </a:rPr>
              <a:t>的位置？可以换成</a:t>
            </a:r>
            <a:r>
              <a:rPr lang="en-US" altLang="zh-CN">
                <a:latin typeface="Arial" panose="020B0604020202020204" pitchFamily="34" charset="0"/>
              </a:rPr>
              <a:t>p&lt;p+5</a:t>
            </a:r>
            <a:r>
              <a:rPr lang="zh-CN" altLang="en-US">
                <a:latin typeface="Arial" panose="020B0604020202020204" pitchFamily="34" charset="0"/>
              </a:rPr>
              <a:t>吗？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latin typeface="Arial" panose="020B0604020202020204" pitchFamily="34" charset="0"/>
              </a:rPr>
              <a:t>可以用</a:t>
            </a:r>
            <a:r>
              <a:rPr lang="en-US" altLang="zh-CN">
                <a:latin typeface="Arial" panose="020B0604020202020204" pitchFamily="34" charset="0"/>
              </a:rPr>
              <a:t>p++ , </a:t>
            </a:r>
            <a:r>
              <a:rPr lang="zh-CN" altLang="en-US">
                <a:latin typeface="Arial" panose="020B0604020202020204" pitchFamily="34" charset="0"/>
              </a:rPr>
              <a:t>但不能用</a:t>
            </a:r>
            <a:r>
              <a:rPr lang="en-US" altLang="zh-CN">
                <a:latin typeface="Arial" panose="020B0604020202020204" pitchFamily="34" charset="0"/>
              </a:rPr>
              <a:t>a++ 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623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B0C3A1D-001F-4B15-9A30-D5DF5DBF8864}" type="slidenum">
              <a:rPr lang="zh-CN" altLang="en-US" smtClean="0"/>
              <a:pPr>
                <a:spcBef>
                  <a:spcPct val="0"/>
                </a:spcBef>
              </a:pPr>
              <a:t>23</a:t>
            </a:fld>
            <a:endParaRPr lang="en-US" altLang="zh-CN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可以看出，二维数组是有两个不同的数组嵌套组成。</a:t>
            </a: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因此由于每个数组都有指针，应该存在两种不同的指针。一种是指向数组的，一种是指向元素的。即行指针和列指针。</a:t>
            </a:r>
          </a:p>
        </p:txBody>
      </p:sp>
    </p:spTree>
    <p:extLst>
      <p:ext uri="{BB962C8B-B14F-4D97-AF65-F5344CB8AC3E}">
        <p14:creationId xmlns:p14="http://schemas.microsoft.com/office/powerpoint/2010/main" val="2827650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66B7DDC-DC17-49DD-BB44-A07DAEDEDACD}" type="slidenum">
              <a:rPr lang="zh-CN" altLang="en-US" smtClean="0"/>
              <a:pPr>
                <a:spcBef>
                  <a:spcPct val="0"/>
                </a:spcBef>
              </a:pPr>
              <a:t>24</a:t>
            </a:fld>
            <a:endParaRPr lang="en-US" altLang="zh-CN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4436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5FE0AD-5672-4C17-98FD-A297CDA7CCD4}" type="slidenum">
              <a:rPr lang="zh-CN" altLang="en-US" smtClean="0"/>
              <a:pPr>
                <a:spcBef>
                  <a:spcPct val="0"/>
                </a:spcBef>
              </a:pPr>
              <a:t>25</a:t>
            </a:fld>
            <a:endParaRPr lang="en-US" altLang="zh-CN" smtClean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行元素取地址取得行地址</a:t>
            </a:r>
          </a:p>
          <a:p>
            <a:pPr eaLnBrk="1" hangingPunct="1"/>
            <a:endParaRPr lang="zh-CN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425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A85D04-05F6-4C30-931A-DF770168910E}" type="slidenum">
              <a:rPr lang="zh-CN" altLang="en-US" smtClean="0"/>
              <a:pPr>
                <a:spcBef>
                  <a:spcPct val="0"/>
                </a:spcBef>
              </a:pPr>
              <a:t>26</a:t>
            </a:fld>
            <a:endParaRPr lang="en-US" altLang="zh-CN" smtClean="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列地址是二维数组元素的地址</a:t>
            </a: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行元素的实质是该行第</a:t>
            </a:r>
            <a:r>
              <a:rPr lang="en-US" altLang="zh-CN" smtClean="0">
                <a:latin typeface="Arial" panose="020B0604020202020204" pitchFamily="34" charset="0"/>
              </a:rPr>
              <a:t>0</a:t>
            </a:r>
            <a:r>
              <a:rPr lang="zh-CN" altLang="en-US" smtClean="0">
                <a:latin typeface="Arial" panose="020B0604020202020204" pitchFamily="34" charset="0"/>
              </a:rPr>
              <a:t>列元素的地址</a:t>
            </a:r>
          </a:p>
        </p:txBody>
      </p:sp>
    </p:spTree>
    <p:extLst>
      <p:ext uri="{BB962C8B-B14F-4D97-AF65-F5344CB8AC3E}">
        <p14:creationId xmlns:p14="http://schemas.microsoft.com/office/powerpoint/2010/main" val="2939931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DD9B28E-340F-4966-ACC0-A0D3F838BBA5}" type="slidenum">
              <a:rPr lang="zh-CN" altLang="en-US" smtClean="0"/>
              <a:pPr>
                <a:spcBef>
                  <a:spcPct val="0"/>
                </a:spcBef>
              </a:pPr>
              <a:t>29</a:t>
            </a:fld>
            <a:endParaRPr lang="en-US" altLang="zh-CN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指针加减原则：指向的元素的数目加减，而不是实际地址加减。</a:t>
            </a:r>
          </a:p>
        </p:txBody>
      </p:sp>
    </p:spTree>
    <p:extLst>
      <p:ext uri="{BB962C8B-B14F-4D97-AF65-F5344CB8AC3E}">
        <p14:creationId xmlns:p14="http://schemas.microsoft.com/office/powerpoint/2010/main" val="2467509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latin typeface="Arial" panose="020B0604020202020204" pitchFamily="34" charset="0"/>
              </a:rPr>
              <a:t>char *p1 = “China”; char * p2 = “China”; </a:t>
            </a:r>
            <a:r>
              <a:rPr lang="zh-CN" altLang="en-US" smtClean="0">
                <a:latin typeface="Arial" panose="020B0604020202020204" pitchFamily="34" charset="0"/>
              </a:rPr>
              <a:t>会发现</a:t>
            </a:r>
            <a:r>
              <a:rPr lang="en-US" altLang="zh-CN" smtClean="0">
                <a:latin typeface="Arial" panose="020B0604020202020204" pitchFamily="34" charset="0"/>
              </a:rPr>
              <a:t>p1</a:t>
            </a:r>
            <a:r>
              <a:rPr lang="zh-CN" altLang="en-US" smtClean="0">
                <a:latin typeface="Arial" panose="020B0604020202020204" pitchFamily="34" charset="0"/>
              </a:rPr>
              <a:t>和</a:t>
            </a:r>
            <a:r>
              <a:rPr lang="en-US" altLang="zh-CN" smtClean="0">
                <a:latin typeface="Arial" panose="020B0604020202020204" pitchFamily="34" charset="0"/>
              </a:rPr>
              <a:t>p2</a:t>
            </a:r>
            <a:r>
              <a:rPr lang="zh-CN" altLang="en-US" smtClean="0">
                <a:latin typeface="Arial" panose="020B0604020202020204" pitchFamily="34" charset="0"/>
              </a:rPr>
              <a:t>指向相同的地址空间。说明，系统不会为相同的常量分配两次空间。</a:t>
            </a:r>
            <a:endParaRPr lang="en-US" altLang="zh-CN" smtClean="0">
              <a:latin typeface="Arial" panose="020B0604020202020204" pitchFamily="34" charset="0"/>
            </a:endParaRPr>
          </a:p>
          <a:p>
            <a:r>
              <a:rPr lang="zh-CN" altLang="en-US" smtClean="0">
                <a:latin typeface="Arial" panose="020B0604020202020204" pitchFamily="34" charset="0"/>
              </a:rPr>
              <a:t>如果试图更改</a:t>
            </a:r>
            <a:r>
              <a:rPr lang="en-US" altLang="zh-CN" smtClean="0">
                <a:latin typeface="Arial" panose="020B0604020202020204" pitchFamily="34" charset="0"/>
              </a:rPr>
              <a:t>*p1 = ‘s’</a:t>
            </a:r>
            <a:r>
              <a:rPr lang="zh-CN" altLang="en-US" smtClean="0">
                <a:latin typeface="Arial" panose="020B0604020202020204" pitchFamily="34" charset="0"/>
              </a:rPr>
              <a:t>；会出错，因为“</a:t>
            </a:r>
            <a:r>
              <a:rPr lang="en-US" altLang="zh-CN" smtClean="0">
                <a:latin typeface="Arial" panose="020B0604020202020204" pitchFamily="34" charset="0"/>
              </a:rPr>
              <a:t>China</a:t>
            </a:r>
            <a:r>
              <a:rPr lang="zh-CN" altLang="en-US" smtClean="0">
                <a:latin typeface="Arial" panose="020B0604020202020204" pitchFamily="34" charset="0"/>
              </a:rPr>
              <a:t>”为常量字符串，不可更改。</a:t>
            </a:r>
            <a:endParaRPr lang="en-US" altLang="zh-CN" smtClean="0">
              <a:latin typeface="Arial" panose="020B0604020202020204" pitchFamily="34" charset="0"/>
            </a:endParaRPr>
          </a:p>
          <a:p>
            <a:r>
              <a:rPr lang="zh-CN" altLang="en-US" smtClean="0">
                <a:latin typeface="Arial" panose="020B0604020202020204" pitchFamily="34" charset="0"/>
              </a:rPr>
              <a:t>所以，</a:t>
            </a:r>
            <a:r>
              <a:rPr lang="en-US" altLang="zh-CN" smtClean="0">
                <a:latin typeface="Arial" panose="020B0604020202020204" pitchFamily="34" charset="0"/>
              </a:rPr>
              <a:t>linux</a:t>
            </a:r>
            <a:r>
              <a:rPr lang="zh-CN" altLang="en-US" smtClean="0">
                <a:latin typeface="Arial" panose="020B0604020202020204" pitchFamily="34" charset="0"/>
              </a:rPr>
              <a:t>下直接警告该操作。需要改成</a:t>
            </a:r>
            <a:r>
              <a:rPr lang="en-US" altLang="zh-CN" smtClean="0">
                <a:latin typeface="Arial" panose="020B0604020202020204" pitchFamily="34" charset="0"/>
              </a:rPr>
              <a:t>const char *p1 = “China”</a:t>
            </a:r>
            <a:r>
              <a:rPr lang="zh-CN" altLang="en-US" smtClean="0">
                <a:latin typeface="Arial" panose="020B0604020202020204" pitchFamily="34" charset="0"/>
              </a:rPr>
              <a:t>；这样确保相同类型赋值，更安全。</a:t>
            </a: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910B604-E896-4118-AFAB-7AF179557C7C}" type="slidenum">
              <a:rPr lang="zh-CN" altLang="en-US" sz="1200" b="0" smtClean="0">
                <a:latin typeface="Arial" panose="020B0604020202020204" pitchFamily="34" charset="0"/>
              </a:rPr>
              <a:pPr/>
              <a:t>35</a:t>
            </a:fld>
            <a:endParaRPr lang="en-US" altLang="zh-CN" sz="1200" b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751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latin typeface="Arial" panose="020B0604020202020204" pitchFamily="34" charset="0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3BADCB9-CF79-4AB7-9E3A-F036794ECACA}" type="slidenum">
              <a:rPr lang="zh-CN" altLang="en-US" sz="1200" b="0" smtClean="0">
                <a:latin typeface="Arial" panose="020B0604020202020204" pitchFamily="34" charset="0"/>
              </a:rPr>
              <a:pPr/>
              <a:t>36</a:t>
            </a:fld>
            <a:endParaRPr lang="en-US" altLang="zh-CN" sz="1200" b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61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latin typeface="Arial" panose="020B0604020202020204" pitchFamily="34" charset="0"/>
              </a:rPr>
              <a:t>Vs2017</a:t>
            </a:r>
            <a:r>
              <a:rPr lang="zh-CN" altLang="en-US" smtClean="0">
                <a:latin typeface="Arial" panose="020B0604020202020204" pitchFamily="34" charset="0"/>
              </a:rPr>
              <a:t>环境下，使用</a:t>
            </a:r>
            <a:r>
              <a:rPr lang="en-US" altLang="zh-CN" smtClean="0">
                <a:latin typeface="Arial" panose="020B0604020202020204" pitchFamily="34" charset="0"/>
              </a:rPr>
              <a:t>strcpy(p, "asdf") </a:t>
            </a:r>
            <a:r>
              <a:rPr lang="zh-CN" altLang="en-US" smtClean="0">
                <a:latin typeface="Arial" panose="020B0604020202020204" pitchFamily="34" charset="0"/>
              </a:rPr>
              <a:t>或者</a:t>
            </a:r>
            <a:r>
              <a:rPr lang="en-US" altLang="zh-CN" smtClean="0">
                <a:latin typeface="Arial" panose="020B0604020202020204" pitchFamily="34" charset="0"/>
              </a:rPr>
              <a:t>scanf("%s", p)</a:t>
            </a:r>
            <a:r>
              <a:rPr lang="zh-CN" altLang="en-US" smtClean="0">
                <a:latin typeface="Arial" panose="020B0604020202020204" pitchFamily="34" charset="0"/>
              </a:rPr>
              <a:t>， 程序运行会挂掉。</a:t>
            </a:r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9C8B0DC-CBF6-479B-85B0-DA70B8B2EC25}" type="slidenum">
              <a:rPr lang="zh-CN" altLang="en-US" smtClean="0"/>
              <a:pPr>
                <a:spcBef>
                  <a:spcPct val="0"/>
                </a:spcBef>
              </a:pPr>
              <a:t>38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1160201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FBE7A9-9B5E-47A1-915E-B00046E7A65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注意优先级</a:t>
            </a:r>
            <a:r>
              <a:rPr lang="en-US" altLang="zh-CN"/>
              <a:t>,</a:t>
            </a:r>
            <a:r>
              <a:rPr lang="zh-CN" altLang="en-US"/>
              <a:t>结合性</a:t>
            </a:r>
          </a:p>
          <a:p>
            <a:r>
              <a:rPr lang="zh-CN" altLang="en-US"/>
              <a:t>区分：概念上，定义上都要区分。</a:t>
            </a:r>
          </a:p>
          <a:p>
            <a:r>
              <a:rPr lang="zh-CN" altLang="en-US"/>
              <a:t>意义不同，叫法不同，定义不同</a:t>
            </a:r>
          </a:p>
        </p:txBody>
      </p:sp>
    </p:spTree>
    <p:extLst>
      <p:ext uri="{BB962C8B-B14F-4D97-AF65-F5344CB8AC3E}">
        <p14:creationId xmlns:p14="http://schemas.microsoft.com/office/powerpoint/2010/main" val="8254942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8D5A40-F934-406E-9A8F-7B69D62F45E5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赋值只能是地址。不能存储数值</a:t>
            </a:r>
          </a:p>
        </p:txBody>
      </p:sp>
    </p:spTree>
    <p:extLst>
      <p:ext uri="{BB962C8B-B14F-4D97-AF65-F5344CB8AC3E}">
        <p14:creationId xmlns:p14="http://schemas.microsoft.com/office/powerpoint/2010/main" val="1713142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567703-559B-4B84-BB5D-F57B3032AC87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611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3D4F9C-A2B0-41DB-82A5-2378B7080C8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为什么使用指针数组</a:t>
            </a:r>
          </a:p>
        </p:txBody>
      </p:sp>
    </p:spTree>
    <p:extLst>
      <p:ext uri="{BB962C8B-B14F-4D97-AF65-F5344CB8AC3E}">
        <p14:creationId xmlns:p14="http://schemas.microsoft.com/office/powerpoint/2010/main" val="15289542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3E0D30-9119-4BE4-AD6C-C801089A2F9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8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8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181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FB4538-5E07-4A5E-BDAD-E673FBFFCB97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0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53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8D307A-EA75-4589-8F06-5F7F58648A85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sizeof</a:t>
            </a:r>
            <a:r>
              <a:rPr lang="zh-CN" altLang="en-US" smtClean="0">
                <a:latin typeface="Arial" panose="020B0604020202020204" pitchFamily="34" charset="0"/>
              </a:rPr>
              <a:t>是否为保留字？不是，是运算符</a:t>
            </a:r>
          </a:p>
        </p:txBody>
      </p:sp>
    </p:spTree>
    <p:extLst>
      <p:ext uri="{BB962C8B-B14F-4D97-AF65-F5344CB8AC3E}">
        <p14:creationId xmlns:p14="http://schemas.microsoft.com/office/powerpoint/2010/main" val="16554153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A85DE5-EBF8-478B-BEE9-FD20CE071087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231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045224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700589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7A3D-704B-4267-88B0-3C834901B5E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DC213E2-8E62-67D7-F9A4-DD767DA4F0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253" y="1089617"/>
            <a:ext cx="9164918" cy="2169719"/>
          </a:xfrm>
          <a:prstGeom prst="rect">
            <a:avLst/>
          </a:prstGeom>
        </p:spPr>
      </p:pic>
      <p:pic>
        <p:nvPicPr>
          <p:cNvPr id="8" name="图片 8" descr="济南大学校名标准字.jpg">
            <a:extLst>
              <a:ext uri="{FF2B5EF4-FFF2-40B4-BE49-F238E27FC236}">
                <a16:creationId xmlns:a16="http://schemas.microsoft.com/office/drawing/2014/main" id="{05BF485C-D8C8-A992-ECF9-99493B4102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198" y="166090"/>
            <a:ext cx="1704403" cy="76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7" descr="标志.jpg">
            <a:extLst>
              <a:ext uri="{FF2B5EF4-FFF2-40B4-BE49-F238E27FC236}">
                <a16:creationId xmlns:a16="http://schemas.microsoft.com/office/drawing/2014/main" id="{970236DB-95F4-93B7-BE46-2638BFE286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46038"/>
            <a:ext cx="865239" cy="921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9234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7A3D-704B-4267-88B0-3C834901B5E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16" descr="未标题-2">
            <a:extLst>
              <a:ext uri="{FF2B5EF4-FFF2-40B4-BE49-F238E27FC236}">
                <a16:creationId xmlns:a16="http://schemas.microsoft.com/office/drawing/2014/main" id="{B27C2A70-A985-DF85-FCA5-83D171B135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 descr="标志.jpg">
            <a:extLst>
              <a:ext uri="{FF2B5EF4-FFF2-40B4-BE49-F238E27FC236}">
                <a16:creationId xmlns:a16="http://schemas.microsoft.com/office/drawing/2014/main" id="{9C4FE7CF-B963-AA51-D305-72DE1C4796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030" y="6197283"/>
            <a:ext cx="622746" cy="632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33626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7A3D-704B-4267-88B0-3C834901B5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913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5A26A4A7-3242-4DC3-B6B0-E8FEDA36F7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99A4C646-D27A-4474-94F8-EC54F456BE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3">
            <a:extLst>
              <a:ext uri="{FF2B5EF4-FFF2-40B4-BE49-F238E27FC236}">
                <a16:creationId xmlns:a16="http://schemas.microsoft.com/office/drawing/2014/main" id="{5092C1B9-407C-4FAF-AABB-D3D4C16284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0B980E-7DF6-4A4B-A8B5-C1199D2FBDC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41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57A3D-704B-4267-88B0-3C834901B5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35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8" r:id="rId4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slide" Target="slide5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2.xml"/><Relationship Id="rId5" Type="http://schemas.openxmlformats.org/officeDocument/2006/relationships/slide" Target="slide35.xml"/><Relationship Id="rId4" Type="http://schemas.openxmlformats.org/officeDocument/2006/relationships/slide" Target="slide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336864"/>
            <a:ext cx="9144000" cy="913908"/>
          </a:xfr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程序设计基础（</a:t>
            </a:r>
            <a:r>
              <a:rPr lang="en-US" altLang="zh-CN" b="1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c </a:t>
            </a:r>
            <a:r>
              <a:rPr lang="zh-CN" altLang="en-US" b="1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语言）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69752" y="4651161"/>
            <a:ext cx="5948856" cy="1516500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spcAft>
                <a:spcPts val="1200"/>
              </a:spcAft>
              <a:buClr>
                <a:schemeClr val="folHlink"/>
              </a:buClr>
              <a:buSzPct val="60000"/>
            </a:pPr>
            <a:r>
              <a:rPr lang="zh-CN" altLang="en-US" sz="3200" b="1" dirty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信息科学与工程学院</a:t>
            </a:r>
          </a:p>
          <a:p>
            <a:pPr>
              <a:spcBef>
                <a:spcPct val="20000"/>
              </a:spcBef>
              <a:spcAft>
                <a:spcPts val="1200"/>
              </a:spcAft>
              <a:buClr>
                <a:schemeClr val="folHlink"/>
              </a:buClr>
              <a:buSzPct val="60000"/>
            </a:pPr>
            <a:r>
              <a:rPr lang="en-US" altLang="zh-CN" sz="3200" b="1" dirty="0">
                <a:solidFill>
                  <a:srgbClr val="000066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solidFill>
                  <a:srgbClr val="00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语言课程组</a:t>
            </a:r>
            <a:endParaRPr lang="en-US" altLang="x-none" b="1" dirty="0">
              <a:solidFill>
                <a:srgbClr val="00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0"/>
            <a:ext cx="4247536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000" b="1" dirty="0">
                <a:solidFill>
                  <a:srgbClr val="00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国家级精品课程</a:t>
            </a:r>
            <a:endParaRPr lang="en-US" altLang="zh-CN" sz="3000" b="1" dirty="0">
              <a:solidFill>
                <a:srgbClr val="0033CC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r>
              <a:rPr lang="zh-CN" altLang="en-US" sz="3000" b="1" dirty="0">
                <a:solidFill>
                  <a:srgbClr val="00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山东省一流本科课程</a:t>
            </a:r>
          </a:p>
        </p:txBody>
      </p:sp>
    </p:spTree>
    <p:extLst>
      <p:ext uri="{BB962C8B-B14F-4D97-AF65-F5344CB8AC3E}">
        <p14:creationId xmlns:p14="http://schemas.microsoft.com/office/powerpoint/2010/main" val="276011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7A3D-704B-4267-88B0-3C834901B5EF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165100"/>
            <a:ext cx="7886700" cy="85725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sz="40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sz="4000" b="1" dirty="0" smtClean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章   指针</a:t>
            </a:r>
            <a:endParaRPr lang="zh-CN" altLang="en-US" sz="4000" b="1" dirty="0">
              <a:solidFill>
                <a:srgbClr val="0033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BCBC5B6-7202-280F-61D1-11C31AAD174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65463" y="1133475"/>
            <a:ext cx="6078537" cy="487045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  <a:spcBef>
                <a:spcPts val="0"/>
              </a:spcBef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  <a:hlinkClick r:id="rId2" action="ppaction://hlinksldjump"/>
              </a:rPr>
              <a:t> </a:t>
            </a:r>
            <a:r>
              <a:rPr lang="en-US" altLang="zh-CN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2" action="ppaction://hlinksldjump"/>
              </a:rPr>
              <a:t>6.1 </a:t>
            </a:r>
            <a:r>
              <a:rPr lang="zh-CN" altLang="en-US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2" action="ppaction://hlinksldjump"/>
              </a:rPr>
              <a:t>指针定义与使用</a:t>
            </a:r>
            <a:endParaRPr lang="en-US" altLang="zh-CN" sz="3200" dirty="0" smtClean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en-US" altLang="zh-CN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3" action="ppaction://hlinksldjump"/>
              </a:rPr>
              <a:t>6.2 </a:t>
            </a:r>
            <a:r>
              <a:rPr lang="zh-CN" altLang="en-US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3" action="ppaction://hlinksldjump"/>
              </a:rPr>
              <a:t>指针与函数</a:t>
            </a:r>
            <a:endParaRPr lang="en-US" altLang="zh-CN" sz="3200" dirty="0" smtClean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4" action="ppaction://hlinksldjump"/>
              </a:rPr>
              <a:t>6.3 </a:t>
            </a:r>
            <a:r>
              <a:rPr lang="zh-CN" altLang="en-US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4" action="ppaction://hlinksldjump"/>
              </a:rPr>
              <a:t>指针与数组</a:t>
            </a:r>
            <a:endParaRPr lang="en-US" altLang="zh-CN" sz="3200" dirty="0" smtClean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5" action="ppaction://hlinksldjump"/>
              </a:rPr>
              <a:t> </a:t>
            </a:r>
            <a:r>
              <a:rPr lang="en-US" altLang="zh-CN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5" action="ppaction://hlinksldjump"/>
              </a:rPr>
              <a:t>6.4 </a:t>
            </a:r>
            <a:r>
              <a:rPr lang="zh-CN" altLang="en-US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5" action="ppaction://hlinksldjump"/>
              </a:rPr>
              <a:t>指针与字符串</a:t>
            </a:r>
            <a:endParaRPr lang="en-US" altLang="zh-CN" sz="3200" dirty="0" smtClean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6" action="ppaction://hlinksldjump"/>
              </a:rPr>
              <a:t>6.5 </a:t>
            </a:r>
            <a:r>
              <a:rPr lang="zh-CN" altLang="en-US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6" action="ppaction://hlinksldjump"/>
              </a:rPr>
              <a:t>指针数组与多级指针</a:t>
            </a:r>
            <a:endParaRPr lang="en-US" altLang="zh-CN" sz="3200" dirty="0" smtClean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7" action="ppaction://hlinksldjump"/>
              </a:rPr>
              <a:t> </a:t>
            </a:r>
            <a:r>
              <a:rPr lang="en-US" altLang="zh-CN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7" action="ppaction://hlinksldjump"/>
              </a:rPr>
              <a:t>6.6 </a:t>
            </a:r>
            <a:r>
              <a:rPr lang="zh-CN" altLang="en-US" sz="3200" dirty="0" smtClean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7" action="ppaction://hlinksldjump"/>
              </a:rPr>
              <a:t>指针与动态内存分配</a:t>
            </a:r>
            <a:endParaRPr lang="en-US" altLang="zh-CN" sz="32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Clr>
                <a:srgbClr val="0033CC"/>
              </a:buClr>
              <a:buNone/>
            </a:pP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482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7" name="Text Box 3"/>
          <p:cNvSpPr txBox="1">
            <a:spLocks noChangeArrowheads="1"/>
          </p:cNvSpPr>
          <p:nvPr/>
        </p:nvSpPr>
        <p:spPr bwMode="auto">
          <a:xfrm>
            <a:off x="225425" y="782638"/>
            <a:ext cx="8188325" cy="253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/>
              <a:t>一</a:t>
            </a:r>
            <a:r>
              <a:rPr lang="en-US" altLang="zh-CN" dirty="0"/>
              <a:t>. </a:t>
            </a:r>
            <a:r>
              <a:rPr lang="zh-CN" altLang="en-US" dirty="0"/>
              <a:t>地址与指针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/>
              <a:t> </a:t>
            </a:r>
            <a:r>
              <a:rPr lang="en-US" altLang="zh-CN" dirty="0"/>
              <a:t>1. </a:t>
            </a:r>
            <a:r>
              <a:rPr lang="zh-CN" altLang="en-US" dirty="0"/>
              <a:t>地址与取地址运算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/>
              <a:t>     </a:t>
            </a:r>
            <a:r>
              <a:rPr lang="en-US" altLang="zh-CN" dirty="0"/>
              <a:t>C</a:t>
            </a:r>
            <a:r>
              <a:rPr lang="zh-CN" altLang="en-US" dirty="0"/>
              <a:t>程序中的变量在内存中占有一个可标识的存储区</a:t>
            </a:r>
            <a:r>
              <a:rPr lang="en-US" altLang="zh-CN" dirty="0"/>
              <a:t>, 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     </a:t>
            </a:r>
            <a:r>
              <a:rPr lang="zh-CN" altLang="en-US" dirty="0"/>
              <a:t>每一个存储区是由</a:t>
            </a:r>
            <a:r>
              <a:rPr lang="zh-CN" altLang="en-US" dirty="0">
                <a:solidFill>
                  <a:srgbClr val="FF0000"/>
                </a:solidFill>
              </a:rPr>
              <a:t>若干个字节</a:t>
            </a:r>
            <a:r>
              <a:rPr lang="zh-CN" altLang="en-US" dirty="0"/>
              <a:t>组成</a:t>
            </a:r>
            <a:r>
              <a:rPr lang="en-US" altLang="zh-CN" dirty="0"/>
              <a:t>, </a:t>
            </a:r>
            <a:r>
              <a:rPr lang="zh-CN" altLang="en-US" dirty="0"/>
              <a:t>每一个字节都有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/>
              <a:t>     自己的地址</a:t>
            </a:r>
            <a:r>
              <a:rPr lang="en-US" altLang="zh-CN" dirty="0"/>
              <a:t>, </a:t>
            </a:r>
            <a:r>
              <a:rPr lang="zh-CN" altLang="en-US" dirty="0"/>
              <a:t>而一个存储区的地址是指该存储区中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/>
              <a:t>     </a:t>
            </a:r>
            <a:r>
              <a:rPr lang="zh-CN" altLang="en-US" dirty="0">
                <a:solidFill>
                  <a:srgbClr val="FF0000"/>
                </a:solidFill>
              </a:rPr>
              <a:t>第一个字节</a:t>
            </a:r>
            <a:r>
              <a:rPr lang="zh-CN" altLang="en-US" dirty="0"/>
              <a:t>的地址</a:t>
            </a:r>
          </a:p>
        </p:txBody>
      </p:sp>
      <p:sp>
        <p:nvSpPr>
          <p:cNvPr id="518148" name="Text Box 4"/>
          <p:cNvSpPr txBox="1">
            <a:spLocks noChangeArrowheads="1"/>
          </p:cNvSpPr>
          <p:nvPr/>
        </p:nvSpPr>
        <p:spPr bwMode="auto">
          <a:xfrm>
            <a:off x="555048" y="3471863"/>
            <a:ext cx="8026400" cy="166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C</a:t>
            </a:r>
            <a:r>
              <a:rPr lang="zh-CN" altLang="en-US" dirty="0"/>
              <a:t>语言允许在程序中</a:t>
            </a:r>
            <a:r>
              <a:rPr lang="zh-CN" altLang="en-US" dirty="0">
                <a:solidFill>
                  <a:srgbClr val="FF0000"/>
                </a:solidFill>
              </a:rPr>
              <a:t>使用变量的地址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( </a:t>
            </a:r>
            <a:r>
              <a:rPr lang="zh-CN" altLang="en-US" dirty="0"/>
              <a:t>通过地址运算符</a:t>
            </a:r>
            <a:r>
              <a:rPr lang="en-US" altLang="zh-CN" dirty="0"/>
              <a:t>&amp;</a:t>
            </a:r>
            <a:r>
              <a:rPr lang="zh-CN" altLang="en-US" dirty="0"/>
              <a:t>可得到</a:t>
            </a:r>
            <a:r>
              <a:rPr lang="en-US" altLang="zh-CN" dirty="0"/>
              <a:t>)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</a:t>
            </a:r>
            <a:r>
              <a:rPr lang="zh-CN" altLang="en-US" dirty="0">
                <a:solidFill>
                  <a:srgbClr val="3333FF"/>
                </a:solidFill>
              </a:rPr>
              <a:t>如</a:t>
            </a:r>
            <a:r>
              <a:rPr lang="en-US" altLang="zh-CN" dirty="0">
                <a:solidFill>
                  <a:srgbClr val="3333FF"/>
                </a:solidFill>
              </a:rPr>
              <a:t>:  float   x ;</a:t>
            </a:r>
            <a:r>
              <a:rPr lang="en-US" altLang="zh-CN" dirty="0"/>
              <a:t>                </a:t>
            </a:r>
            <a:r>
              <a:rPr lang="zh-CN" altLang="en-US" dirty="0"/>
              <a:t>变量 </a:t>
            </a:r>
            <a:r>
              <a:rPr lang="en-US" altLang="zh-CN" dirty="0"/>
              <a:t>x </a:t>
            </a:r>
            <a:r>
              <a:rPr lang="zh-CN" altLang="en-US" dirty="0"/>
              <a:t>的地址 </a:t>
            </a:r>
            <a:r>
              <a:rPr lang="en-US" altLang="zh-CN" dirty="0"/>
              <a:t>----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  a[10] ;</a:t>
            </a:r>
            <a:r>
              <a:rPr lang="en-US" altLang="zh-CN" dirty="0"/>
              <a:t>          </a:t>
            </a:r>
            <a:r>
              <a:rPr lang="zh-CN" altLang="en-US" dirty="0"/>
              <a:t>数组变量 </a:t>
            </a:r>
            <a:r>
              <a:rPr lang="en-US" altLang="zh-CN" dirty="0"/>
              <a:t>a </a:t>
            </a:r>
            <a:r>
              <a:rPr lang="zh-CN" altLang="en-US" dirty="0"/>
              <a:t>的地址 </a:t>
            </a:r>
            <a:r>
              <a:rPr lang="en-US" altLang="zh-CN" dirty="0"/>
              <a:t>----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100" name="Rectangle 5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6.1.1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指针的引出</a:t>
            </a:r>
          </a:p>
        </p:txBody>
      </p:sp>
      <p:sp>
        <p:nvSpPr>
          <p:cNvPr id="518151" name="Rectangle 7"/>
          <p:cNvSpPr>
            <a:spLocks noChangeArrowheads="1"/>
          </p:cNvSpPr>
          <p:nvPr/>
        </p:nvSpPr>
        <p:spPr bwMode="auto">
          <a:xfrm>
            <a:off x="6034088" y="4191000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&amp;x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18152" name="Rectangle 8"/>
          <p:cNvSpPr>
            <a:spLocks noChangeArrowheads="1"/>
          </p:cNvSpPr>
          <p:nvPr/>
        </p:nvSpPr>
        <p:spPr bwMode="auto">
          <a:xfrm>
            <a:off x="6727247" y="4746555"/>
            <a:ext cx="492443" cy="35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</a:t>
            </a:r>
          </a:p>
        </p:txBody>
      </p:sp>
      <p:sp>
        <p:nvSpPr>
          <p:cNvPr id="518153" name="Rectangle 9"/>
          <p:cNvSpPr>
            <a:spLocks noChangeArrowheads="1"/>
          </p:cNvSpPr>
          <p:nvPr/>
        </p:nvSpPr>
        <p:spPr bwMode="auto">
          <a:xfrm>
            <a:off x="6727247" y="5219700"/>
            <a:ext cx="132715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或</a:t>
            </a:r>
            <a:r>
              <a:rPr lang="en-US" altLang="zh-CN" dirty="0">
                <a:solidFill>
                  <a:srgbClr val="FF0000"/>
                </a:solidFill>
              </a:rPr>
              <a:t>&amp;a[0]</a:t>
            </a:r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24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8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8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18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18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1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1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48" grpId="0" autoUpdateAnimBg="0"/>
      <p:bldP spid="518151" grpId="0"/>
      <p:bldP spid="518152" grpId="0"/>
      <p:bldP spid="5181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80988" y="742950"/>
            <a:ext cx="7543800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2. </a:t>
            </a:r>
            <a:r>
              <a:rPr lang="zh-CN" altLang="en-US" dirty="0"/>
              <a:t>指针变量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(1) </a:t>
            </a:r>
            <a:r>
              <a:rPr lang="zh-CN" altLang="en-US" dirty="0"/>
              <a:t>变量的访问方式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/>
              <a:t>① </a:t>
            </a:r>
            <a:r>
              <a:rPr lang="zh-CN" altLang="en-US" dirty="0">
                <a:solidFill>
                  <a:srgbClr val="FF0000"/>
                </a:solidFill>
              </a:rPr>
              <a:t>直接访问</a:t>
            </a:r>
            <a:r>
              <a:rPr lang="zh-CN" altLang="en-US" dirty="0"/>
              <a:t> </a:t>
            </a:r>
            <a:r>
              <a:rPr lang="en-US" altLang="zh-CN" dirty="0"/>
              <a:t>: </a:t>
            </a:r>
            <a:r>
              <a:rPr lang="zh-CN" altLang="en-US" dirty="0"/>
              <a:t>通过变量名或地址访问变量的存储区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folHlink"/>
                </a:solidFill>
              </a:rPr>
              <a:t>      </a:t>
            </a:r>
            <a:r>
              <a:rPr lang="zh-CN" altLang="en-US" dirty="0">
                <a:solidFill>
                  <a:srgbClr val="3333FF"/>
                </a:solidFill>
              </a:rPr>
              <a:t>例 </a:t>
            </a:r>
            <a:r>
              <a:rPr lang="en-US" altLang="zh-CN" dirty="0">
                <a:solidFill>
                  <a:srgbClr val="3333FF"/>
                </a:solidFill>
              </a:rPr>
              <a:t>:</a:t>
            </a:r>
            <a:r>
              <a:rPr lang="en-US" altLang="zh-CN" dirty="0">
                <a:solidFill>
                  <a:srgbClr val="6666FF"/>
                </a:solidFill>
              </a:rPr>
              <a:t> </a:t>
            </a:r>
            <a:r>
              <a:rPr lang="en-US" altLang="zh-CN" dirty="0" err="1">
                <a:solidFill>
                  <a:srgbClr val="3333FF"/>
                </a:solidFill>
              </a:rPr>
              <a:t>scanf</a:t>
            </a:r>
            <a:r>
              <a:rPr lang="en-US" altLang="zh-CN" dirty="0">
                <a:solidFill>
                  <a:srgbClr val="3333FF"/>
                </a:solidFill>
              </a:rPr>
              <a:t> ( "%d" ,</a:t>
            </a:r>
            <a:r>
              <a:rPr lang="en-US" altLang="zh-CN" dirty="0">
                <a:solidFill>
                  <a:srgbClr val="6666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&amp;x</a:t>
            </a:r>
            <a:r>
              <a:rPr lang="en-US" altLang="zh-CN" dirty="0">
                <a:solidFill>
                  <a:srgbClr val="6666FF"/>
                </a:solidFill>
              </a:rPr>
              <a:t> </a:t>
            </a:r>
            <a:r>
              <a:rPr lang="en-US" altLang="zh-CN" dirty="0">
                <a:solidFill>
                  <a:srgbClr val="3333FF"/>
                </a:solidFill>
              </a:rPr>
              <a:t>) ;</a:t>
            </a:r>
            <a:r>
              <a:rPr lang="en-US" altLang="zh-CN" dirty="0">
                <a:solidFill>
                  <a:srgbClr val="6666FF"/>
                </a:solidFill>
              </a:rPr>
              <a:t>                     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6666FF"/>
                </a:solidFill>
              </a:rPr>
              <a:t>            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dirty="0">
                <a:solidFill>
                  <a:srgbClr val="6666FF"/>
                </a:solidFill>
              </a:rPr>
              <a:t> </a:t>
            </a:r>
            <a:r>
              <a:rPr lang="en-US" altLang="zh-CN" dirty="0">
                <a:solidFill>
                  <a:srgbClr val="3333FF"/>
                </a:solidFill>
              </a:rPr>
              <a:t>= </a:t>
            </a:r>
            <a:r>
              <a:rPr lang="en-US" altLang="zh-CN" dirty="0" err="1">
                <a:solidFill>
                  <a:srgbClr val="3333FF"/>
                </a:solidFill>
              </a:rPr>
              <a:t>sqrt</a:t>
            </a:r>
            <a:r>
              <a:rPr lang="en-US" altLang="zh-CN" dirty="0">
                <a:solidFill>
                  <a:srgbClr val="3333FF"/>
                </a:solidFill>
              </a:rPr>
              <a:t>(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dirty="0">
                <a:solidFill>
                  <a:srgbClr val="3333FF"/>
                </a:solidFill>
              </a:rPr>
              <a:t>) ;</a:t>
            </a:r>
            <a:r>
              <a:rPr lang="en-US" altLang="zh-CN" dirty="0">
                <a:solidFill>
                  <a:srgbClr val="6666FF"/>
                </a:solidFill>
              </a:rPr>
              <a:t>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6666FF"/>
                </a:solidFill>
              </a:rPr>
              <a:t>             </a:t>
            </a:r>
            <a:r>
              <a:rPr lang="en-US" altLang="zh-CN" dirty="0" err="1">
                <a:solidFill>
                  <a:srgbClr val="3333FF"/>
                </a:solidFill>
              </a:rPr>
              <a:t>printf</a:t>
            </a:r>
            <a:r>
              <a:rPr lang="en-US" altLang="zh-CN" dirty="0">
                <a:solidFill>
                  <a:srgbClr val="3333FF"/>
                </a:solidFill>
              </a:rPr>
              <a:t> ( "%d" ,</a:t>
            </a:r>
            <a:r>
              <a:rPr lang="en-US" altLang="zh-CN" dirty="0">
                <a:solidFill>
                  <a:srgbClr val="6666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en-US" altLang="zh-CN" dirty="0">
                <a:solidFill>
                  <a:srgbClr val="3333FF"/>
                </a:solidFill>
              </a:rPr>
              <a:t>) ;</a:t>
            </a:r>
            <a:r>
              <a:rPr lang="en-US" altLang="zh-CN" dirty="0">
                <a:solidFill>
                  <a:srgbClr val="6666FF"/>
                </a:solidFill>
              </a:rPr>
              <a:t> </a:t>
            </a:r>
          </a:p>
        </p:txBody>
      </p:sp>
      <p:sp>
        <p:nvSpPr>
          <p:cNvPr id="520195" name="Text Box 3"/>
          <p:cNvSpPr txBox="1">
            <a:spLocks noChangeArrowheads="1"/>
          </p:cNvSpPr>
          <p:nvPr/>
        </p:nvSpPr>
        <p:spPr bwMode="auto">
          <a:xfrm>
            <a:off x="280988" y="3261518"/>
            <a:ext cx="8077200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/>
              <a:t>② </a:t>
            </a:r>
            <a:r>
              <a:rPr lang="zh-CN" altLang="en-US" dirty="0">
                <a:solidFill>
                  <a:srgbClr val="FF0000"/>
                </a:solidFill>
              </a:rPr>
              <a:t>间接访问</a:t>
            </a:r>
            <a:r>
              <a:rPr lang="zh-CN" altLang="en-US" dirty="0"/>
              <a:t> </a:t>
            </a:r>
            <a:r>
              <a:rPr lang="en-US" altLang="zh-CN" dirty="0"/>
              <a:t>: </a:t>
            </a:r>
            <a:r>
              <a:rPr lang="zh-CN" altLang="en-US" dirty="0"/>
              <a:t>将一个变量的地址存放在另一个变量中</a:t>
            </a:r>
            <a:r>
              <a:rPr lang="en-US" altLang="zh-CN" dirty="0"/>
              <a:t>.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     </a:t>
            </a:r>
            <a:r>
              <a:rPr lang="zh-CN" altLang="en-US" dirty="0"/>
              <a:t>如将变量 </a:t>
            </a:r>
            <a:r>
              <a:rPr lang="en-US" altLang="zh-CN" dirty="0"/>
              <a:t>x </a:t>
            </a:r>
            <a:r>
              <a:rPr lang="zh-CN" altLang="en-US" dirty="0"/>
              <a:t>的地址存放在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/>
              <a:t>     变量</a:t>
            </a:r>
            <a:r>
              <a:rPr lang="en-US" altLang="zh-CN" dirty="0"/>
              <a:t>p </a:t>
            </a:r>
            <a:r>
              <a:rPr lang="zh-CN" altLang="en-US" dirty="0"/>
              <a:t>中</a:t>
            </a:r>
            <a:r>
              <a:rPr lang="en-US" altLang="zh-CN" dirty="0"/>
              <a:t>, </a:t>
            </a:r>
            <a:r>
              <a:rPr lang="zh-CN" altLang="en-US" dirty="0"/>
              <a:t>访问</a:t>
            </a:r>
            <a:r>
              <a:rPr lang="en-US" altLang="zh-CN" dirty="0"/>
              <a:t>x </a:t>
            </a:r>
            <a:r>
              <a:rPr lang="zh-CN" altLang="en-US" dirty="0"/>
              <a:t>时先找到</a:t>
            </a:r>
            <a:r>
              <a:rPr lang="en-US" altLang="zh-CN" dirty="0"/>
              <a:t>p,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     </a:t>
            </a:r>
            <a:r>
              <a:rPr lang="zh-CN" altLang="en-US" dirty="0"/>
              <a:t>再由</a:t>
            </a:r>
            <a:r>
              <a:rPr lang="en-US" altLang="zh-CN" dirty="0"/>
              <a:t>p </a:t>
            </a:r>
            <a:r>
              <a:rPr lang="zh-CN" altLang="en-US" dirty="0"/>
              <a:t>中存放的地址找到 </a:t>
            </a:r>
            <a:r>
              <a:rPr lang="en-US" altLang="zh-CN" dirty="0"/>
              <a:t>x</a:t>
            </a:r>
          </a:p>
        </p:txBody>
      </p:sp>
      <p:sp>
        <p:nvSpPr>
          <p:cNvPr id="520196" name="Line 4"/>
          <p:cNvSpPr>
            <a:spLocks noChangeShapeType="1"/>
          </p:cNvSpPr>
          <p:nvPr/>
        </p:nvSpPr>
        <p:spPr bwMode="auto">
          <a:xfrm>
            <a:off x="5918200" y="4254499"/>
            <a:ext cx="1219200" cy="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20197" name="Group 5"/>
          <p:cNvGrpSpPr>
            <a:grpSpLocks/>
          </p:cNvGrpSpPr>
          <p:nvPr/>
        </p:nvGrpSpPr>
        <p:grpSpPr bwMode="auto">
          <a:xfrm>
            <a:off x="4852988" y="3945731"/>
            <a:ext cx="1065212" cy="990600"/>
            <a:chOff x="3312" y="2160"/>
            <a:chExt cx="671" cy="624"/>
          </a:xfrm>
        </p:grpSpPr>
        <p:sp>
          <p:nvSpPr>
            <p:cNvPr id="5134" name="Rectangle 6"/>
            <p:cNvSpPr>
              <a:spLocks noChangeArrowheads="1"/>
            </p:cNvSpPr>
            <p:nvPr/>
          </p:nvSpPr>
          <p:spPr bwMode="auto">
            <a:xfrm>
              <a:off x="3312" y="2160"/>
              <a:ext cx="671" cy="383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5" name="Text Box 7"/>
            <p:cNvSpPr txBox="1">
              <a:spLocks noChangeArrowheads="1"/>
            </p:cNvSpPr>
            <p:nvPr/>
          </p:nvSpPr>
          <p:spPr bwMode="auto">
            <a:xfrm>
              <a:off x="3552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dirty="0"/>
                <a:t>p</a:t>
              </a:r>
            </a:p>
          </p:txBody>
        </p:sp>
      </p:grpSp>
      <p:grpSp>
        <p:nvGrpSpPr>
          <p:cNvPr id="520200" name="Group 8"/>
          <p:cNvGrpSpPr>
            <a:grpSpLocks/>
          </p:cNvGrpSpPr>
          <p:nvPr/>
        </p:nvGrpSpPr>
        <p:grpSpPr bwMode="auto">
          <a:xfrm>
            <a:off x="7138988" y="3945731"/>
            <a:ext cx="1065212" cy="990600"/>
            <a:chOff x="4752" y="2160"/>
            <a:chExt cx="671" cy="624"/>
          </a:xfrm>
        </p:grpSpPr>
        <p:sp>
          <p:nvSpPr>
            <p:cNvPr id="5132" name="Rectangle 9"/>
            <p:cNvSpPr>
              <a:spLocks noChangeArrowheads="1"/>
            </p:cNvSpPr>
            <p:nvPr/>
          </p:nvSpPr>
          <p:spPr bwMode="auto">
            <a:xfrm>
              <a:off x="4752" y="2160"/>
              <a:ext cx="671" cy="38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33" name="Text Box 10"/>
            <p:cNvSpPr txBox="1">
              <a:spLocks noChangeArrowheads="1"/>
            </p:cNvSpPr>
            <p:nvPr/>
          </p:nvSpPr>
          <p:spPr bwMode="auto">
            <a:xfrm>
              <a:off x="4992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</a:p>
          </p:txBody>
        </p:sp>
      </p:grpSp>
      <p:sp>
        <p:nvSpPr>
          <p:cNvPr id="520203" name="Text Box 11"/>
          <p:cNvSpPr txBox="1">
            <a:spLocks noChangeArrowheads="1"/>
          </p:cNvSpPr>
          <p:nvPr/>
        </p:nvSpPr>
        <p:spPr bwMode="auto">
          <a:xfrm>
            <a:off x="4852988" y="3492499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  </a:t>
            </a:r>
            <a:r>
              <a:rPr lang="en-US" altLang="zh-CN" dirty="0"/>
              <a:t>2012</a:t>
            </a:r>
          </a:p>
        </p:txBody>
      </p:sp>
      <p:sp>
        <p:nvSpPr>
          <p:cNvPr id="520204" name="Text Box 12"/>
          <p:cNvSpPr txBox="1">
            <a:spLocks noChangeArrowheads="1"/>
          </p:cNvSpPr>
          <p:nvPr/>
        </p:nvSpPr>
        <p:spPr bwMode="auto">
          <a:xfrm>
            <a:off x="7137400" y="3484562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/>
              <a:t>  </a:t>
            </a:r>
            <a:r>
              <a:rPr lang="en-US" altLang="zh-CN" dirty="0"/>
              <a:t>1010</a:t>
            </a:r>
          </a:p>
        </p:txBody>
      </p:sp>
      <p:sp>
        <p:nvSpPr>
          <p:cNvPr id="520205" name="Text Box 13"/>
          <p:cNvSpPr txBox="1">
            <a:spLocks noChangeArrowheads="1"/>
          </p:cNvSpPr>
          <p:nvPr/>
        </p:nvSpPr>
        <p:spPr bwMode="auto">
          <a:xfrm>
            <a:off x="4914900" y="3985815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1010</a:t>
            </a:r>
          </a:p>
        </p:txBody>
      </p:sp>
      <p:sp>
        <p:nvSpPr>
          <p:cNvPr id="520206" name="Text Box 14"/>
          <p:cNvSpPr txBox="1">
            <a:spLocks noChangeArrowheads="1"/>
          </p:cNvSpPr>
          <p:nvPr/>
        </p:nvSpPr>
        <p:spPr bwMode="auto">
          <a:xfrm>
            <a:off x="280988" y="5090318"/>
            <a:ext cx="8153400" cy="78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(2) </a:t>
            </a:r>
            <a:r>
              <a:rPr lang="zh-CN" altLang="en-US" dirty="0">
                <a:solidFill>
                  <a:srgbClr val="FF0000"/>
                </a:solidFill>
              </a:rPr>
              <a:t>指针</a:t>
            </a:r>
            <a:r>
              <a:rPr lang="en-US" altLang="zh-CN" dirty="0"/>
              <a:t>: </a:t>
            </a:r>
            <a:r>
              <a:rPr lang="zh-CN" altLang="en-US" dirty="0"/>
              <a:t>一个变量的指针就是该变量的地址</a:t>
            </a:r>
            <a:r>
              <a:rPr lang="en-US" altLang="zh-CN" dirty="0"/>
              <a:t>(</a:t>
            </a:r>
            <a:r>
              <a:rPr lang="zh-CN" altLang="en-US" dirty="0"/>
              <a:t>指针就是地址</a:t>
            </a:r>
            <a:r>
              <a:rPr lang="en-US" altLang="zh-CN" dirty="0"/>
              <a:t>)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(3) </a:t>
            </a:r>
            <a:r>
              <a:rPr lang="zh-CN" altLang="en-US" dirty="0">
                <a:solidFill>
                  <a:srgbClr val="FF0000"/>
                </a:solidFill>
              </a:rPr>
              <a:t>指针变量</a:t>
            </a:r>
            <a:r>
              <a:rPr lang="en-US" altLang="zh-CN" dirty="0"/>
              <a:t>: </a:t>
            </a:r>
            <a:r>
              <a:rPr lang="zh-CN" altLang="en-US" dirty="0"/>
              <a:t>存放变量地址的变量</a:t>
            </a:r>
            <a:r>
              <a:rPr lang="en-US" altLang="zh-CN" dirty="0"/>
              <a:t>, </a:t>
            </a:r>
            <a:r>
              <a:rPr lang="zh-CN" altLang="en-US" dirty="0"/>
              <a:t>它用来指向另一个变量</a:t>
            </a:r>
          </a:p>
        </p:txBody>
      </p:sp>
      <p:sp>
        <p:nvSpPr>
          <p:cNvPr id="5131" name="Rectangle 15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6.1.1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指针的引出</a:t>
            </a:r>
          </a:p>
        </p:txBody>
      </p:sp>
    </p:spTree>
    <p:extLst>
      <p:ext uri="{BB962C8B-B14F-4D97-AF65-F5344CB8AC3E}">
        <p14:creationId xmlns:p14="http://schemas.microsoft.com/office/powerpoint/2010/main" val="39398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195" grpId="0" autoUpdateAnimBg="0"/>
      <p:bldP spid="520203" grpId="0" autoUpdateAnimBg="0"/>
      <p:bldP spid="520204" grpId="0" autoUpdateAnimBg="0"/>
      <p:bldP spid="520205" grpId="0" autoUpdateAnimBg="0"/>
      <p:bldP spid="52020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9" name="Text Box 3"/>
          <p:cNvSpPr txBox="1">
            <a:spLocks noChangeArrowheads="1"/>
          </p:cNvSpPr>
          <p:nvPr/>
        </p:nvSpPr>
        <p:spPr bwMode="auto">
          <a:xfrm>
            <a:off x="273050" y="785813"/>
            <a:ext cx="59436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1. </a:t>
            </a:r>
            <a:r>
              <a:rPr lang="zh-CN" altLang="en-US" dirty="0"/>
              <a:t>格式 </a:t>
            </a:r>
            <a:r>
              <a:rPr lang="en-US" altLang="zh-CN" dirty="0"/>
              <a:t>:   </a:t>
            </a:r>
            <a:r>
              <a:rPr lang="zh-CN" altLang="en-US" dirty="0">
                <a:solidFill>
                  <a:srgbClr val="3333FF"/>
                </a:solidFill>
              </a:rPr>
              <a:t>数据类型     </a:t>
            </a:r>
            <a:r>
              <a:rPr lang="zh-CN" altLang="en-US" dirty="0">
                <a:solidFill>
                  <a:srgbClr val="FF0000"/>
                </a:solidFill>
              </a:rPr>
              <a:t>*</a:t>
            </a:r>
            <a:r>
              <a:rPr lang="zh-CN" altLang="en-US" dirty="0">
                <a:solidFill>
                  <a:srgbClr val="3333FF"/>
                </a:solidFill>
              </a:rPr>
              <a:t> 指针变量名 </a:t>
            </a:r>
            <a:r>
              <a:rPr lang="en-US" altLang="zh-CN" dirty="0">
                <a:solidFill>
                  <a:srgbClr val="3333FF"/>
                </a:solidFill>
              </a:rPr>
              <a:t>;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</a:t>
            </a:r>
            <a:r>
              <a:rPr lang="zh-CN" altLang="en-US" dirty="0">
                <a:solidFill>
                  <a:srgbClr val="3333FF"/>
                </a:solidFill>
              </a:rPr>
              <a:t>例  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   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r>
              <a:rPr lang="en-US" altLang="zh-CN" dirty="0">
                <a:solidFill>
                  <a:srgbClr val="3333FF"/>
                </a:solidFill>
              </a:rPr>
              <a:t>p1 ;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    char   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r>
              <a:rPr lang="en-US" altLang="zh-CN" dirty="0">
                <a:solidFill>
                  <a:srgbClr val="3333FF"/>
                </a:solidFill>
              </a:rPr>
              <a:t>p2 ; </a:t>
            </a:r>
          </a:p>
        </p:txBody>
      </p:sp>
      <p:sp>
        <p:nvSpPr>
          <p:cNvPr id="521220" name="Text Box 4"/>
          <p:cNvSpPr txBox="1">
            <a:spLocks noChangeArrowheads="1"/>
          </p:cNvSpPr>
          <p:nvPr/>
        </p:nvSpPr>
        <p:spPr bwMode="auto">
          <a:xfrm>
            <a:off x="273050" y="2028825"/>
            <a:ext cx="7848600" cy="2358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2. </a:t>
            </a:r>
            <a:r>
              <a:rPr lang="zh-CN" altLang="en-US" dirty="0"/>
              <a:t>说明 </a:t>
            </a:r>
            <a:r>
              <a:rPr lang="en-US" altLang="zh-CN" dirty="0"/>
              <a:t>: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(1) </a:t>
            </a:r>
            <a:r>
              <a:rPr lang="zh-CN" altLang="en-US" dirty="0"/>
              <a:t>在变量定义时</a:t>
            </a:r>
            <a:r>
              <a:rPr lang="en-US" altLang="zh-CN" dirty="0"/>
              <a:t>, * </a:t>
            </a:r>
            <a:r>
              <a:rPr lang="zh-CN" altLang="en-US" dirty="0"/>
              <a:t>号表示该变量是指针类型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       </a:t>
            </a:r>
            <a:r>
              <a:rPr lang="en-US" altLang="zh-CN" dirty="0">
                <a:solidFill>
                  <a:srgbClr val="FF0000"/>
                </a:solidFill>
              </a:rPr>
              <a:t>( </a:t>
            </a:r>
            <a:r>
              <a:rPr lang="zh-CN" altLang="en-US" dirty="0">
                <a:solidFill>
                  <a:srgbClr val="FF0000"/>
                </a:solidFill>
              </a:rPr>
              <a:t>注意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>
                <a:solidFill>
                  <a:srgbClr val="FF0000"/>
                </a:solidFill>
              </a:rPr>
              <a:t>指针变量是</a:t>
            </a:r>
            <a:r>
              <a:rPr lang="en-US" altLang="zh-CN" dirty="0">
                <a:solidFill>
                  <a:srgbClr val="FF0000"/>
                </a:solidFill>
              </a:rPr>
              <a:t>p1 , p2 , </a:t>
            </a:r>
            <a:r>
              <a:rPr lang="zh-CN" altLang="en-US" dirty="0">
                <a:solidFill>
                  <a:srgbClr val="FF0000"/>
                </a:solidFill>
              </a:rPr>
              <a:t>不是*</a:t>
            </a:r>
            <a:r>
              <a:rPr lang="en-US" altLang="zh-CN" dirty="0">
                <a:solidFill>
                  <a:srgbClr val="FF0000"/>
                </a:solidFill>
              </a:rPr>
              <a:t>p1 , *p2 )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(2) </a:t>
            </a:r>
            <a:r>
              <a:rPr lang="zh-CN" altLang="en-US" dirty="0"/>
              <a:t>定义指针变量后</a:t>
            </a:r>
            <a:r>
              <a:rPr lang="en-US" altLang="zh-CN" dirty="0"/>
              <a:t>, </a:t>
            </a:r>
            <a:r>
              <a:rPr lang="zh-CN" altLang="en-US" dirty="0"/>
              <a:t>系统为其分配存储空间</a:t>
            </a:r>
            <a:r>
              <a:rPr lang="en-US" altLang="zh-CN" dirty="0"/>
              <a:t>, </a:t>
            </a:r>
            <a:r>
              <a:rPr lang="zh-CN" altLang="en-US" dirty="0"/>
              <a:t>用以存放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/>
              <a:t>       其他变量的</a:t>
            </a:r>
            <a:r>
              <a:rPr lang="zh-CN" altLang="en-US" dirty="0">
                <a:solidFill>
                  <a:srgbClr val="FF0000"/>
                </a:solidFill>
              </a:rPr>
              <a:t>地址</a:t>
            </a:r>
            <a:r>
              <a:rPr lang="en-US" altLang="zh-CN" dirty="0"/>
              <a:t>, </a:t>
            </a:r>
            <a:r>
              <a:rPr lang="zh-CN" altLang="en-US" dirty="0"/>
              <a:t>但在对指针变量赋值前</a:t>
            </a:r>
            <a:r>
              <a:rPr lang="en-US" altLang="zh-CN" dirty="0"/>
              <a:t>, </a:t>
            </a:r>
            <a:r>
              <a:rPr lang="zh-CN" altLang="en-US" dirty="0"/>
              <a:t>它并没有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/>
              <a:t>       确定的值</a:t>
            </a:r>
            <a:r>
              <a:rPr lang="en-US" altLang="zh-CN" dirty="0"/>
              <a:t>, </a:t>
            </a:r>
            <a:r>
              <a:rPr lang="zh-CN" altLang="en-US" dirty="0"/>
              <a:t>也不指向一个确定的变量</a:t>
            </a:r>
          </a:p>
        </p:txBody>
      </p:sp>
      <p:sp>
        <p:nvSpPr>
          <p:cNvPr id="521221" name="Text Box 5"/>
          <p:cNvSpPr txBox="1">
            <a:spLocks noChangeArrowheads="1"/>
          </p:cNvSpPr>
          <p:nvPr/>
        </p:nvSpPr>
        <p:spPr bwMode="auto">
          <a:xfrm>
            <a:off x="806450" y="4391025"/>
            <a:ext cx="27432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</a:rPr>
              <a:t>例</a:t>
            </a:r>
            <a:r>
              <a:rPr lang="en-US" altLang="zh-CN">
                <a:solidFill>
                  <a:srgbClr val="0000FF"/>
                </a:solidFill>
              </a:rPr>
              <a:t>:  int   x , </a:t>
            </a:r>
            <a:r>
              <a:rPr lang="en-US" altLang="zh-CN">
                <a:solidFill>
                  <a:srgbClr val="FF0000"/>
                </a:solidFill>
              </a:rPr>
              <a:t>*</a:t>
            </a:r>
            <a:r>
              <a:rPr lang="en-US" altLang="zh-CN">
                <a:solidFill>
                  <a:srgbClr val="0000FF"/>
                </a:solidFill>
              </a:rPr>
              <a:t>p ;  </a:t>
            </a:r>
          </a:p>
          <a:p>
            <a:pPr algn="l"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</a:rPr>
              <a:t>        x = 5 ;</a:t>
            </a:r>
          </a:p>
        </p:txBody>
      </p:sp>
      <p:grpSp>
        <p:nvGrpSpPr>
          <p:cNvPr id="521222" name="Group 6"/>
          <p:cNvGrpSpPr>
            <a:grpSpLocks/>
          </p:cNvGrpSpPr>
          <p:nvPr/>
        </p:nvGrpSpPr>
        <p:grpSpPr bwMode="auto">
          <a:xfrm>
            <a:off x="5812559" y="4615699"/>
            <a:ext cx="1065213" cy="990600"/>
            <a:chOff x="3312" y="2160"/>
            <a:chExt cx="671" cy="624"/>
          </a:xfrm>
        </p:grpSpPr>
        <p:sp>
          <p:nvSpPr>
            <p:cNvPr id="6159" name="Rectangle 7"/>
            <p:cNvSpPr>
              <a:spLocks noChangeArrowheads="1"/>
            </p:cNvSpPr>
            <p:nvPr/>
          </p:nvSpPr>
          <p:spPr bwMode="auto">
            <a:xfrm>
              <a:off x="3312" y="2160"/>
              <a:ext cx="671" cy="383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0" name="Text Box 8"/>
            <p:cNvSpPr txBox="1">
              <a:spLocks noChangeArrowheads="1"/>
            </p:cNvSpPr>
            <p:nvPr/>
          </p:nvSpPr>
          <p:spPr bwMode="auto">
            <a:xfrm>
              <a:off x="3552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</p:grpSp>
      <p:grpSp>
        <p:nvGrpSpPr>
          <p:cNvPr id="521225" name="Group 9"/>
          <p:cNvGrpSpPr>
            <a:grpSpLocks/>
          </p:cNvGrpSpPr>
          <p:nvPr/>
        </p:nvGrpSpPr>
        <p:grpSpPr bwMode="auto">
          <a:xfrm>
            <a:off x="7260359" y="4615699"/>
            <a:ext cx="1065213" cy="990600"/>
            <a:chOff x="4752" y="2160"/>
            <a:chExt cx="671" cy="624"/>
          </a:xfrm>
        </p:grpSpPr>
        <p:sp>
          <p:nvSpPr>
            <p:cNvPr id="6157" name="Rectangle 10"/>
            <p:cNvSpPr>
              <a:spLocks noChangeArrowheads="1"/>
            </p:cNvSpPr>
            <p:nvPr/>
          </p:nvSpPr>
          <p:spPr bwMode="auto">
            <a:xfrm>
              <a:off x="4752" y="2160"/>
              <a:ext cx="671" cy="38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58" name="Text Box 11"/>
            <p:cNvSpPr txBox="1">
              <a:spLocks noChangeArrowheads="1"/>
            </p:cNvSpPr>
            <p:nvPr/>
          </p:nvSpPr>
          <p:spPr bwMode="auto">
            <a:xfrm>
              <a:off x="4992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</a:p>
          </p:txBody>
        </p:sp>
      </p:grpSp>
      <p:sp>
        <p:nvSpPr>
          <p:cNvPr id="521228" name="Text Box 12"/>
          <p:cNvSpPr txBox="1">
            <a:spLocks noChangeArrowheads="1"/>
          </p:cNvSpPr>
          <p:nvPr/>
        </p:nvSpPr>
        <p:spPr bwMode="auto">
          <a:xfrm>
            <a:off x="5812559" y="4158499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  </a:t>
            </a:r>
            <a:r>
              <a:rPr lang="en-US" altLang="zh-CN"/>
              <a:t>2012</a:t>
            </a:r>
          </a:p>
        </p:txBody>
      </p:sp>
      <p:sp>
        <p:nvSpPr>
          <p:cNvPr id="521229" name="Text Box 13"/>
          <p:cNvSpPr txBox="1">
            <a:spLocks noChangeArrowheads="1"/>
          </p:cNvSpPr>
          <p:nvPr/>
        </p:nvSpPr>
        <p:spPr bwMode="auto">
          <a:xfrm>
            <a:off x="7260359" y="4158499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  </a:t>
            </a:r>
            <a:r>
              <a:rPr lang="en-US" altLang="zh-CN"/>
              <a:t>1010</a:t>
            </a:r>
          </a:p>
        </p:txBody>
      </p:sp>
      <p:sp>
        <p:nvSpPr>
          <p:cNvPr id="521230" name="Text Box 14"/>
          <p:cNvSpPr txBox="1">
            <a:spLocks noChangeArrowheads="1"/>
          </p:cNvSpPr>
          <p:nvPr/>
        </p:nvSpPr>
        <p:spPr bwMode="auto">
          <a:xfrm>
            <a:off x="7641359" y="4691899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5</a:t>
            </a:r>
          </a:p>
        </p:txBody>
      </p:sp>
      <p:sp>
        <p:nvSpPr>
          <p:cNvPr id="521231" name="Text Box 15"/>
          <p:cNvSpPr txBox="1">
            <a:spLocks noChangeArrowheads="1"/>
          </p:cNvSpPr>
          <p:nvPr/>
        </p:nvSpPr>
        <p:spPr bwMode="auto">
          <a:xfrm>
            <a:off x="5964959" y="4691899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1234</a:t>
            </a:r>
          </a:p>
        </p:txBody>
      </p:sp>
      <p:sp>
        <p:nvSpPr>
          <p:cNvPr id="521232" name="Text Box 16"/>
          <p:cNvSpPr txBox="1">
            <a:spLocks noChangeArrowheads="1"/>
          </p:cNvSpPr>
          <p:nvPr/>
        </p:nvSpPr>
        <p:spPr bwMode="auto">
          <a:xfrm>
            <a:off x="273050" y="5076825"/>
            <a:ext cx="4648200" cy="78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注</a:t>
            </a:r>
            <a:r>
              <a:rPr lang="en-US" altLang="zh-CN">
                <a:solidFill>
                  <a:srgbClr val="FF0000"/>
                </a:solidFill>
              </a:rPr>
              <a:t>: </a:t>
            </a:r>
            <a:r>
              <a:rPr lang="zh-CN" altLang="en-US">
                <a:solidFill>
                  <a:srgbClr val="FF0000"/>
                </a:solidFill>
              </a:rPr>
              <a:t>指针变量</a:t>
            </a:r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zh-CN" altLang="en-US">
                <a:solidFill>
                  <a:srgbClr val="FF0000"/>
                </a:solidFill>
              </a:rPr>
              <a:t>的值是随机值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      </a:t>
            </a:r>
            <a:r>
              <a:rPr lang="zh-CN" altLang="en-US">
                <a:solidFill>
                  <a:srgbClr val="FF0000"/>
                </a:solidFill>
              </a:rPr>
              <a:t>此时</a:t>
            </a:r>
            <a:r>
              <a:rPr lang="en-US" altLang="zh-CN">
                <a:solidFill>
                  <a:srgbClr val="FF0000"/>
                </a:solidFill>
              </a:rPr>
              <a:t>p </a:t>
            </a:r>
            <a:r>
              <a:rPr lang="zh-CN" altLang="en-US">
                <a:solidFill>
                  <a:srgbClr val="FF0000"/>
                </a:solidFill>
              </a:rPr>
              <a:t>和 </a:t>
            </a:r>
            <a:r>
              <a:rPr lang="en-US" altLang="zh-CN">
                <a:solidFill>
                  <a:srgbClr val="FF0000"/>
                </a:solidFill>
              </a:rPr>
              <a:t>x </a:t>
            </a:r>
            <a:r>
              <a:rPr lang="zh-CN" altLang="en-US">
                <a:solidFill>
                  <a:srgbClr val="FF0000"/>
                </a:solidFill>
              </a:rPr>
              <a:t>并无关联</a:t>
            </a:r>
          </a:p>
        </p:txBody>
      </p:sp>
      <p:sp>
        <p:nvSpPr>
          <p:cNvPr id="6156" name="Rectangle 18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6.1.2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指针变量的定义</a:t>
            </a:r>
          </a:p>
        </p:txBody>
      </p:sp>
    </p:spTree>
    <p:extLst>
      <p:ext uri="{BB962C8B-B14F-4D97-AF65-F5344CB8AC3E}">
        <p14:creationId xmlns:p14="http://schemas.microsoft.com/office/powerpoint/2010/main" val="253228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1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21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20" grpId="0" autoUpdateAnimBg="0"/>
      <p:bldP spid="521221" grpId="0" autoUpdateAnimBg="0"/>
      <p:bldP spid="521228" grpId="0" autoUpdateAnimBg="0"/>
      <p:bldP spid="521229" grpId="0" autoUpdateAnimBg="0"/>
      <p:bldP spid="521230" grpId="0" autoUpdateAnimBg="0"/>
      <p:bldP spid="521231" grpId="0" autoUpdateAnimBg="0"/>
      <p:bldP spid="52123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93675" y="822325"/>
            <a:ext cx="777240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/>
              <a:t>一、 使指针变量指向一个确定的变量必须进行赋值       </a:t>
            </a:r>
          </a:p>
        </p:txBody>
      </p:sp>
      <p:sp>
        <p:nvSpPr>
          <p:cNvPr id="543747" name="Text Box 3"/>
          <p:cNvSpPr txBox="1">
            <a:spLocks noChangeArrowheads="1"/>
          </p:cNvSpPr>
          <p:nvPr/>
        </p:nvSpPr>
        <p:spPr bwMode="auto">
          <a:xfrm>
            <a:off x="849313" y="1611313"/>
            <a:ext cx="25146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x , *p ;  </a:t>
            </a:r>
          </a:p>
          <a:p>
            <a:pPr algn="l"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x = 5 ;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p = &amp;x ;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</a:p>
        </p:txBody>
      </p:sp>
      <p:grpSp>
        <p:nvGrpSpPr>
          <p:cNvPr id="543748" name="Group 4"/>
          <p:cNvGrpSpPr>
            <a:grpSpLocks/>
          </p:cNvGrpSpPr>
          <p:nvPr/>
        </p:nvGrpSpPr>
        <p:grpSpPr bwMode="auto">
          <a:xfrm>
            <a:off x="4049713" y="1730375"/>
            <a:ext cx="1065212" cy="990600"/>
            <a:chOff x="3312" y="2160"/>
            <a:chExt cx="671" cy="624"/>
          </a:xfrm>
        </p:grpSpPr>
        <p:sp>
          <p:nvSpPr>
            <p:cNvPr id="7195" name="Rectangle 5"/>
            <p:cNvSpPr>
              <a:spLocks noChangeArrowheads="1"/>
            </p:cNvSpPr>
            <p:nvPr/>
          </p:nvSpPr>
          <p:spPr bwMode="auto">
            <a:xfrm>
              <a:off x="3312" y="2160"/>
              <a:ext cx="671" cy="383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6" name="Text Box 6"/>
            <p:cNvSpPr txBox="1">
              <a:spLocks noChangeArrowheads="1"/>
            </p:cNvSpPr>
            <p:nvPr/>
          </p:nvSpPr>
          <p:spPr bwMode="auto">
            <a:xfrm>
              <a:off x="3552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</p:grpSp>
      <p:grpSp>
        <p:nvGrpSpPr>
          <p:cNvPr id="543751" name="Group 7"/>
          <p:cNvGrpSpPr>
            <a:grpSpLocks/>
          </p:cNvGrpSpPr>
          <p:nvPr/>
        </p:nvGrpSpPr>
        <p:grpSpPr bwMode="auto">
          <a:xfrm>
            <a:off x="6107113" y="1730375"/>
            <a:ext cx="1065212" cy="990600"/>
            <a:chOff x="4752" y="2160"/>
            <a:chExt cx="671" cy="624"/>
          </a:xfrm>
        </p:grpSpPr>
        <p:sp>
          <p:nvSpPr>
            <p:cNvPr id="7193" name="Rectangle 8"/>
            <p:cNvSpPr>
              <a:spLocks noChangeArrowheads="1"/>
            </p:cNvSpPr>
            <p:nvPr/>
          </p:nvSpPr>
          <p:spPr bwMode="auto">
            <a:xfrm>
              <a:off x="4752" y="2160"/>
              <a:ext cx="671" cy="38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4" name="Text Box 9"/>
            <p:cNvSpPr txBox="1">
              <a:spLocks noChangeArrowheads="1"/>
            </p:cNvSpPr>
            <p:nvPr/>
          </p:nvSpPr>
          <p:spPr bwMode="auto">
            <a:xfrm>
              <a:off x="4992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</a:p>
          </p:txBody>
        </p:sp>
      </p:grpSp>
      <p:sp>
        <p:nvSpPr>
          <p:cNvPr id="543754" name="Text Box 10"/>
          <p:cNvSpPr txBox="1">
            <a:spLocks noChangeArrowheads="1"/>
          </p:cNvSpPr>
          <p:nvPr/>
        </p:nvSpPr>
        <p:spPr bwMode="auto">
          <a:xfrm>
            <a:off x="4049713" y="1273175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  </a:t>
            </a:r>
            <a:r>
              <a:rPr lang="en-US" altLang="zh-CN"/>
              <a:t>2012</a:t>
            </a:r>
          </a:p>
        </p:txBody>
      </p:sp>
      <p:sp>
        <p:nvSpPr>
          <p:cNvPr id="543755" name="Text Box 11"/>
          <p:cNvSpPr txBox="1">
            <a:spLocks noChangeArrowheads="1"/>
          </p:cNvSpPr>
          <p:nvPr/>
        </p:nvSpPr>
        <p:spPr bwMode="auto">
          <a:xfrm>
            <a:off x="6107113" y="1273175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  </a:t>
            </a:r>
            <a:r>
              <a:rPr lang="en-US" altLang="zh-CN"/>
              <a:t>1010</a:t>
            </a:r>
          </a:p>
        </p:txBody>
      </p:sp>
      <p:sp>
        <p:nvSpPr>
          <p:cNvPr id="543756" name="Text Box 12"/>
          <p:cNvSpPr txBox="1">
            <a:spLocks noChangeArrowheads="1"/>
          </p:cNvSpPr>
          <p:nvPr/>
        </p:nvSpPr>
        <p:spPr bwMode="auto">
          <a:xfrm>
            <a:off x="6488113" y="18065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5</a:t>
            </a:r>
          </a:p>
        </p:txBody>
      </p:sp>
      <p:sp>
        <p:nvSpPr>
          <p:cNvPr id="543757" name="Text Box 13"/>
          <p:cNvSpPr txBox="1">
            <a:spLocks noChangeArrowheads="1"/>
          </p:cNvSpPr>
          <p:nvPr/>
        </p:nvSpPr>
        <p:spPr bwMode="auto">
          <a:xfrm>
            <a:off x="4202113" y="180657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1010</a:t>
            </a:r>
          </a:p>
        </p:txBody>
      </p:sp>
      <p:sp>
        <p:nvSpPr>
          <p:cNvPr id="543758" name="Line 14"/>
          <p:cNvSpPr>
            <a:spLocks noChangeShapeType="1"/>
          </p:cNvSpPr>
          <p:nvPr/>
        </p:nvSpPr>
        <p:spPr bwMode="auto">
          <a:xfrm>
            <a:off x="5116513" y="2035175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79" name="Rectangle 18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6.1.3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指针变量的定义</a:t>
            </a:r>
          </a:p>
        </p:txBody>
      </p:sp>
      <p:sp>
        <p:nvSpPr>
          <p:cNvPr id="543765" name="Text Box 21"/>
          <p:cNvSpPr txBox="1">
            <a:spLocks noChangeArrowheads="1"/>
          </p:cNvSpPr>
          <p:nvPr/>
        </p:nvSpPr>
        <p:spPr bwMode="auto">
          <a:xfrm>
            <a:off x="193675" y="2849634"/>
            <a:ext cx="282098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2. </a:t>
            </a:r>
            <a:r>
              <a:rPr lang="zh-CN" altLang="en-US" dirty="0"/>
              <a:t>指针变量初始化</a:t>
            </a:r>
          </a:p>
        </p:txBody>
      </p:sp>
      <p:sp>
        <p:nvSpPr>
          <p:cNvPr id="7181" name="Text Box 22"/>
          <p:cNvSpPr txBox="1">
            <a:spLocks noChangeArrowheads="1"/>
          </p:cNvSpPr>
          <p:nvPr/>
        </p:nvSpPr>
        <p:spPr bwMode="auto">
          <a:xfrm>
            <a:off x="193675" y="1171575"/>
            <a:ext cx="2820988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1. </a:t>
            </a:r>
            <a:r>
              <a:rPr lang="zh-CN" altLang="en-US" dirty="0"/>
              <a:t>使用</a:t>
            </a:r>
            <a:r>
              <a:rPr lang="en-US" altLang="zh-CN" dirty="0"/>
              <a:t>&amp;</a:t>
            </a:r>
            <a:r>
              <a:rPr lang="zh-CN" altLang="en-US" dirty="0"/>
              <a:t>赋值</a:t>
            </a:r>
          </a:p>
        </p:txBody>
      </p:sp>
      <p:sp>
        <p:nvSpPr>
          <p:cNvPr id="543767" name="Rectangle 23"/>
          <p:cNvSpPr>
            <a:spLocks noChangeArrowheads="1"/>
          </p:cNvSpPr>
          <p:nvPr/>
        </p:nvSpPr>
        <p:spPr bwMode="auto">
          <a:xfrm>
            <a:off x="849313" y="3227459"/>
            <a:ext cx="22494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3333FF"/>
                </a:solidFill>
              </a:rPr>
              <a:t>int   x , </a:t>
            </a:r>
            <a:r>
              <a:rPr lang="en-US" altLang="zh-CN">
                <a:solidFill>
                  <a:srgbClr val="FF0000"/>
                </a:solidFill>
              </a:rPr>
              <a:t>*p=&amp;x</a:t>
            </a:r>
            <a:r>
              <a:rPr lang="en-US" altLang="zh-CN">
                <a:solidFill>
                  <a:srgbClr val="3333FF"/>
                </a:solidFill>
              </a:rPr>
              <a:t> ;</a:t>
            </a:r>
            <a:endParaRPr lang="zh-CN" altLang="en-US">
              <a:solidFill>
                <a:srgbClr val="3333FF"/>
              </a:solidFill>
            </a:endParaRPr>
          </a:p>
        </p:txBody>
      </p:sp>
      <p:sp>
        <p:nvSpPr>
          <p:cNvPr id="543771" name="Text Box 27"/>
          <p:cNvSpPr txBox="1">
            <a:spLocks noChangeArrowheads="1"/>
          </p:cNvSpPr>
          <p:nvPr/>
        </p:nvSpPr>
        <p:spPr bwMode="auto">
          <a:xfrm>
            <a:off x="193675" y="3933966"/>
            <a:ext cx="3552825" cy="32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3. </a:t>
            </a:r>
            <a:r>
              <a:rPr lang="zh-CN" altLang="en-US" dirty="0">
                <a:solidFill>
                  <a:srgbClr val="FF0000"/>
                </a:solidFill>
              </a:rPr>
              <a:t>同类型</a:t>
            </a:r>
            <a:r>
              <a:rPr lang="zh-CN" altLang="en-US" dirty="0"/>
              <a:t>指针之间赋值</a:t>
            </a:r>
          </a:p>
        </p:txBody>
      </p:sp>
      <p:sp>
        <p:nvSpPr>
          <p:cNvPr id="543773" name="Rectangle 29"/>
          <p:cNvSpPr>
            <a:spLocks noChangeArrowheads="1"/>
          </p:cNvSpPr>
          <p:nvPr/>
        </p:nvSpPr>
        <p:spPr bwMode="auto">
          <a:xfrm>
            <a:off x="874713" y="4419452"/>
            <a:ext cx="2172390" cy="1200329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x , </a:t>
            </a:r>
            <a:r>
              <a:rPr lang="en-US" altLang="zh-CN" dirty="0">
                <a:solidFill>
                  <a:srgbClr val="FF0000"/>
                </a:solidFill>
              </a:rPr>
              <a:t>*p=&amp;x;</a:t>
            </a:r>
          </a:p>
          <a:p>
            <a:pPr algn="l" eaLnBrk="1" hangingPunct="1"/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*q;</a:t>
            </a:r>
          </a:p>
          <a:p>
            <a:pPr algn="l" eaLnBrk="1" hangingPunct="1"/>
            <a:r>
              <a:rPr lang="en-US" altLang="zh-CN" dirty="0">
                <a:solidFill>
                  <a:srgbClr val="FF0000"/>
                </a:solidFill>
              </a:rPr>
              <a:t>q = p;</a:t>
            </a:r>
            <a:endParaRPr lang="en-US" altLang="zh-CN" dirty="0">
              <a:solidFill>
                <a:srgbClr val="3333FF"/>
              </a:solidFill>
            </a:endParaRPr>
          </a:p>
        </p:txBody>
      </p:sp>
      <p:sp>
        <p:nvSpPr>
          <p:cNvPr id="543774" name="Rectangle 30"/>
          <p:cNvSpPr>
            <a:spLocks noChangeArrowheads="1"/>
          </p:cNvSpPr>
          <p:nvPr/>
        </p:nvSpPr>
        <p:spPr bwMode="auto">
          <a:xfrm>
            <a:off x="4335463" y="4394052"/>
            <a:ext cx="2172390" cy="1200329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x , </a:t>
            </a:r>
            <a:r>
              <a:rPr lang="en-US" altLang="zh-CN" dirty="0">
                <a:solidFill>
                  <a:srgbClr val="FF0000"/>
                </a:solidFill>
              </a:rPr>
              <a:t>*p=&amp;x;</a:t>
            </a:r>
          </a:p>
          <a:p>
            <a:pPr algn="l" eaLnBrk="1" hangingPunct="1"/>
            <a:r>
              <a:rPr lang="en-US" altLang="zh-CN" dirty="0">
                <a:solidFill>
                  <a:srgbClr val="FF0000"/>
                </a:solidFill>
              </a:rPr>
              <a:t>float</a:t>
            </a:r>
            <a:r>
              <a:rPr lang="en-US" altLang="zh-CN" dirty="0">
                <a:solidFill>
                  <a:srgbClr val="3333FF"/>
                </a:solidFill>
              </a:rPr>
              <a:t> *q;</a:t>
            </a:r>
          </a:p>
          <a:p>
            <a:pPr algn="l" eaLnBrk="1" hangingPunct="1"/>
            <a:r>
              <a:rPr lang="en-US" altLang="zh-CN" dirty="0">
                <a:solidFill>
                  <a:srgbClr val="FF0000"/>
                </a:solidFill>
              </a:rPr>
              <a:t>q = p;</a:t>
            </a:r>
            <a:endParaRPr lang="en-US" altLang="zh-CN" dirty="0">
              <a:solidFill>
                <a:srgbClr val="3333FF"/>
              </a:solidFill>
            </a:endParaRPr>
          </a:p>
        </p:txBody>
      </p:sp>
      <p:grpSp>
        <p:nvGrpSpPr>
          <p:cNvPr id="543775" name="Group 31"/>
          <p:cNvGrpSpPr>
            <a:grpSpLocks/>
          </p:cNvGrpSpPr>
          <p:nvPr/>
        </p:nvGrpSpPr>
        <p:grpSpPr bwMode="auto">
          <a:xfrm>
            <a:off x="6327775" y="5122715"/>
            <a:ext cx="466725" cy="476250"/>
            <a:chOff x="4130" y="2720"/>
            <a:chExt cx="869" cy="745"/>
          </a:xfrm>
        </p:grpSpPr>
        <p:sp>
          <p:nvSpPr>
            <p:cNvPr id="7189" name="Line 32"/>
            <p:cNvSpPr>
              <a:spLocks noChangeShapeType="1"/>
            </p:cNvSpPr>
            <p:nvPr/>
          </p:nvSpPr>
          <p:spPr bwMode="auto">
            <a:xfrm>
              <a:off x="4130" y="2720"/>
              <a:ext cx="869" cy="7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7190" name="Line 33"/>
            <p:cNvSpPr>
              <a:spLocks noChangeShapeType="1"/>
            </p:cNvSpPr>
            <p:nvPr/>
          </p:nvSpPr>
          <p:spPr bwMode="auto">
            <a:xfrm flipV="1">
              <a:off x="4156" y="2739"/>
              <a:ext cx="762" cy="71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25" name="Group 4"/>
          <p:cNvGrpSpPr>
            <a:grpSpLocks/>
          </p:cNvGrpSpPr>
          <p:nvPr/>
        </p:nvGrpSpPr>
        <p:grpSpPr bwMode="auto">
          <a:xfrm>
            <a:off x="4049713" y="3364534"/>
            <a:ext cx="1065212" cy="990600"/>
            <a:chOff x="3312" y="2160"/>
            <a:chExt cx="671" cy="624"/>
          </a:xfrm>
        </p:grpSpPr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3312" y="2160"/>
              <a:ext cx="671" cy="383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3552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dirty="0"/>
                <a:t>q</a:t>
              </a:r>
            </a:p>
          </p:txBody>
        </p:sp>
      </p:grp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4049713" y="2907334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/>
              <a:t>  </a:t>
            </a:r>
            <a:r>
              <a:rPr lang="en-US" altLang="zh-CN" dirty="0"/>
              <a:t>2020</a:t>
            </a: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4202113" y="3440734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1010</a:t>
            </a:r>
          </a:p>
        </p:txBody>
      </p:sp>
      <p:sp>
        <p:nvSpPr>
          <p:cNvPr id="30" name="Line 14"/>
          <p:cNvSpPr>
            <a:spLocks noChangeShapeType="1"/>
          </p:cNvSpPr>
          <p:nvPr/>
        </p:nvSpPr>
        <p:spPr bwMode="auto">
          <a:xfrm flipV="1">
            <a:off x="5114925" y="2074092"/>
            <a:ext cx="990600" cy="16153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41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43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43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4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43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43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4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43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43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54" grpId="0" autoUpdateAnimBg="0"/>
      <p:bldP spid="543755" grpId="0" autoUpdateAnimBg="0"/>
      <p:bldP spid="543756" grpId="0" autoUpdateAnimBg="0"/>
      <p:bldP spid="543757" grpId="0" autoUpdateAnimBg="0"/>
      <p:bldP spid="543765" grpId="0"/>
      <p:bldP spid="543767" grpId="0"/>
      <p:bldP spid="543771" grpId="0"/>
      <p:bldP spid="543773" grpId="0" animBg="1"/>
      <p:bldP spid="543774" grpId="0" animBg="1"/>
      <p:bldP spid="28" grpId="0" autoUpdateAnimBg="0"/>
      <p:bldP spid="2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79" name="Text Box 15"/>
          <p:cNvSpPr txBox="1">
            <a:spLocks noChangeArrowheads="1"/>
          </p:cNvSpPr>
          <p:nvPr/>
        </p:nvSpPr>
        <p:spPr bwMode="auto">
          <a:xfrm>
            <a:off x="263525" y="1979613"/>
            <a:ext cx="8153400" cy="158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/>
              <a:t>二、 指针运算符</a:t>
            </a:r>
            <a:r>
              <a:rPr lang="en-US" altLang="zh-CN" dirty="0"/>
              <a:t>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1. </a:t>
            </a:r>
            <a:r>
              <a:rPr lang="zh-CN" altLang="en-US" dirty="0"/>
              <a:t>指针运算符</a:t>
            </a:r>
            <a:r>
              <a:rPr lang="zh-CN" altLang="en-US" dirty="0">
                <a:solidFill>
                  <a:srgbClr val="FF0000"/>
                </a:solidFill>
              </a:rPr>
              <a:t> *</a:t>
            </a:r>
            <a:r>
              <a:rPr lang="zh-CN" altLang="en-US" dirty="0">
                <a:solidFill>
                  <a:srgbClr val="FF3300"/>
                </a:solidFill>
              </a:rPr>
              <a:t>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(1) 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0000"/>
                </a:solidFill>
              </a:rPr>
              <a:t>*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/>
              <a:t>不同</a:t>
            </a:r>
            <a:r>
              <a:rPr lang="en-US" altLang="zh-CN" dirty="0"/>
              <a:t>, p</a:t>
            </a:r>
            <a:r>
              <a:rPr lang="zh-CN" altLang="en-US" dirty="0"/>
              <a:t>是指针变量</a:t>
            </a:r>
            <a:r>
              <a:rPr lang="en-US" altLang="zh-CN" dirty="0"/>
              <a:t>, p</a:t>
            </a:r>
            <a:r>
              <a:rPr lang="zh-CN" altLang="en-US" dirty="0"/>
              <a:t>的值是</a:t>
            </a:r>
            <a:r>
              <a:rPr lang="en-US" altLang="zh-CN" dirty="0"/>
              <a:t>p</a:t>
            </a:r>
            <a:r>
              <a:rPr lang="zh-CN" altLang="en-US" dirty="0"/>
              <a:t>所指向的变量的地址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/>
              <a:t>     *</a:t>
            </a:r>
            <a:r>
              <a:rPr lang="en-US" altLang="zh-CN" dirty="0"/>
              <a:t>p </a:t>
            </a:r>
            <a:r>
              <a:rPr lang="zh-CN" altLang="en-US" dirty="0"/>
              <a:t>是</a:t>
            </a:r>
            <a:r>
              <a:rPr lang="en-US" altLang="zh-CN" dirty="0"/>
              <a:t>p </a:t>
            </a:r>
            <a:r>
              <a:rPr lang="zh-CN" altLang="en-US" dirty="0"/>
              <a:t>所指向的变量 </a:t>
            </a:r>
            <a:r>
              <a:rPr lang="en-US" altLang="zh-CN" dirty="0"/>
              <a:t>, *p</a:t>
            </a:r>
            <a:r>
              <a:rPr lang="zh-CN" altLang="en-US" dirty="0"/>
              <a:t>的值是</a:t>
            </a:r>
            <a:r>
              <a:rPr lang="en-US" altLang="zh-CN" dirty="0"/>
              <a:t>p</a:t>
            </a:r>
            <a:r>
              <a:rPr lang="zh-CN" altLang="en-US" dirty="0"/>
              <a:t>所指向的变量的值</a:t>
            </a:r>
          </a:p>
        </p:txBody>
      </p:sp>
      <p:sp>
        <p:nvSpPr>
          <p:cNvPr id="523280" name="Text Box 16"/>
          <p:cNvSpPr txBox="1">
            <a:spLocks noChangeArrowheads="1"/>
          </p:cNvSpPr>
          <p:nvPr/>
        </p:nvSpPr>
        <p:spPr bwMode="auto">
          <a:xfrm>
            <a:off x="777875" y="3767138"/>
            <a:ext cx="678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3333FF"/>
                </a:solidFill>
              </a:rPr>
              <a:t>*</a:t>
            </a:r>
            <a:r>
              <a:rPr lang="en-US" altLang="zh-CN" dirty="0">
                <a:solidFill>
                  <a:srgbClr val="3333FF"/>
                </a:solidFill>
              </a:rPr>
              <a:t>p </a:t>
            </a:r>
            <a:r>
              <a:rPr lang="zh-CN" altLang="en-US" dirty="0">
                <a:solidFill>
                  <a:srgbClr val="3333FF"/>
                </a:solidFill>
              </a:rPr>
              <a:t>的值为 </a:t>
            </a:r>
            <a:r>
              <a:rPr lang="en-US" altLang="zh-CN" dirty="0">
                <a:solidFill>
                  <a:srgbClr val="3333FF"/>
                </a:solidFill>
              </a:rPr>
              <a:t>5(*p </a:t>
            </a:r>
            <a:r>
              <a:rPr lang="zh-CN" altLang="en-US" dirty="0">
                <a:solidFill>
                  <a:srgbClr val="3333FF"/>
                </a:solidFill>
              </a:rPr>
              <a:t>表示 </a:t>
            </a:r>
            <a:r>
              <a:rPr lang="en-US" altLang="zh-CN" dirty="0">
                <a:solidFill>
                  <a:srgbClr val="3333FF"/>
                </a:solidFill>
              </a:rPr>
              <a:t>x) , </a:t>
            </a:r>
            <a:r>
              <a:rPr lang="zh-CN" altLang="en-US" dirty="0">
                <a:solidFill>
                  <a:srgbClr val="3333FF"/>
                </a:solidFill>
              </a:rPr>
              <a:t>而</a:t>
            </a:r>
            <a:r>
              <a:rPr lang="en-US" altLang="zh-CN" dirty="0">
                <a:solidFill>
                  <a:srgbClr val="3333FF"/>
                </a:solidFill>
              </a:rPr>
              <a:t>p </a:t>
            </a:r>
            <a:r>
              <a:rPr lang="zh-CN" altLang="en-US" dirty="0">
                <a:solidFill>
                  <a:srgbClr val="3333FF"/>
                </a:solidFill>
              </a:rPr>
              <a:t>的值为 </a:t>
            </a:r>
            <a:r>
              <a:rPr lang="en-US" altLang="zh-CN" dirty="0">
                <a:solidFill>
                  <a:srgbClr val="3333FF"/>
                </a:solidFill>
              </a:rPr>
              <a:t>1010</a:t>
            </a:r>
          </a:p>
        </p:txBody>
      </p:sp>
      <p:sp>
        <p:nvSpPr>
          <p:cNvPr id="523281" name="Text Box 17"/>
          <p:cNvSpPr txBox="1">
            <a:spLocks noChangeArrowheads="1"/>
          </p:cNvSpPr>
          <p:nvPr/>
        </p:nvSpPr>
        <p:spPr bwMode="auto">
          <a:xfrm>
            <a:off x="263525" y="4469102"/>
            <a:ext cx="7924800" cy="807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/>
              <a:t>(2) </a:t>
            </a:r>
            <a:r>
              <a:rPr lang="zh-CN" altLang="en-US" dirty="0">
                <a:solidFill>
                  <a:srgbClr val="FF0000"/>
                </a:solidFill>
              </a:rPr>
              <a:t>引用</a:t>
            </a:r>
            <a:r>
              <a:rPr lang="zh-CN" altLang="en-US" dirty="0"/>
              <a:t>指针变量时的 * 与</a:t>
            </a:r>
            <a:r>
              <a:rPr lang="zh-CN" altLang="en-US" dirty="0">
                <a:solidFill>
                  <a:srgbClr val="FF0000"/>
                </a:solidFill>
              </a:rPr>
              <a:t> 定义</a:t>
            </a:r>
            <a:r>
              <a:rPr lang="zh-CN" altLang="en-US" dirty="0"/>
              <a:t>指针变量时的 * </a:t>
            </a:r>
            <a:r>
              <a:rPr lang="zh-CN" altLang="en-US" dirty="0">
                <a:solidFill>
                  <a:srgbClr val="FF0000"/>
                </a:solidFill>
              </a:rPr>
              <a:t>不同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/>
              <a:t>      定义变量时的 * 只是表示其后的变量是指针类型       </a:t>
            </a:r>
          </a:p>
        </p:txBody>
      </p:sp>
      <p:sp>
        <p:nvSpPr>
          <p:cNvPr id="8197" name="Rectangle 18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6.1.3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指针变量的使用</a:t>
            </a:r>
          </a:p>
        </p:txBody>
      </p:sp>
      <p:sp>
        <p:nvSpPr>
          <p:cNvPr id="8198" name="Text Box 19"/>
          <p:cNvSpPr txBox="1">
            <a:spLocks noChangeArrowheads="1"/>
          </p:cNvSpPr>
          <p:nvPr/>
        </p:nvSpPr>
        <p:spPr bwMode="auto">
          <a:xfrm>
            <a:off x="263525" y="908050"/>
            <a:ext cx="4354513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/>
              <a:t>4. </a:t>
            </a:r>
            <a:r>
              <a:rPr lang="zh-CN" altLang="en-US"/>
              <a:t>使用</a:t>
            </a:r>
            <a:r>
              <a:rPr lang="en-US" altLang="zh-CN"/>
              <a:t>NULL</a:t>
            </a:r>
            <a:r>
              <a:rPr lang="zh-CN" altLang="en-US"/>
              <a:t>给指针赋空值</a:t>
            </a:r>
            <a:endParaRPr lang="en-US" altLang="zh-CN"/>
          </a:p>
        </p:txBody>
      </p:sp>
      <p:sp>
        <p:nvSpPr>
          <p:cNvPr id="8199" name="Rectangle 20"/>
          <p:cNvSpPr>
            <a:spLocks noChangeArrowheads="1"/>
          </p:cNvSpPr>
          <p:nvPr/>
        </p:nvSpPr>
        <p:spPr bwMode="auto">
          <a:xfrm>
            <a:off x="4168775" y="823913"/>
            <a:ext cx="1649413" cy="82232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>
                <a:solidFill>
                  <a:srgbClr val="3333FF"/>
                </a:solidFill>
              </a:rPr>
              <a:t>int   x , </a:t>
            </a:r>
            <a:r>
              <a:rPr lang="en-US" altLang="zh-CN">
                <a:solidFill>
                  <a:srgbClr val="FF0000"/>
                </a:solidFill>
              </a:rPr>
              <a:t>*p</a:t>
            </a:r>
            <a:r>
              <a:rPr lang="en-US" altLang="zh-CN">
                <a:solidFill>
                  <a:srgbClr val="3333FF"/>
                </a:solidFill>
              </a:rPr>
              <a:t> ;</a:t>
            </a:r>
          </a:p>
          <a:p>
            <a:pPr algn="l" eaLnBrk="1" hangingPunct="1"/>
            <a:r>
              <a:rPr lang="en-US" altLang="zh-CN">
                <a:solidFill>
                  <a:srgbClr val="FF0000"/>
                </a:solidFill>
              </a:rPr>
              <a:t>p=NULL;</a:t>
            </a:r>
          </a:p>
        </p:txBody>
      </p:sp>
      <p:grpSp>
        <p:nvGrpSpPr>
          <p:cNvPr id="523296" name="Group 32"/>
          <p:cNvGrpSpPr>
            <a:grpSpLocks/>
          </p:cNvGrpSpPr>
          <p:nvPr/>
        </p:nvGrpSpPr>
        <p:grpSpPr bwMode="auto">
          <a:xfrm>
            <a:off x="5818188" y="990600"/>
            <a:ext cx="3124200" cy="1476375"/>
            <a:chOff x="3720" y="532"/>
            <a:chExt cx="1968" cy="930"/>
          </a:xfrm>
        </p:grpSpPr>
        <p:grpSp>
          <p:nvGrpSpPr>
            <p:cNvPr id="8201" name="Group 21"/>
            <p:cNvGrpSpPr>
              <a:grpSpLocks/>
            </p:cNvGrpSpPr>
            <p:nvPr/>
          </p:nvGrpSpPr>
          <p:grpSpPr bwMode="auto">
            <a:xfrm>
              <a:off x="3720" y="838"/>
              <a:ext cx="671" cy="624"/>
              <a:chOff x="3312" y="2160"/>
              <a:chExt cx="671" cy="624"/>
            </a:xfrm>
          </p:grpSpPr>
          <p:sp>
            <p:nvSpPr>
              <p:cNvPr id="8210" name="Rectangle 22"/>
              <p:cNvSpPr>
                <a:spLocks noChangeArrowheads="1"/>
              </p:cNvSpPr>
              <p:nvPr/>
            </p:nvSpPr>
            <p:spPr bwMode="auto">
              <a:xfrm>
                <a:off x="3312" y="2160"/>
                <a:ext cx="671" cy="383"/>
              </a:xfrm>
              <a:prstGeom prst="rect">
                <a:avLst/>
              </a:prstGeom>
              <a:solidFill>
                <a:srgbClr val="CCFFCC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11" name="Text Box 23"/>
              <p:cNvSpPr txBox="1">
                <a:spLocks noChangeArrowheads="1"/>
              </p:cNvSpPr>
              <p:nvPr/>
            </p:nvSpPr>
            <p:spPr bwMode="auto">
              <a:xfrm>
                <a:off x="3552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/>
                  <a:t>p</a:t>
                </a:r>
              </a:p>
            </p:txBody>
          </p:sp>
        </p:grpSp>
        <p:grpSp>
          <p:nvGrpSpPr>
            <p:cNvPr id="8202" name="Group 24"/>
            <p:cNvGrpSpPr>
              <a:grpSpLocks/>
            </p:cNvGrpSpPr>
            <p:nvPr/>
          </p:nvGrpSpPr>
          <p:grpSpPr bwMode="auto">
            <a:xfrm>
              <a:off x="5016" y="838"/>
              <a:ext cx="671" cy="624"/>
              <a:chOff x="4752" y="2160"/>
              <a:chExt cx="671" cy="624"/>
            </a:xfrm>
          </p:grpSpPr>
          <p:sp>
            <p:nvSpPr>
              <p:cNvPr id="8208" name="Rectangle 25"/>
              <p:cNvSpPr>
                <a:spLocks noChangeArrowheads="1"/>
              </p:cNvSpPr>
              <p:nvPr/>
            </p:nvSpPr>
            <p:spPr bwMode="auto">
              <a:xfrm>
                <a:off x="4752" y="2160"/>
                <a:ext cx="671" cy="383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09" name="Text Box 26"/>
              <p:cNvSpPr txBox="1">
                <a:spLocks noChangeArrowheads="1"/>
              </p:cNvSpPr>
              <p:nvPr/>
            </p:nvSpPr>
            <p:spPr bwMode="auto">
              <a:xfrm>
                <a:off x="4992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/>
                  <a:t>x</a:t>
                </a:r>
              </a:p>
            </p:txBody>
          </p:sp>
        </p:grpSp>
        <p:sp>
          <p:nvSpPr>
            <p:cNvPr id="8203" name="Text Box 27"/>
            <p:cNvSpPr txBox="1">
              <a:spLocks noChangeArrowheads="1"/>
            </p:cNvSpPr>
            <p:nvPr/>
          </p:nvSpPr>
          <p:spPr bwMode="auto">
            <a:xfrm>
              <a:off x="3720" y="532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/>
                <a:t>  </a:t>
              </a:r>
              <a:r>
                <a:rPr lang="en-US" altLang="zh-CN"/>
                <a:t>2012</a:t>
              </a:r>
            </a:p>
          </p:txBody>
        </p:sp>
        <p:sp>
          <p:nvSpPr>
            <p:cNvPr id="8204" name="Text Box 28"/>
            <p:cNvSpPr txBox="1">
              <a:spLocks noChangeArrowheads="1"/>
            </p:cNvSpPr>
            <p:nvPr/>
          </p:nvSpPr>
          <p:spPr bwMode="auto">
            <a:xfrm>
              <a:off x="5016" y="532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/>
                <a:t>  </a:t>
              </a:r>
              <a:r>
                <a:rPr lang="en-US" altLang="zh-CN"/>
                <a:t>1010</a:t>
              </a:r>
            </a:p>
          </p:txBody>
        </p:sp>
        <p:sp>
          <p:nvSpPr>
            <p:cNvPr id="8205" name="Text Box 29"/>
            <p:cNvSpPr txBox="1">
              <a:spLocks noChangeArrowheads="1"/>
            </p:cNvSpPr>
            <p:nvPr/>
          </p:nvSpPr>
          <p:spPr bwMode="auto">
            <a:xfrm>
              <a:off x="5256" y="88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5</a:t>
              </a:r>
            </a:p>
          </p:txBody>
        </p:sp>
        <p:sp>
          <p:nvSpPr>
            <p:cNvPr id="8206" name="Text Box 30"/>
            <p:cNvSpPr txBox="1">
              <a:spLocks noChangeArrowheads="1"/>
            </p:cNvSpPr>
            <p:nvPr/>
          </p:nvSpPr>
          <p:spPr bwMode="auto">
            <a:xfrm>
              <a:off x="3816" y="886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1010</a:t>
              </a:r>
            </a:p>
          </p:txBody>
        </p:sp>
        <p:sp>
          <p:nvSpPr>
            <p:cNvPr id="8207" name="Line 31"/>
            <p:cNvSpPr>
              <a:spLocks noChangeShapeType="1"/>
            </p:cNvSpPr>
            <p:nvPr/>
          </p:nvSpPr>
          <p:spPr bwMode="auto">
            <a:xfrm>
              <a:off x="4392" y="103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921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2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79" grpId="0" autoUpdateAnimBg="0"/>
      <p:bldP spid="523280" grpId="0" autoUpdateAnimBg="0"/>
      <p:bldP spid="52328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371475" y="919163"/>
            <a:ext cx="3352800" cy="210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a , *p ;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p = &amp;a ;</a:t>
            </a:r>
            <a:r>
              <a:rPr lang="en-US" altLang="zh-CN" dirty="0">
                <a:solidFill>
                  <a:srgbClr val="0066FF"/>
                </a:solidFill>
              </a:rPr>
              <a:t>                                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 err="1">
                <a:solidFill>
                  <a:srgbClr val="3333FF"/>
                </a:solidFill>
              </a:rPr>
              <a:t>scanf</a:t>
            </a:r>
            <a:r>
              <a:rPr lang="en-US" altLang="zh-CN" dirty="0">
                <a:solidFill>
                  <a:srgbClr val="3333FF"/>
                </a:solidFill>
              </a:rPr>
              <a:t> ( "%d" ,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3333FF"/>
                </a:solidFill>
              </a:rPr>
              <a:t>) ; 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 err="1">
                <a:solidFill>
                  <a:srgbClr val="3333FF"/>
                </a:solidFill>
              </a:rPr>
              <a:t>printf</a:t>
            </a:r>
            <a:r>
              <a:rPr lang="en-US" altLang="zh-CN" dirty="0">
                <a:solidFill>
                  <a:srgbClr val="3333FF"/>
                </a:solidFill>
              </a:rPr>
              <a:t> ("%d\n" ,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*p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3333FF"/>
                </a:solidFill>
              </a:rPr>
              <a:t>) ;</a:t>
            </a:r>
            <a:r>
              <a:rPr lang="en-US" altLang="zh-CN" dirty="0">
                <a:solidFill>
                  <a:srgbClr val="0066FF"/>
                </a:solidFill>
              </a:rPr>
              <a:t>          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*p = 12 ;</a:t>
            </a:r>
            <a:r>
              <a:rPr lang="en-US" altLang="zh-CN" dirty="0">
                <a:solidFill>
                  <a:srgbClr val="0066FF"/>
                </a:solidFill>
              </a:rPr>
              <a:t>                                 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 err="1">
                <a:solidFill>
                  <a:srgbClr val="3333FF"/>
                </a:solidFill>
              </a:rPr>
              <a:t>printf</a:t>
            </a:r>
            <a:r>
              <a:rPr lang="en-US" altLang="zh-CN" dirty="0">
                <a:solidFill>
                  <a:srgbClr val="3333FF"/>
                </a:solidFill>
              </a:rPr>
              <a:t> ("%d\n" , a ) ;</a:t>
            </a:r>
          </a:p>
        </p:txBody>
      </p:sp>
      <p:grpSp>
        <p:nvGrpSpPr>
          <p:cNvPr id="525315" name="Group 3"/>
          <p:cNvGrpSpPr>
            <a:grpSpLocks/>
          </p:cNvGrpSpPr>
          <p:nvPr/>
        </p:nvGrpSpPr>
        <p:grpSpPr bwMode="auto">
          <a:xfrm>
            <a:off x="5095875" y="1376363"/>
            <a:ext cx="1065213" cy="990600"/>
            <a:chOff x="3312" y="2160"/>
            <a:chExt cx="671" cy="624"/>
          </a:xfrm>
        </p:grpSpPr>
        <p:sp>
          <p:nvSpPr>
            <p:cNvPr id="9234" name="Rectangle 4"/>
            <p:cNvSpPr>
              <a:spLocks noChangeArrowheads="1"/>
            </p:cNvSpPr>
            <p:nvPr/>
          </p:nvSpPr>
          <p:spPr bwMode="auto">
            <a:xfrm>
              <a:off x="3312" y="2160"/>
              <a:ext cx="671" cy="383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5" name="Text Box 5"/>
            <p:cNvSpPr txBox="1">
              <a:spLocks noChangeArrowheads="1"/>
            </p:cNvSpPr>
            <p:nvPr/>
          </p:nvSpPr>
          <p:spPr bwMode="auto">
            <a:xfrm>
              <a:off x="3552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</p:grpSp>
      <p:grpSp>
        <p:nvGrpSpPr>
          <p:cNvPr id="525318" name="Group 6"/>
          <p:cNvGrpSpPr>
            <a:grpSpLocks/>
          </p:cNvGrpSpPr>
          <p:nvPr/>
        </p:nvGrpSpPr>
        <p:grpSpPr bwMode="auto">
          <a:xfrm>
            <a:off x="7153275" y="1376363"/>
            <a:ext cx="1065213" cy="990600"/>
            <a:chOff x="4752" y="2160"/>
            <a:chExt cx="671" cy="624"/>
          </a:xfrm>
        </p:grpSpPr>
        <p:sp>
          <p:nvSpPr>
            <p:cNvPr id="9232" name="Rectangle 7"/>
            <p:cNvSpPr>
              <a:spLocks noChangeArrowheads="1"/>
            </p:cNvSpPr>
            <p:nvPr/>
          </p:nvSpPr>
          <p:spPr bwMode="auto">
            <a:xfrm>
              <a:off x="4752" y="2160"/>
              <a:ext cx="671" cy="38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3" name="Text Box 8"/>
            <p:cNvSpPr txBox="1">
              <a:spLocks noChangeArrowheads="1"/>
            </p:cNvSpPr>
            <p:nvPr/>
          </p:nvSpPr>
          <p:spPr bwMode="auto">
            <a:xfrm>
              <a:off x="4992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</p:grpSp>
      <p:sp>
        <p:nvSpPr>
          <p:cNvPr id="525321" name="Text Box 9"/>
          <p:cNvSpPr txBox="1">
            <a:spLocks noChangeArrowheads="1"/>
          </p:cNvSpPr>
          <p:nvPr/>
        </p:nvSpPr>
        <p:spPr bwMode="auto">
          <a:xfrm>
            <a:off x="5095875" y="919163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  </a:t>
            </a:r>
            <a:r>
              <a:rPr lang="en-US" altLang="zh-CN"/>
              <a:t>2012</a:t>
            </a:r>
          </a:p>
        </p:txBody>
      </p:sp>
      <p:sp>
        <p:nvSpPr>
          <p:cNvPr id="525322" name="Text Box 10"/>
          <p:cNvSpPr txBox="1">
            <a:spLocks noChangeArrowheads="1"/>
          </p:cNvSpPr>
          <p:nvPr/>
        </p:nvSpPr>
        <p:spPr bwMode="auto">
          <a:xfrm>
            <a:off x="7153275" y="919163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  </a:t>
            </a:r>
            <a:r>
              <a:rPr lang="en-US" altLang="zh-CN"/>
              <a:t>1010</a:t>
            </a:r>
          </a:p>
        </p:txBody>
      </p:sp>
      <p:sp>
        <p:nvSpPr>
          <p:cNvPr id="525323" name="Text Box 11"/>
          <p:cNvSpPr txBox="1">
            <a:spLocks noChangeArrowheads="1"/>
          </p:cNvSpPr>
          <p:nvPr/>
        </p:nvSpPr>
        <p:spPr bwMode="auto">
          <a:xfrm>
            <a:off x="7534275" y="145256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5</a:t>
            </a:r>
          </a:p>
        </p:txBody>
      </p:sp>
      <p:sp>
        <p:nvSpPr>
          <p:cNvPr id="525324" name="Text Box 12"/>
          <p:cNvSpPr txBox="1">
            <a:spLocks noChangeArrowheads="1"/>
          </p:cNvSpPr>
          <p:nvPr/>
        </p:nvSpPr>
        <p:spPr bwMode="auto">
          <a:xfrm>
            <a:off x="5248275" y="1452563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1010</a:t>
            </a:r>
          </a:p>
        </p:txBody>
      </p:sp>
      <p:sp>
        <p:nvSpPr>
          <p:cNvPr id="525325" name="Line 13"/>
          <p:cNvSpPr>
            <a:spLocks noChangeShapeType="1"/>
          </p:cNvSpPr>
          <p:nvPr/>
        </p:nvSpPr>
        <p:spPr bwMode="auto">
          <a:xfrm>
            <a:off x="6162675" y="1681163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5326" name="Text Box 14"/>
          <p:cNvSpPr txBox="1">
            <a:spLocks noChangeArrowheads="1"/>
          </p:cNvSpPr>
          <p:nvPr/>
        </p:nvSpPr>
        <p:spPr bwMode="auto">
          <a:xfrm>
            <a:off x="7458075" y="1452563"/>
            <a:ext cx="609600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12</a:t>
            </a:r>
          </a:p>
        </p:txBody>
      </p:sp>
      <p:sp>
        <p:nvSpPr>
          <p:cNvPr id="525328" name="AutoShape 16"/>
          <p:cNvSpPr>
            <a:spLocks noChangeArrowheads="1"/>
          </p:cNvSpPr>
          <p:nvPr/>
        </p:nvSpPr>
        <p:spPr bwMode="auto">
          <a:xfrm>
            <a:off x="3724275" y="2443163"/>
            <a:ext cx="2133600" cy="838200"/>
          </a:xfrm>
          <a:prstGeom prst="wedgeRectCallout">
            <a:avLst>
              <a:gd name="adj1" fmla="val -132218"/>
              <a:gd name="adj2" fmla="val -48866"/>
            </a:avLst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66FF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重新赋值</a:t>
            </a:r>
          </a:p>
          <a:p>
            <a:pPr eaLnBrk="1" hangingPunct="1"/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等价于 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a=12</a:t>
            </a:r>
            <a:r>
              <a:rPr lang="en-US" altLang="zh-CN" dirty="0">
                <a:solidFill>
                  <a:srgbClr val="0066FF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25330" name="Text Box 18"/>
          <p:cNvSpPr txBox="1">
            <a:spLocks noChangeArrowheads="1"/>
          </p:cNvSpPr>
          <p:nvPr/>
        </p:nvSpPr>
        <p:spPr bwMode="auto">
          <a:xfrm>
            <a:off x="371475" y="3367088"/>
            <a:ext cx="19050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2. &amp; </a:t>
            </a:r>
            <a:r>
              <a:rPr lang="zh-CN" altLang="en-US" dirty="0"/>
              <a:t>与*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9900FF"/>
                </a:solidFill>
              </a:rPr>
              <a:t>    </a:t>
            </a:r>
            <a:r>
              <a:rPr lang="en-US" altLang="zh-CN" dirty="0">
                <a:solidFill>
                  <a:srgbClr val="9900FF"/>
                </a:solidFill>
              </a:rPr>
              <a:t>p = &amp;a ;</a:t>
            </a:r>
            <a:r>
              <a:rPr lang="en-US" altLang="zh-CN" dirty="0"/>
              <a:t>   </a:t>
            </a:r>
          </a:p>
        </p:txBody>
      </p:sp>
      <p:sp>
        <p:nvSpPr>
          <p:cNvPr id="525331" name="Text Box 19"/>
          <p:cNvSpPr txBox="1">
            <a:spLocks noChangeArrowheads="1"/>
          </p:cNvSpPr>
          <p:nvPr/>
        </p:nvSpPr>
        <p:spPr bwMode="auto">
          <a:xfrm>
            <a:off x="676275" y="4928174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>
                <a:sym typeface="Wingdings" panose="05000000000000000000" pitchFamily="2" charset="2"/>
              </a:rPr>
              <a:t>*</a:t>
            </a:r>
            <a:r>
              <a:rPr lang="en-US" altLang="zh-CN">
                <a:sym typeface="Wingdings" panose="05000000000000000000" pitchFamily="2" charset="2"/>
              </a:rPr>
              <a:t>&amp;a    *(&amp;a)    *p   a</a:t>
            </a:r>
          </a:p>
        </p:txBody>
      </p:sp>
      <p:sp>
        <p:nvSpPr>
          <p:cNvPr id="525332" name="Text Box 20"/>
          <p:cNvSpPr txBox="1">
            <a:spLocks noChangeArrowheads="1"/>
          </p:cNvSpPr>
          <p:nvPr/>
        </p:nvSpPr>
        <p:spPr bwMode="auto">
          <a:xfrm>
            <a:off x="676275" y="4259837"/>
            <a:ext cx="39068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/>
              <a:t>&amp;*p  </a:t>
            </a:r>
            <a:r>
              <a:rPr lang="en-US" altLang="zh-CN" dirty="0">
                <a:sym typeface="Wingdings" panose="05000000000000000000" pitchFamily="2" charset="2"/>
              </a:rPr>
              <a:t>  &amp;(*p)    &amp;a  p</a:t>
            </a:r>
          </a:p>
        </p:txBody>
      </p:sp>
      <p:sp>
        <p:nvSpPr>
          <p:cNvPr id="9231" name="Rectangle 21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6.1.3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指针变量的使用</a:t>
            </a:r>
          </a:p>
        </p:txBody>
      </p:sp>
    </p:spTree>
    <p:extLst>
      <p:ext uri="{BB962C8B-B14F-4D97-AF65-F5344CB8AC3E}">
        <p14:creationId xmlns:p14="http://schemas.microsoft.com/office/powerpoint/2010/main" val="127811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2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25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21" grpId="0" autoUpdateAnimBg="0"/>
      <p:bldP spid="525322" grpId="0" autoUpdateAnimBg="0"/>
      <p:bldP spid="525323" grpId="0" autoUpdateAnimBg="0"/>
      <p:bldP spid="525324" grpId="0" autoUpdateAnimBg="0"/>
      <p:bldP spid="525326" grpId="0" animBg="1" autoUpdateAnimBg="0"/>
      <p:bldP spid="525328" grpId="0" animBg="1" autoUpdateAnimBg="0"/>
      <p:bldP spid="525330" grpId="0" autoUpdateAnimBg="0"/>
      <p:bldP spid="525331" grpId="0" autoUpdateAnimBg="0"/>
      <p:bldP spid="52533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338" name="Group 2"/>
          <p:cNvGrpSpPr>
            <a:grpSpLocks/>
          </p:cNvGrpSpPr>
          <p:nvPr/>
        </p:nvGrpSpPr>
        <p:grpSpPr bwMode="auto">
          <a:xfrm>
            <a:off x="6834188" y="1552575"/>
            <a:ext cx="1371600" cy="2436813"/>
            <a:chOff x="4704" y="624"/>
            <a:chExt cx="864" cy="1535"/>
          </a:xfrm>
        </p:grpSpPr>
        <p:sp>
          <p:nvSpPr>
            <p:cNvPr id="10265" name="Rectangle 3"/>
            <p:cNvSpPr>
              <a:spLocks noChangeArrowheads="1"/>
            </p:cNvSpPr>
            <p:nvPr/>
          </p:nvSpPr>
          <p:spPr bwMode="auto">
            <a:xfrm>
              <a:off x="4704" y="624"/>
              <a:ext cx="671" cy="38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2</a:t>
              </a:r>
            </a:p>
          </p:txBody>
        </p:sp>
        <p:sp>
          <p:nvSpPr>
            <p:cNvPr id="10266" name="Text Box 4"/>
            <p:cNvSpPr txBox="1">
              <a:spLocks noChangeArrowheads="1"/>
            </p:cNvSpPr>
            <p:nvPr/>
          </p:nvSpPr>
          <p:spPr bwMode="auto">
            <a:xfrm>
              <a:off x="5376" y="720"/>
              <a:ext cx="192" cy="1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a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b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c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d</a:t>
              </a:r>
            </a:p>
          </p:txBody>
        </p:sp>
        <p:sp>
          <p:nvSpPr>
            <p:cNvPr id="10267" name="Rectangle 5"/>
            <p:cNvSpPr>
              <a:spLocks noChangeArrowheads="1"/>
            </p:cNvSpPr>
            <p:nvPr/>
          </p:nvSpPr>
          <p:spPr bwMode="auto">
            <a:xfrm>
              <a:off x="4704" y="1008"/>
              <a:ext cx="671" cy="38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5</a:t>
              </a:r>
            </a:p>
          </p:txBody>
        </p:sp>
        <p:sp>
          <p:nvSpPr>
            <p:cNvPr id="10268" name="Rectangle 6"/>
            <p:cNvSpPr>
              <a:spLocks noChangeArrowheads="1"/>
            </p:cNvSpPr>
            <p:nvPr/>
          </p:nvSpPr>
          <p:spPr bwMode="auto">
            <a:xfrm>
              <a:off x="4704" y="1392"/>
              <a:ext cx="671" cy="38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9" name="Rectangle 7"/>
            <p:cNvSpPr>
              <a:spLocks noChangeArrowheads="1"/>
            </p:cNvSpPr>
            <p:nvPr/>
          </p:nvSpPr>
          <p:spPr bwMode="auto">
            <a:xfrm>
              <a:off x="4704" y="1776"/>
              <a:ext cx="671" cy="38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243" name="Text Box 8"/>
          <p:cNvSpPr txBox="1">
            <a:spLocks noChangeArrowheads="1"/>
          </p:cNvSpPr>
          <p:nvPr/>
        </p:nvSpPr>
        <p:spPr bwMode="auto">
          <a:xfrm>
            <a:off x="211138" y="790575"/>
            <a:ext cx="7086600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dirty="0"/>
              <a:t> </a:t>
            </a:r>
            <a:r>
              <a:rPr lang="en-US" altLang="zh-CN" dirty="0"/>
              <a:t>3. *</a:t>
            </a:r>
            <a:r>
              <a:rPr lang="zh-CN" altLang="en-US" dirty="0"/>
              <a:t>与 </a:t>
            </a:r>
            <a:r>
              <a:rPr lang="en-US" altLang="zh-CN" dirty="0"/>
              <a:t>++ , - -       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 a = 2 , b = 5 , c , d , *p ; </a:t>
            </a:r>
            <a:endParaRPr lang="en-US" altLang="zh-CN" dirty="0">
              <a:solidFill>
                <a:srgbClr val="9966FF"/>
              </a:solidFill>
            </a:endParaRPr>
          </a:p>
        </p:txBody>
      </p:sp>
      <p:sp>
        <p:nvSpPr>
          <p:cNvPr id="526346" name="Text Box 10"/>
          <p:cNvSpPr txBox="1">
            <a:spLocks noChangeArrowheads="1"/>
          </p:cNvSpPr>
          <p:nvPr/>
        </p:nvSpPr>
        <p:spPr bwMode="auto">
          <a:xfrm>
            <a:off x="211138" y="2615040"/>
            <a:ext cx="2362200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(2) </a:t>
            </a:r>
            <a:r>
              <a:rPr lang="en-US" altLang="zh-CN" dirty="0">
                <a:solidFill>
                  <a:srgbClr val="9900FF"/>
                </a:solidFill>
              </a:rPr>
              <a:t>c = *p++ ;</a:t>
            </a:r>
          </a:p>
        </p:txBody>
      </p:sp>
      <p:sp>
        <p:nvSpPr>
          <p:cNvPr id="526347" name="Text Box 11"/>
          <p:cNvSpPr txBox="1">
            <a:spLocks noChangeArrowheads="1"/>
          </p:cNvSpPr>
          <p:nvPr/>
        </p:nvSpPr>
        <p:spPr bwMode="auto">
          <a:xfrm>
            <a:off x="604838" y="3096053"/>
            <a:ext cx="5181600" cy="785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c = *(p++) ;  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   { c = *p ;   p++ ; }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>
                <a:sym typeface="Wingdings" panose="05000000000000000000" pitchFamily="2" charset="2"/>
              </a:rPr>
              <a:t>  </a:t>
            </a:r>
            <a:r>
              <a:rPr lang="zh-CN" altLang="en-US" dirty="0">
                <a:sym typeface="Wingdings" panose="05000000000000000000" pitchFamily="2" charset="2"/>
              </a:rPr>
              <a:t>执行后 </a:t>
            </a:r>
            <a:r>
              <a:rPr lang="en-US" altLang="zh-CN" dirty="0">
                <a:sym typeface="Wingdings" panose="05000000000000000000" pitchFamily="2" charset="2"/>
              </a:rPr>
              <a:t>c </a:t>
            </a:r>
            <a:r>
              <a:rPr lang="zh-CN" altLang="en-US" dirty="0">
                <a:sym typeface="Wingdings" panose="05000000000000000000" pitchFamily="2" charset="2"/>
              </a:rPr>
              <a:t>的值为 </a:t>
            </a:r>
            <a:r>
              <a:rPr lang="en-US" altLang="zh-CN" dirty="0">
                <a:sym typeface="Wingdings" panose="05000000000000000000" pitchFamily="2" charset="2"/>
              </a:rPr>
              <a:t>3  , *p </a:t>
            </a:r>
            <a:r>
              <a:rPr lang="zh-CN" altLang="en-US" dirty="0">
                <a:sym typeface="Wingdings" panose="05000000000000000000" pitchFamily="2" charset="2"/>
              </a:rPr>
              <a:t>的值为 </a:t>
            </a:r>
            <a:r>
              <a:rPr lang="en-US" altLang="zh-CN" dirty="0">
                <a:sym typeface="Wingdings" panose="05000000000000000000" pitchFamily="2" charset="2"/>
              </a:rPr>
              <a:t>5</a:t>
            </a:r>
            <a:endParaRPr lang="en-US" altLang="zh-CN" dirty="0"/>
          </a:p>
        </p:txBody>
      </p:sp>
      <p:sp>
        <p:nvSpPr>
          <p:cNvPr id="526348" name="Text Box 12"/>
          <p:cNvSpPr txBox="1">
            <a:spLocks noChangeArrowheads="1"/>
          </p:cNvSpPr>
          <p:nvPr/>
        </p:nvSpPr>
        <p:spPr bwMode="auto">
          <a:xfrm>
            <a:off x="211138" y="4051728"/>
            <a:ext cx="25146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/>
              <a:t>(3) </a:t>
            </a:r>
            <a:r>
              <a:rPr lang="en-US" altLang="zh-CN" dirty="0">
                <a:solidFill>
                  <a:srgbClr val="9900FF"/>
                </a:solidFill>
              </a:rPr>
              <a:t>d = *++p ;</a:t>
            </a:r>
          </a:p>
        </p:txBody>
      </p:sp>
      <p:sp>
        <p:nvSpPr>
          <p:cNvPr id="526349" name="Text Box 13"/>
          <p:cNvSpPr txBox="1">
            <a:spLocks noChangeArrowheads="1"/>
          </p:cNvSpPr>
          <p:nvPr/>
        </p:nvSpPr>
        <p:spPr bwMode="auto">
          <a:xfrm>
            <a:off x="668338" y="4508928"/>
            <a:ext cx="51054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d = *(++p) ;  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    {  ++p ;  d = *p ;  }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zh-CN" altLang="en-US" dirty="0">
                <a:sym typeface="Wingdings" panose="05000000000000000000" pitchFamily="2" charset="2"/>
              </a:rPr>
              <a:t>执行后 </a:t>
            </a:r>
            <a:r>
              <a:rPr lang="en-US" altLang="zh-CN" dirty="0">
                <a:sym typeface="Wingdings" panose="05000000000000000000" pitchFamily="2" charset="2"/>
              </a:rPr>
              <a:t>d </a:t>
            </a:r>
            <a:r>
              <a:rPr lang="zh-CN" altLang="en-US" dirty="0">
                <a:sym typeface="Wingdings" panose="05000000000000000000" pitchFamily="2" charset="2"/>
              </a:rPr>
              <a:t>的值为 </a:t>
            </a:r>
            <a:r>
              <a:rPr lang="en-US" altLang="zh-CN" dirty="0">
                <a:sym typeface="Wingdings" panose="05000000000000000000" pitchFamily="2" charset="2"/>
              </a:rPr>
              <a:t>3 , *p </a:t>
            </a:r>
            <a:r>
              <a:rPr lang="zh-CN" altLang="en-US" dirty="0">
                <a:sym typeface="Wingdings" panose="05000000000000000000" pitchFamily="2" charset="2"/>
              </a:rPr>
              <a:t>的值为 </a:t>
            </a:r>
            <a:r>
              <a:rPr lang="en-US" altLang="zh-CN" dirty="0">
                <a:sym typeface="Wingdings" panose="05000000000000000000" pitchFamily="2" charset="2"/>
              </a:rPr>
              <a:t>3</a:t>
            </a:r>
          </a:p>
        </p:txBody>
      </p:sp>
      <p:grpSp>
        <p:nvGrpSpPr>
          <p:cNvPr id="526350" name="Group 14"/>
          <p:cNvGrpSpPr>
            <a:grpSpLocks/>
          </p:cNvGrpSpPr>
          <p:nvPr/>
        </p:nvGrpSpPr>
        <p:grpSpPr bwMode="auto">
          <a:xfrm>
            <a:off x="5083175" y="1552575"/>
            <a:ext cx="1065213" cy="990600"/>
            <a:chOff x="3312" y="2160"/>
            <a:chExt cx="671" cy="624"/>
          </a:xfrm>
        </p:grpSpPr>
        <p:sp>
          <p:nvSpPr>
            <p:cNvPr id="10263" name="Rectangle 15"/>
            <p:cNvSpPr>
              <a:spLocks noChangeArrowheads="1"/>
            </p:cNvSpPr>
            <p:nvPr/>
          </p:nvSpPr>
          <p:spPr bwMode="auto">
            <a:xfrm>
              <a:off x="3312" y="2160"/>
              <a:ext cx="671" cy="383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4" name="Text Box 16"/>
            <p:cNvSpPr txBox="1">
              <a:spLocks noChangeArrowheads="1"/>
            </p:cNvSpPr>
            <p:nvPr/>
          </p:nvSpPr>
          <p:spPr bwMode="auto">
            <a:xfrm>
              <a:off x="3552" y="24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</p:grpSp>
      <p:sp>
        <p:nvSpPr>
          <p:cNvPr id="526353" name="Text Box 17"/>
          <p:cNvSpPr txBox="1">
            <a:spLocks noChangeArrowheads="1"/>
          </p:cNvSpPr>
          <p:nvPr/>
        </p:nvSpPr>
        <p:spPr bwMode="auto">
          <a:xfrm>
            <a:off x="5081588" y="1095375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  </a:t>
            </a:r>
            <a:r>
              <a:rPr lang="en-US" altLang="zh-CN"/>
              <a:t>2012</a:t>
            </a:r>
          </a:p>
        </p:txBody>
      </p:sp>
      <p:sp>
        <p:nvSpPr>
          <p:cNvPr id="526354" name="Text Box 18"/>
          <p:cNvSpPr txBox="1">
            <a:spLocks noChangeArrowheads="1"/>
          </p:cNvSpPr>
          <p:nvPr/>
        </p:nvSpPr>
        <p:spPr bwMode="auto">
          <a:xfrm>
            <a:off x="6834188" y="1095375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/>
              <a:t>  </a:t>
            </a:r>
            <a:r>
              <a:rPr lang="en-US" altLang="zh-CN"/>
              <a:t>1010</a:t>
            </a:r>
          </a:p>
        </p:txBody>
      </p:sp>
      <p:sp>
        <p:nvSpPr>
          <p:cNvPr id="526355" name="Text Box 19"/>
          <p:cNvSpPr txBox="1">
            <a:spLocks noChangeArrowheads="1"/>
          </p:cNvSpPr>
          <p:nvPr/>
        </p:nvSpPr>
        <p:spPr bwMode="auto">
          <a:xfrm>
            <a:off x="5233988" y="162877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1010</a:t>
            </a:r>
          </a:p>
        </p:txBody>
      </p:sp>
      <p:sp>
        <p:nvSpPr>
          <p:cNvPr id="526356" name="Line 20"/>
          <p:cNvSpPr>
            <a:spLocks noChangeShapeType="1"/>
          </p:cNvSpPr>
          <p:nvPr/>
        </p:nvSpPr>
        <p:spPr bwMode="auto">
          <a:xfrm>
            <a:off x="6148388" y="185737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26357" name="Text Box 21"/>
          <p:cNvSpPr txBox="1">
            <a:spLocks noChangeArrowheads="1"/>
          </p:cNvSpPr>
          <p:nvPr/>
        </p:nvSpPr>
        <p:spPr bwMode="auto">
          <a:xfrm>
            <a:off x="211138" y="1643493"/>
            <a:ext cx="1752600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/>
              <a:t>(1) </a:t>
            </a:r>
            <a:r>
              <a:rPr lang="en-US" altLang="zh-CN">
                <a:solidFill>
                  <a:srgbClr val="9900FF"/>
                </a:solidFill>
              </a:rPr>
              <a:t>p = &amp;a ;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solidFill>
                  <a:srgbClr val="9900FF"/>
                </a:solidFill>
              </a:rPr>
              <a:t>      (*p)++ ;</a:t>
            </a:r>
          </a:p>
        </p:txBody>
      </p:sp>
      <p:sp>
        <p:nvSpPr>
          <p:cNvPr id="526358" name="Text Box 22"/>
          <p:cNvSpPr txBox="1">
            <a:spLocks noChangeArrowheads="1"/>
          </p:cNvSpPr>
          <p:nvPr/>
        </p:nvSpPr>
        <p:spPr bwMode="auto">
          <a:xfrm>
            <a:off x="2185988" y="1975281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sym typeface="Wingdings" panose="05000000000000000000" pitchFamily="2" charset="2"/>
              </a:rPr>
              <a:t>( 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等价于 </a:t>
            </a:r>
            <a:r>
              <a:rPr lang="en-US" altLang="zh-CN">
                <a:solidFill>
                  <a:srgbClr val="FF0000"/>
                </a:solidFill>
                <a:sym typeface="Wingdings" panose="05000000000000000000" pitchFamily="2" charset="2"/>
              </a:rPr>
              <a:t>a++ ; )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26359" name="Line 23"/>
          <p:cNvSpPr>
            <a:spLocks noChangeShapeType="1"/>
          </p:cNvSpPr>
          <p:nvPr/>
        </p:nvSpPr>
        <p:spPr bwMode="auto">
          <a:xfrm>
            <a:off x="6148388" y="1933575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26360" name="Rectangle 24"/>
          <p:cNvSpPr>
            <a:spLocks noChangeArrowheads="1"/>
          </p:cNvSpPr>
          <p:nvPr/>
        </p:nvSpPr>
        <p:spPr bwMode="auto">
          <a:xfrm>
            <a:off x="5081588" y="1555750"/>
            <a:ext cx="1065212" cy="608013"/>
          </a:xfrm>
          <a:prstGeom prst="rect">
            <a:avLst/>
          </a:prstGeom>
          <a:solidFill>
            <a:srgbClr val="FFFFCC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1014</a:t>
            </a:r>
          </a:p>
        </p:txBody>
      </p:sp>
      <p:sp>
        <p:nvSpPr>
          <p:cNvPr id="526361" name="Text Box 25"/>
          <p:cNvSpPr txBox="1">
            <a:spLocks noChangeArrowheads="1"/>
          </p:cNvSpPr>
          <p:nvPr/>
        </p:nvSpPr>
        <p:spPr bwMode="auto">
          <a:xfrm>
            <a:off x="7215188" y="284797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3</a:t>
            </a:r>
          </a:p>
        </p:txBody>
      </p:sp>
      <p:sp>
        <p:nvSpPr>
          <p:cNvPr id="526362" name="Text Box 26"/>
          <p:cNvSpPr txBox="1">
            <a:spLocks noChangeArrowheads="1"/>
          </p:cNvSpPr>
          <p:nvPr/>
        </p:nvSpPr>
        <p:spPr bwMode="auto">
          <a:xfrm>
            <a:off x="7215188" y="3457575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3</a:t>
            </a:r>
          </a:p>
        </p:txBody>
      </p:sp>
      <p:sp>
        <p:nvSpPr>
          <p:cNvPr id="526364" name="Line 28"/>
          <p:cNvSpPr>
            <a:spLocks noChangeShapeType="1"/>
          </p:cNvSpPr>
          <p:nvPr/>
        </p:nvSpPr>
        <p:spPr bwMode="auto">
          <a:xfrm>
            <a:off x="6148388" y="2009775"/>
            <a:ext cx="685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26366" name="Rectangle 30"/>
          <p:cNvSpPr>
            <a:spLocks noChangeArrowheads="1"/>
          </p:cNvSpPr>
          <p:nvPr/>
        </p:nvSpPr>
        <p:spPr bwMode="auto">
          <a:xfrm>
            <a:off x="5083175" y="1552575"/>
            <a:ext cx="1065213" cy="608013"/>
          </a:xfrm>
          <a:prstGeom prst="rect">
            <a:avLst/>
          </a:prstGeom>
          <a:solidFill>
            <a:srgbClr val="FF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1018</a:t>
            </a:r>
          </a:p>
        </p:txBody>
      </p:sp>
      <p:sp>
        <p:nvSpPr>
          <p:cNvPr id="526367" name="Rectangle 31"/>
          <p:cNvSpPr>
            <a:spLocks noChangeArrowheads="1"/>
          </p:cNvSpPr>
          <p:nvPr/>
        </p:nvSpPr>
        <p:spPr bwMode="auto">
          <a:xfrm>
            <a:off x="6834188" y="1554163"/>
            <a:ext cx="1065212" cy="608012"/>
          </a:xfrm>
          <a:prstGeom prst="rect">
            <a:avLst/>
          </a:prstGeom>
          <a:solidFill>
            <a:srgbClr val="CCFFCC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3</a:t>
            </a:r>
          </a:p>
        </p:txBody>
      </p:sp>
      <p:sp>
        <p:nvSpPr>
          <p:cNvPr id="10262" name="Rectangle 32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6.1.3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指针变量的使用</a:t>
            </a:r>
          </a:p>
        </p:txBody>
      </p:sp>
    </p:spTree>
    <p:extLst>
      <p:ext uri="{BB962C8B-B14F-4D97-AF65-F5344CB8AC3E}">
        <p14:creationId xmlns:p14="http://schemas.microsoft.com/office/powerpoint/2010/main" val="397086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526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2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4" dur="500"/>
                                        <p:tgtEl>
                                          <p:spTgt spid="526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2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46" grpId="0" autoUpdateAnimBg="0"/>
      <p:bldP spid="526347" grpId="0" autoUpdateAnimBg="0"/>
      <p:bldP spid="526348" grpId="0" autoUpdateAnimBg="0"/>
      <p:bldP spid="526349" grpId="0" autoUpdateAnimBg="0"/>
      <p:bldP spid="526353" grpId="0" autoUpdateAnimBg="0"/>
      <p:bldP spid="526354" grpId="0" autoUpdateAnimBg="0"/>
      <p:bldP spid="526355" grpId="0" autoUpdateAnimBg="0"/>
      <p:bldP spid="526357" grpId="0" autoUpdateAnimBg="0"/>
      <p:bldP spid="526358" grpId="0" autoUpdateAnimBg="0"/>
      <p:bldP spid="526360" grpId="0" animBg="1" autoUpdateAnimBg="0"/>
      <p:bldP spid="526361" grpId="0" autoUpdateAnimBg="0"/>
      <p:bldP spid="526362" grpId="0" autoUpdateAnimBg="0"/>
      <p:bldP spid="526366" grpId="0" animBg="1" autoUpdateAnimBg="0"/>
      <p:bldP spid="52636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80975" y="1113718"/>
            <a:ext cx="6019800" cy="5221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cs typeface="Times New Roman" panose="02020603050405020304" pitchFamily="18" charset="0"/>
              </a:rPr>
              <a:t>#include  &lt;</a:t>
            </a:r>
            <a:r>
              <a:rPr lang="en-US" altLang="zh-CN" dirty="0" err="1">
                <a:cs typeface="Times New Roman" panose="02020603050405020304" pitchFamily="18" charset="0"/>
              </a:rPr>
              <a:t>stdio.h</a:t>
            </a:r>
            <a:r>
              <a:rPr lang="en-US" altLang="zh-CN" dirty="0">
                <a:cs typeface="Times New Roman" panose="02020603050405020304" pitchFamily="18" charset="0"/>
              </a:rPr>
              <a:t>&gt;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 err="1">
                <a:cs typeface="Times New Roman" panose="02020603050405020304" pitchFamily="18" charset="0"/>
              </a:rPr>
              <a:t>i</a:t>
            </a:r>
            <a:r>
              <a:rPr lang="en-US" altLang="zh-CN" dirty="0" err="1" smtClean="0">
                <a:cs typeface="Times New Roman" panose="02020603050405020304" pitchFamily="18" charset="0"/>
              </a:rPr>
              <a:t>nt</a:t>
            </a:r>
            <a:r>
              <a:rPr lang="en-US" altLang="zh-CN" dirty="0" smtClean="0"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cs typeface="Times New Roman" panose="02020603050405020304" pitchFamily="18" charset="0"/>
              </a:rPr>
              <a:t>main( )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{  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solidFill>
                  <a:srgbClr val="3333FF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*p1</a:t>
            </a: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*p2</a:t>
            </a: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, t, a , b 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cs typeface="Times New Roman" panose="02020603050405020304" pitchFamily="18" charset="0"/>
              </a:rPr>
              <a:t>scanf</a:t>
            </a:r>
            <a:r>
              <a:rPr lang="en-US" altLang="zh-CN" dirty="0" smtClean="0">
                <a:cs typeface="Times New Roman" panose="02020603050405020304" pitchFamily="18" charset="0"/>
              </a:rPr>
              <a:t>(“%</a:t>
            </a:r>
            <a:r>
              <a:rPr lang="en-US" altLang="zh-CN" dirty="0" err="1" smtClean="0">
                <a:cs typeface="Times New Roman" panose="02020603050405020304" pitchFamily="18" charset="0"/>
              </a:rPr>
              <a:t>d%d</a:t>
            </a:r>
            <a:r>
              <a:rPr lang="en-US" altLang="zh-CN" dirty="0" smtClean="0">
                <a:cs typeface="Times New Roman" panose="02020603050405020304" pitchFamily="18" charset="0"/>
              </a:rPr>
              <a:t>”, </a:t>
            </a:r>
            <a:r>
              <a:rPr lang="en-US" altLang="zh-CN" dirty="0">
                <a:cs typeface="Times New Roman" panose="02020603050405020304" pitchFamily="18" charset="0"/>
              </a:rPr>
              <a:t>&amp;a , &amp;b);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   p1 =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&amp;a</a:t>
            </a: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;   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   p2 =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&amp;b</a:t>
            </a: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   if (a&lt;b)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   {</a:t>
            </a: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    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            </a:t>
            </a:r>
            <a:r>
              <a:rPr lang="en-US" altLang="zh-CN" dirty="0">
                <a:solidFill>
                  <a:srgbClr val="FF3300"/>
                </a:solidFill>
                <a:cs typeface="Times New Roman" panose="02020603050405020304" pitchFamily="18" charset="0"/>
              </a:rPr>
              <a:t>t = *p1 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FF3300"/>
                </a:solidFill>
                <a:cs typeface="Times New Roman" panose="02020603050405020304" pitchFamily="18" charset="0"/>
              </a:rPr>
              <a:t>           *p1 = *p2 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FF3300"/>
                </a:solidFill>
                <a:cs typeface="Times New Roman" panose="02020603050405020304" pitchFamily="18" charset="0"/>
              </a:rPr>
              <a:t>           *p2 = t 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   }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solidFill>
                  <a:srgbClr val="3333FF"/>
                </a:solidFill>
                <a:cs typeface="Times New Roman" panose="02020603050405020304" pitchFamily="18" charset="0"/>
              </a:rPr>
              <a:t>printf</a:t>
            </a:r>
            <a:r>
              <a:rPr lang="en-US" altLang="zh-CN" dirty="0" smtClean="0">
                <a:solidFill>
                  <a:srgbClr val="3333FF"/>
                </a:solidFill>
                <a:cs typeface="Times New Roman" panose="02020603050405020304" pitchFamily="18" charset="0"/>
              </a:rPr>
              <a:t>("*p1=%</a:t>
            </a: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d, </a:t>
            </a:r>
            <a:r>
              <a:rPr lang="en-US" altLang="zh-CN" dirty="0" smtClean="0">
                <a:solidFill>
                  <a:srgbClr val="3333FF"/>
                </a:solidFill>
                <a:cs typeface="Times New Roman" panose="02020603050405020304" pitchFamily="18" charset="0"/>
              </a:rPr>
              <a:t>*p2=%</a:t>
            </a: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d \n",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*p1</a:t>
            </a: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,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*p2</a:t>
            </a: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) 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dirty="0" err="1"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cs typeface="Times New Roman" panose="02020603050405020304" pitchFamily="18" charset="0"/>
              </a:rPr>
              <a:t>("a=%d, b=%d \n", a , b); </a:t>
            </a:r>
            <a:endParaRPr lang="en-US" altLang="zh-CN" dirty="0">
              <a:solidFill>
                <a:srgbClr val="3333FF"/>
              </a:solidFill>
              <a:cs typeface="Times New Roman" panose="02020603050405020304" pitchFamily="18" charset="0"/>
            </a:endParaRP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527363" name="Line 3"/>
          <p:cNvSpPr>
            <a:spLocks noChangeShapeType="1"/>
          </p:cNvSpPr>
          <p:nvPr/>
        </p:nvSpPr>
        <p:spPr bwMode="auto">
          <a:xfrm>
            <a:off x="5862638" y="1393825"/>
            <a:ext cx="12192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7364" name="Line 4"/>
          <p:cNvSpPr>
            <a:spLocks noChangeShapeType="1"/>
          </p:cNvSpPr>
          <p:nvPr/>
        </p:nvSpPr>
        <p:spPr bwMode="auto">
          <a:xfrm>
            <a:off x="5862638" y="2303463"/>
            <a:ext cx="12192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27365" name="Group 5"/>
          <p:cNvGrpSpPr>
            <a:grpSpLocks/>
          </p:cNvGrpSpPr>
          <p:nvPr/>
        </p:nvGrpSpPr>
        <p:grpSpPr bwMode="auto">
          <a:xfrm>
            <a:off x="7081838" y="1160463"/>
            <a:ext cx="1219200" cy="533400"/>
            <a:chOff x="4896" y="288"/>
            <a:chExt cx="768" cy="336"/>
          </a:xfrm>
        </p:grpSpPr>
        <p:sp>
          <p:nvSpPr>
            <p:cNvPr id="11292" name="Rectangle 6"/>
            <p:cNvSpPr>
              <a:spLocks noChangeArrowheads="1"/>
            </p:cNvSpPr>
            <p:nvPr/>
          </p:nvSpPr>
          <p:spPr bwMode="auto">
            <a:xfrm>
              <a:off x="4896" y="288"/>
              <a:ext cx="480" cy="3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1293" name="Text Box 7"/>
            <p:cNvSpPr txBox="1">
              <a:spLocks noChangeArrowheads="1"/>
            </p:cNvSpPr>
            <p:nvPr/>
          </p:nvSpPr>
          <p:spPr bwMode="auto">
            <a:xfrm>
              <a:off x="5376" y="28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27368" name="Group 8"/>
          <p:cNvGrpSpPr>
            <a:grpSpLocks/>
          </p:cNvGrpSpPr>
          <p:nvPr/>
        </p:nvGrpSpPr>
        <p:grpSpPr bwMode="auto">
          <a:xfrm>
            <a:off x="7081838" y="1998663"/>
            <a:ext cx="1219200" cy="533400"/>
            <a:chOff x="4896" y="816"/>
            <a:chExt cx="768" cy="336"/>
          </a:xfrm>
        </p:grpSpPr>
        <p:sp>
          <p:nvSpPr>
            <p:cNvPr id="11290" name="Rectangle 9"/>
            <p:cNvSpPr>
              <a:spLocks noChangeArrowheads="1"/>
            </p:cNvSpPr>
            <p:nvPr/>
          </p:nvSpPr>
          <p:spPr bwMode="auto">
            <a:xfrm>
              <a:off x="4896" y="816"/>
              <a:ext cx="480" cy="3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1291" name="Text Box 10"/>
            <p:cNvSpPr txBox="1">
              <a:spLocks noChangeArrowheads="1"/>
            </p:cNvSpPr>
            <p:nvPr/>
          </p:nvSpPr>
          <p:spPr bwMode="auto">
            <a:xfrm>
              <a:off x="5376" y="8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527371" name="Group 11"/>
          <p:cNvGrpSpPr>
            <a:grpSpLocks/>
          </p:cNvGrpSpPr>
          <p:nvPr/>
        </p:nvGrpSpPr>
        <p:grpSpPr bwMode="auto">
          <a:xfrm>
            <a:off x="4567238" y="1160463"/>
            <a:ext cx="1295400" cy="533400"/>
            <a:chOff x="2976" y="288"/>
            <a:chExt cx="816" cy="336"/>
          </a:xfrm>
        </p:grpSpPr>
        <p:sp>
          <p:nvSpPr>
            <p:cNvPr id="11288" name="Rectangle 12"/>
            <p:cNvSpPr>
              <a:spLocks noChangeArrowheads="1"/>
            </p:cNvSpPr>
            <p:nvPr/>
          </p:nvSpPr>
          <p:spPr bwMode="auto">
            <a:xfrm>
              <a:off x="3312" y="288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1289" name="Text Box 13"/>
            <p:cNvSpPr txBox="1">
              <a:spLocks noChangeArrowheads="1"/>
            </p:cNvSpPr>
            <p:nvPr/>
          </p:nvSpPr>
          <p:spPr bwMode="auto">
            <a:xfrm>
              <a:off x="2976" y="2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>
                  <a:cs typeface="Times New Roman" panose="02020603050405020304" pitchFamily="18" charset="0"/>
                </a:rPr>
                <a:t>p1</a:t>
              </a:r>
            </a:p>
          </p:txBody>
        </p:sp>
      </p:grpSp>
      <p:grpSp>
        <p:nvGrpSpPr>
          <p:cNvPr id="527374" name="Group 14"/>
          <p:cNvGrpSpPr>
            <a:grpSpLocks/>
          </p:cNvGrpSpPr>
          <p:nvPr/>
        </p:nvGrpSpPr>
        <p:grpSpPr bwMode="auto">
          <a:xfrm>
            <a:off x="4567238" y="1998663"/>
            <a:ext cx="1295400" cy="533400"/>
            <a:chOff x="2976" y="816"/>
            <a:chExt cx="816" cy="336"/>
          </a:xfrm>
        </p:grpSpPr>
        <p:sp>
          <p:nvSpPr>
            <p:cNvPr id="11286" name="Rectangle 15"/>
            <p:cNvSpPr>
              <a:spLocks noChangeArrowheads="1"/>
            </p:cNvSpPr>
            <p:nvPr/>
          </p:nvSpPr>
          <p:spPr bwMode="auto">
            <a:xfrm>
              <a:off x="3312" y="816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1287" name="Text Box 16"/>
            <p:cNvSpPr txBox="1">
              <a:spLocks noChangeArrowheads="1"/>
            </p:cNvSpPr>
            <p:nvPr/>
          </p:nvSpPr>
          <p:spPr bwMode="auto">
            <a:xfrm>
              <a:off x="2976" y="81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>
                  <a:cs typeface="Times New Roman" panose="02020603050405020304" pitchFamily="18" charset="0"/>
                </a:rPr>
                <a:t>p2</a:t>
              </a:r>
            </a:p>
          </p:txBody>
        </p:sp>
      </p:grpSp>
      <p:grpSp>
        <p:nvGrpSpPr>
          <p:cNvPr id="527377" name="Group 17"/>
          <p:cNvGrpSpPr>
            <a:grpSpLocks/>
          </p:cNvGrpSpPr>
          <p:nvPr/>
        </p:nvGrpSpPr>
        <p:grpSpPr bwMode="auto">
          <a:xfrm>
            <a:off x="4719638" y="2913063"/>
            <a:ext cx="1143000" cy="533400"/>
            <a:chOff x="3072" y="1392"/>
            <a:chExt cx="720" cy="336"/>
          </a:xfrm>
        </p:grpSpPr>
        <p:sp>
          <p:nvSpPr>
            <p:cNvPr id="11284" name="Rectangle 18"/>
            <p:cNvSpPr>
              <a:spLocks noChangeArrowheads="1"/>
            </p:cNvSpPr>
            <p:nvPr/>
          </p:nvSpPr>
          <p:spPr bwMode="auto">
            <a:xfrm>
              <a:off x="3312" y="1392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1285" name="Text Box 19"/>
            <p:cNvSpPr txBox="1">
              <a:spLocks noChangeArrowheads="1"/>
            </p:cNvSpPr>
            <p:nvPr/>
          </p:nvSpPr>
          <p:spPr bwMode="auto">
            <a:xfrm>
              <a:off x="3072" y="139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>
                  <a:cs typeface="Times New Roman" panose="02020603050405020304" pitchFamily="18" charset="0"/>
                </a:rPr>
                <a:t>t</a:t>
              </a:r>
            </a:p>
          </p:txBody>
        </p:sp>
      </p:grpSp>
      <p:sp>
        <p:nvSpPr>
          <p:cNvPr id="527380" name="Text Box 20"/>
          <p:cNvSpPr txBox="1">
            <a:spLocks noChangeArrowheads="1"/>
          </p:cNvSpPr>
          <p:nvPr/>
        </p:nvSpPr>
        <p:spPr bwMode="auto">
          <a:xfrm>
            <a:off x="5100638" y="2951163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27381" name="Text Box 21"/>
          <p:cNvSpPr txBox="1">
            <a:spLocks noChangeArrowheads="1"/>
          </p:cNvSpPr>
          <p:nvPr/>
        </p:nvSpPr>
        <p:spPr bwMode="auto">
          <a:xfrm>
            <a:off x="5100638" y="1998663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cs typeface="Times New Roman" panose="02020603050405020304" pitchFamily="18" charset="0"/>
              </a:rPr>
              <a:t>&amp;b</a:t>
            </a:r>
          </a:p>
        </p:txBody>
      </p:sp>
      <p:sp>
        <p:nvSpPr>
          <p:cNvPr id="527382" name="Text Box 22"/>
          <p:cNvSpPr txBox="1">
            <a:spLocks noChangeArrowheads="1"/>
          </p:cNvSpPr>
          <p:nvPr/>
        </p:nvSpPr>
        <p:spPr bwMode="auto">
          <a:xfrm>
            <a:off x="5100638" y="1160463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cs typeface="Times New Roman" panose="02020603050405020304" pitchFamily="18" charset="0"/>
              </a:rPr>
              <a:t>&amp;a</a:t>
            </a:r>
          </a:p>
        </p:txBody>
      </p:sp>
      <p:sp>
        <p:nvSpPr>
          <p:cNvPr id="527389" name="Text Box 29"/>
          <p:cNvSpPr txBox="1">
            <a:spLocks noChangeArrowheads="1"/>
          </p:cNvSpPr>
          <p:nvPr/>
        </p:nvSpPr>
        <p:spPr bwMode="auto">
          <a:xfrm>
            <a:off x="7310438" y="1236663"/>
            <a:ext cx="3810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27390" name="Text Box 30"/>
          <p:cNvSpPr txBox="1">
            <a:spLocks noChangeArrowheads="1"/>
          </p:cNvSpPr>
          <p:nvPr/>
        </p:nvSpPr>
        <p:spPr bwMode="auto">
          <a:xfrm>
            <a:off x="7310438" y="2074863"/>
            <a:ext cx="3810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27391" name="Text Box 31"/>
          <p:cNvSpPr txBox="1">
            <a:spLocks noChangeArrowheads="1"/>
          </p:cNvSpPr>
          <p:nvPr/>
        </p:nvSpPr>
        <p:spPr bwMode="auto">
          <a:xfrm>
            <a:off x="6434138" y="3689350"/>
            <a:ext cx="2209800" cy="12461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输出结果</a:t>
            </a:r>
            <a:r>
              <a:rPr lang="en-US" altLang="zh-CN" dirty="0" smtClean="0">
                <a:cs typeface="Times New Roman" panose="02020603050405020304" pitchFamily="18" charset="0"/>
              </a:rPr>
              <a:t>: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 smtClean="0">
                <a:cs typeface="Times New Roman" panose="02020603050405020304" pitchFamily="18" charset="0"/>
              </a:rPr>
              <a:t>*p1=9, *p2=5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 smtClean="0">
                <a:cs typeface="Times New Roman" panose="02020603050405020304" pitchFamily="18" charset="0"/>
              </a:rPr>
              <a:t>a=9, </a:t>
            </a:r>
            <a:r>
              <a:rPr lang="en-US" altLang="zh-CN" dirty="0">
                <a:cs typeface="Times New Roman" panose="02020603050405020304" pitchFamily="18" charset="0"/>
              </a:rPr>
              <a:t>b=5</a:t>
            </a:r>
          </a:p>
        </p:txBody>
      </p:sp>
      <p:sp>
        <p:nvSpPr>
          <p:cNvPr id="11280" name="Rectangle 32"/>
          <p:cNvSpPr>
            <a:spLocks noChangeArrowheads="1"/>
          </p:cNvSpPr>
          <p:nvPr/>
        </p:nvSpPr>
        <p:spPr bwMode="auto">
          <a:xfrm>
            <a:off x="180975" y="115888"/>
            <a:ext cx="68548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6.1.3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指针变量的使用</a:t>
            </a:r>
          </a:p>
        </p:txBody>
      </p:sp>
      <p:sp>
        <p:nvSpPr>
          <p:cNvPr id="527393" name="AutoShape 33"/>
          <p:cNvSpPr>
            <a:spLocks noChangeArrowheads="1"/>
          </p:cNvSpPr>
          <p:nvPr/>
        </p:nvSpPr>
        <p:spPr bwMode="auto">
          <a:xfrm>
            <a:off x="5813425" y="5786254"/>
            <a:ext cx="2830513" cy="457200"/>
          </a:xfrm>
          <a:prstGeom prst="wedgeRectCallout">
            <a:avLst>
              <a:gd name="adj1" fmla="val -86375"/>
              <a:gd name="adj2" fmla="val -49533"/>
            </a:avLst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a, b</a:t>
            </a:r>
            <a:r>
              <a:rPr lang="zh-CN" altLang="en-US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的值已经改变</a:t>
            </a:r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7081838" y="1160463"/>
            <a:ext cx="762000" cy="533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7081838" y="1998663"/>
            <a:ext cx="762000" cy="533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93801" y="554452"/>
            <a:ext cx="7747069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6.2 </a:t>
            </a:r>
            <a:r>
              <a:rPr lang="zh-CN" altLang="en-US" dirty="0"/>
              <a:t>将两个数从大到小输出（使用指针）</a:t>
            </a:r>
          </a:p>
        </p:txBody>
      </p:sp>
    </p:spTree>
    <p:extLst>
      <p:ext uri="{BB962C8B-B14F-4D97-AF65-F5344CB8AC3E}">
        <p14:creationId xmlns:p14="http://schemas.microsoft.com/office/powerpoint/2010/main" val="282488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2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80" grpId="0" autoUpdateAnimBg="0"/>
      <p:bldP spid="527381" grpId="0" autoUpdateAnimBg="0"/>
      <p:bldP spid="527382" grpId="0" autoUpdateAnimBg="0"/>
      <p:bldP spid="527389" grpId="0" autoUpdateAnimBg="0"/>
      <p:bldP spid="527390" grpId="0" autoUpdateAnimBg="0"/>
      <p:bldP spid="527391" grpId="0" animBg="1" autoUpdateAnimBg="0"/>
      <p:bldP spid="527393" grpId="0" animBg="1" autoUpdateAnimBg="0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rrowheads="1"/>
          </p:cNvSpPr>
          <p:nvPr/>
        </p:nvSpPr>
        <p:spPr bwMode="auto">
          <a:xfrm>
            <a:off x="180974" y="1108942"/>
            <a:ext cx="4788189" cy="5221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#include 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void  swap(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x ,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y)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{   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temp;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temp = x ;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x = y;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y = temp;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}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 err="1"/>
              <a:t>int</a:t>
            </a:r>
            <a:r>
              <a:rPr lang="en-US" altLang="zh-CN" dirty="0"/>
              <a:t>  main( )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{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    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 smtClean="0"/>
              <a:t>a </a:t>
            </a:r>
            <a:r>
              <a:rPr lang="en-US" altLang="zh-CN" dirty="0"/>
              <a:t>, b 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 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d%d</a:t>
            </a:r>
            <a:r>
              <a:rPr lang="en-US" altLang="zh-CN" dirty="0"/>
              <a:t>",&amp;a, &amp;b);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if  (a&lt;b)   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</a:t>
            </a:r>
            <a:r>
              <a:rPr lang="en-US" altLang="zh-CN" dirty="0">
                <a:solidFill>
                  <a:srgbClr val="FF0000"/>
                </a:solidFill>
              </a:rPr>
              <a:t>swap(a , b);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</a:t>
            </a:r>
            <a:r>
              <a:rPr lang="en-US" altLang="zh-CN" dirty="0" err="1"/>
              <a:t>printf</a:t>
            </a:r>
            <a:r>
              <a:rPr lang="en-US" altLang="zh-CN" dirty="0"/>
              <a:t>("a=%d, b=%d\n", a, b);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}</a:t>
            </a:r>
          </a:p>
        </p:txBody>
      </p:sp>
      <p:sp>
        <p:nvSpPr>
          <p:cNvPr id="528406" name="Text Box 22"/>
          <p:cNvSpPr txBox="1">
            <a:spLocks noChangeArrowheads="1"/>
          </p:cNvSpPr>
          <p:nvPr/>
        </p:nvSpPr>
        <p:spPr bwMode="auto">
          <a:xfrm>
            <a:off x="4846637" y="1360488"/>
            <a:ext cx="3651319" cy="193899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说明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该程序不能实现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的交换。因为实参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a, b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对形参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x , y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是“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值传递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, x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的变化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不影响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所以输出为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:  a=5, b=9</a:t>
            </a:r>
          </a:p>
        </p:txBody>
      </p:sp>
      <p:sp>
        <p:nvSpPr>
          <p:cNvPr id="12292" name="Rectangle 33"/>
          <p:cNvSpPr>
            <a:spLocks noChangeArrowheads="1"/>
          </p:cNvSpPr>
          <p:nvPr/>
        </p:nvSpPr>
        <p:spPr bwMode="auto">
          <a:xfrm>
            <a:off x="93801" y="554452"/>
            <a:ext cx="7747069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6.3 </a:t>
            </a:r>
            <a:r>
              <a:rPr lang="zh-CN" altLang="en-US" dirty="0" smtClean="0"/>
              <a:t>编写函数，将</a:t>
            </a:r>
            <a:r>
              <a:rPr lang="zh-CN" altLang="en-US" dirty="0"/>
              <a:t>两个数从大到小</a:t>
            </a:r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12293" name="Rectangle 34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6.2.1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指针作为函数参数</a:t>
            </a:r>
          </a:p>
        </p:txBody>
      </p:sp>
      <p:grpSp>
        <p:nvGrpSpPr>
          <p:cNvPr id="528419" name="Group 35"/>
          <p:cNvGrpSpPr>
            <a:grpSpLocks/>
          </p:cNvGrpSpPr>
          <p:nvPr/>
        </p:nvGrpSpPr>
        <p:grpSpPr bwMode="auto">
          <a:xfrm>
            <a:off x="3920115" y="3719913"/>
            <a:ext cx="466725" cy="476250"/>
            <a:chOff x="4130" y="2720"/>
            <a:chExt cx="869" cy="745"/>
          </a:xfrm>
        </p:grpSpPr>
        <p:sp>
          <p:nvSpPr>
            <p:cNvPr id="12295" name="Line 36"/>
            <p:cNvSpPr>
              <a:spLocks noChangeShapeType="1"/>
            </p:cNvSpPr>
            <p:nvPr/>
          </p:nvSpPr>
          <p:spPr bwMode="auto">
            <a:xfrm>
              <a:off x="4130" y="2720"/>
              <a:ext cx="869" cy="7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2296" name="Line 37"/>
            <p:cNvSpPr>
              <a:spLocks noChangeShapeType="1"/>
            </p:cNvSpPr>
            <p:nvPr/>
          </p:nvSpPr>
          <p:spPr bwMode="auto">
            <a:xfrm flipV="1">
              <a:off x="4156" y="2720"/>
              <a:ext cx="843" cy="7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348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406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76213" y="738188"/>
            <a:ext cx="4572000" cy="5542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#include 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void  swap1(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 *p1 , 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 *p2</a:t>
            </a:r>
            <a:r>
              <a:rPr lang="en-US" altLang="zh-CN" dirty="0">
                <a:solidFill>
                  <a:srgbClr val="3333FF"/>
                </a:solidFill>
              </a:rPr>
              <a:t>)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{ 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temp;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FF0000"/>
                </a:solidFill>
              </a:rPr>
              <a:t>     temp = *p1 ;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FF0000"/>
                </a:solidFill>
              </a:rPr>
              <a:t>     *p1 = *p2;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FF0000"/>
                </a:solidFill>
              </a:rPr>
              <a:t>     *p2 = temp;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}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 err="1"/>
              <a:t>int</a:t>
            </a:r>
            <a:r>
              <a:rPr lang="en-US" altLang="zh-CN" dirty="0"/>
              <a:t>  main( )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{  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a, b,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*pt1, *pt2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3333FF"/>
                </a:solidFill>
              </a:rPr>
              <a:t>; 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 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d%d</a:t>
            </a:r>
            <a:r>
              <a:rPr lang="en-US" altLang="zh-CN" dirty="0"/>
              <a:t>",&amp;a , &amp;b);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pt1 = &amp;a ;     pt2 = &amp;b 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if (a&lt;b)</a:t>
            </a:r>
            <a:r>
              <a:rPr lang="en-US" altLang="zh-CN" dirty="0">
                <a:solidFill>
                  <a:srgbClr val="0066FF"/>
                </a:solidFill>
              </a:rPr>
              <a:t>    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66FF"/>
                </a:solidFill>
              </a:rPr>
              <a:t>          </a:t>
            </a:r>
            <a:r>
              <a:rPr lang="en-US" altLang="zh-CN" dirty="0">
                <a:solidFill>
                  <a:srgbClr val="FF3300"/>
                </a:solidFill>
              </a:rPr>
              <a:t>swap1( pt1 , pt2) 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     </a:t>
            </a:r>
            <a:r>
              <a:rPr lang="en-US" altLang="zh-CN" dirty="0" err="1"/>
              <a:t>printf</a:t>
            </a:r>
            <a:r>
              <a:rPr lang="en-US" altLang="zh-CN" dirty="0"/>
              <a:t>("a=%d, b=%d\n", a, b);</a:t>
            </a:r>
          </a:p>
          <a:p>
            <a:pPr algn="l" eaLnBrk="1" hangingPunct="1">
              <a:lnSpc>
                <a:spcPts val="2500"/>
              </a:lnSpc>
              <a:spcBef>
                <a:spcPts val="0"/>
              </a:spcBef>
            </a:pPr>
            <a:r>
              <a:rPr lang="en-US" altLang="zh-CN" dirty="0"/>
              <a:t>}</a:t>
            </a:r>
          </a:p>
        </p:txBody>
      </p:sp>
      <p:grpSp>
        <p:nvGrpSpPr>
          <p:cNvPr id="529411" name="Group 3"/>
          <p:cNvGrpSpPr>
            <a:grpSpLocks/>
          </p:cNvGrpSpPr>
          <p:nvPr/>
        </p:nvGrpSpPr>
        <p:grpSpPr bwMode="auto">
          <a:xfrm>
            <a:off x="4824413" y="1652588"/>
            <a:ext cx="1143000" cy="533400"/>
            <a:chOff x="3456" y="864"/>
            <a:chExt cx="720" cy="336"/>
          </a:xfrm>
        </p:grpSpPr>
        <p:sp>
          <p:nvSpPr>
            <p:cNvPr id="13353" name="Rectangle 4"/>
            <p:cNvSpPr>
              <a:spLocks noChangeArrowheads="1"/>
            </p:cNvSpPr>
            <p:nvPr/>
          </p:nvSpPr>
          <p:spPr bwMode="auto">
            <a:xfrm>
              <a:off x="3696" y="864"/>
              <a:ext cx="480" cy="3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4" name="Text Box 5"/>
            <p:cNvSpPr txBox="1">
              <a:spLocks noChangeArrowheads="1"/>
            </p:cNvSpPr>
            <p:nvPr/>
          </p:nvSpPr>
          <p:spPr bwMode="auto">
            <a:xfrm>
              <a:off x="3456" y="8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</p:grpSp>
      <p:grpSp>
        <p:nvGrpSpPr>
          <p:cNvPr id="529414" name="Group 6"/>
          <p:cNvGrpSpPr>
            <a:grpSpLocks/>
          </p:cNvGrpSpPr>
          <p:nvPr/>
        </p:nvGrpSpPr>
        <p:grpSpPr bwMode="auto">
          <a:xfrm>
            <a:off x="4824413" y="3495675"/>
            <a:ext cx="1143000" cy="533400"/>
            <a:chOff x="3456" y="1968"/>
            <a:chExt cx="720" cy="336"/>
          </a:xfrm>
        </p:grpSpPr>
        <p:sp>
          <p:nvSpPr>
            <p:cNvPr id="13351" name="Rectangle 7"/>
            <p:cNvSpPr>
              <a:spLocks noChangeArrowheads="1"/>
            </p:cNvSpPr>
            <p:nvPr/>
          </p:nvSpPr>
          <p:spPr bwMode="auto">
            <a:xfrm>
              <a:off x="3696" y="1968"/>
              <a:ext cx="480" cy="3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2" name="Text Box 8"/>
            <p:cNvSpPr txBox="1">
              <a:spLocks noChangeArrowheads="1"/>
            </p:cNvSpPr>
            <p:nvPr/>
          </p:nvSpPr>
          <p:spPr bwMode="auto">
            <a:xfrm>
              <a:off x="3456" y="19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</p:grpSp>
      <p:grpSp>
        <p:nvGrpSpPr>
          <p:cNvPr id="529417" name="Group 9"/>
          <p:cNvGrpSpPr>
            <a:grpSpLocks/>
          </p:cNvGrpSpPr>
          <p:nvPr/>
        </p:nvGrpSpPr>
        <p:grpSpPr bwMode="auto">
          <a:xfrm>
            <a:off x="7034213" y="661988"/>
            <a:ext cx="1600200" cy="533400"/>
            <a:chOff x="4992" y="432"/>
            <a:chExt cx="1008" cy="336"/>
          </a:xfrm>
        </p:grpSpPr>
        <p:sp>
          <p:nvSpPr>
            <p:cNvPr id="13349" name="Rectangle 10"/>
            <p:cNvSpPr>
              <a:spLocks noChangeArrowheads="1"/>
            </p:cNvSpPr>
            <p:nvPr/>
          </p:nvSpPr>
          <p:spPr bwMode="auto">
            <a:xfrm>
              <a:off x="4992" y="432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0" name="Text Box 11"/>
            <p:cNvSpPr txBox="1">
              <a:spLocks noChangeArrowheads="1"/>
            </p:cNvSpPr>
            <p:nvPr/>
          </p:nvSpPr>
          <p:spPr bwMode="auto">
            <a:xfrm>
              <a:off x="5520" y="432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p1</a:t>
              </a:r>
            </a:p>
          </p:txBody>
        </p:sp>
      </p:grpSp>
      <p:grpSp>
        <p:nvGrpSpPr>
          <p:cNvPr id="529420" name="Group 12"/>
          <p:cNvGrpSpPr>
            <a:grpSpLocks/>
          </p:cNvGrpSpPr>
          <p:nvPr/>
        </p:nvGrpSpPr>
        <p:grpSpPr bwMode="auto">
          <a:xfrm>
            <a:off x="7034213" y="2505075"/>
            <a:ext cx="1524000" cy="533400"/>
            <a:chOff x="4992" y="1488"/>
            <a:chExt cx="960" cy="336"/>
          </a:xfrm>
        </p:grpSpPr>
        <p:sp>
          <p:nvSpPr>
            <p:cNvPr id="13347" name="Text Box 13"/>
            <p:cNvSpPr txBox="1">
              <a:spLocks noChangeArrowheads="1"/>
            </p:cNvSpPr>
            <p:nvPr/>
          </p:nvSpPr>
          <p:spPr bwMode="auto">
            <a:xfrm>
              <a:off x="5520" y="153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p2</a:t>
              </a:r>
            </a:p>
          </p:txBody>
        </p:sp>
        <p:sp>
          <p:nvSpPr>
            <p:cNvPr id="13348" name="Rectangle 14"/>
            <p:cNvSpPr>
              <a:spLocks noChangeArrowheads="1"/>
            </p:cNvSpPr>
            <p:nvPr/>
          </p:nvSpPr>
          <p:spPr bwMode="auto">
            <a:xfrm>
              <a:off x="4992" y="1488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29423" name="Group 15"/>
          <p:cNvGrpSpPr>
            <a:grpSpLocks/>
          </p:cNvGrpSpPr>
          <p:nvPr/>
        </p:nvGrpSpPr>
        <p:grpSpPr bwMode="auto">
          <a:xfrm>
            <a:off x="7034213" y="3495675"/>
            <a:ext cx="1676400" cy="533400"/>
            <a:chOff x="4704" y="1968"/>
            <a:chExt cx="1056" cy="336"/>
          </a:xfrm>
        </p:grpSpPr>
        <p:sp>
          <p:nvSpPr>
            <p:cNvPr id="13345" name="Rectangle 16"/>
            <p:cNvSpPr>
              <a:spLocks noChangeArrowheads="1"/>
            </p:cNvSpPr>
            <p:nvPr/>
          </p:nvSpPr>
          <p:spPr bwMode="auto">
            <a:xfrm>
              <a:off x="4704" y="1968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</p:txBody>
        </p:sp>
        <p:sp>
          <p:nvSpPr>
            <p:cNvPr id="13346" name="Text Box 17"/>
            <p:cNvSpPr txBox="1">
              <a:spLocks noChangeArrowheads="1"/>
            </p:cNvSpPr>
            <p:nvPr/>
          </p:nvSpPr>
          <p:spPr bwMode="auto">
            <a:xfrm>
              <a:off x="5184" y="2016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temp</a:t>
              </a:r>
            </a:p>
          </p:txBody>
        </p:sp>
      </p:grpSp>
      <p:sp>
        <p:nvSpPr>
          <p:cNvPr id="529426" name="Text Box 18"/>
          <p:cNvSpPr txBox="1">
            <a:spLocks noChangeArrowheads="1"/>
          </p:cNvSpPr>
          <p:nvPr/>
        </p:nvSpPr>
        <p:spPr bwMode="auto">
          <a:xfrm>
            <a:off x="7034213" y="2581275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</a:rPr>
              <a:t>&amp;b</a:t>
            </a:r>
          </a:p>
        </p:txBody>
      </p:sp>
      <p:sp>
        <p:nvSpPr>
          <p:cNvPr id="529427" name="Text Box 19"/>
          <p:cNvSpPr txBox="1">
            <a:spLocks noChangeArrowheads="1"/>
          </p:cNvSpPr>
          <p:nvPr/>
        </p:nvSpPr>
        <p:spPr bwMode="auto">
          <a:xfrm>
            <a:off x="7034213" y="738188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</a:rPr>
              <a:t>&amp;a</a:t>
            </a:r>
          </a:p>
        </p:txBody>
      </p:sp>
      <p:grpSp>
        <p:nvGrpSpPr>
          <p:cNvPr id="529428" name="Group 20"/>
          <p:cNvGrpSpPr>
            <a:grpSpLocks/>
          </p:cNvGrpSpPr>
          <p:nvPr/>
        </p:nvGrpSpPr>
        <p:grpSpPr bwMode="auto">
          <a:xfrm>
            <a:off x="4595813" y="661988"/>
            <a:ext cx="1371600" cy="533400"/>
            <a:chOff x="3312" y="288"/>
            <a:chExt cx="864" cy="336"/>
          </a:xfrm>
        </p:grpSpPr>
        <p:sp>
          <p:nvSpPr>
            <p:cNvPr id="13343" name="Rectangle 21"/>
            <p:cNvSpPr>
              <a:spLocks noChangeArrowheads="1"/>
            </p:cNvSpPr>
            <p:nvPr/>
          </p:nvSpPr>
          <p:spPr bwMode="auto">
            <a:xfrm>
              <a:off x="3696" y="288"/>
              <a:ext cx="480" cy="3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folHlink"/>
                </a:solidFill>
              </a:endParaRPr>
            </a:p>
          </p:txBody>
        </p:sp>
        <p:sp>
          <p:nvSpPr>
            <p:cNvPr id="13344" name="Text Box 22"/>
            <p:cNvSpPr txBox="1">
              <a:spLocks noChangeArrowheads="1"/>
            </p:cNvSpPr>
            <p:nvPr/>
          </p:nvSpPr>
          <p:spPr bwMode="auto">
            <a:xfrm>
              <a:off x="3312" y="33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pt1</a:t>
              </a:r>
            </a:p>
          </p:txBody>
        </p:sp>
      </p:grpSp>
      <p:grpSp>
        <p:nvGrpSpPr>
          <p:cNvPr id="529431" name="Group 23"/>
          <p:cNvGrpSpPr>
            <a:grpSpLocks/>
          </p:cNvGrpSpPr>
          <p:nvPr/>
        </p:nvGrpSpPr>
        <p:grpSpPr bwMode="auto">
          <a:xfrm>
            <a:off x="4595813" y="2505075"/>
            <a:ext cx="1371600" cy="533400"/>
            <a:chOff x="3312" y="1503"/>
            <a:chExt cx="864" cy="336"/>
          </a:xfrm>
        </p:grpSpPr>
        <p:sp>
          <p:nvSpPr>
            <p:cNvPr id="13341" name="Rectangle 24"/>
            <p:cNvSpPr>
              <a:spLocks noChangeArrowheads="1"/>
            </p:cNvSpPr>
            <p:nvPr/>
          </p:nvSpPr>
          <p:spPr bwMode="auto">
            <a:xfrm>
              <a:off x="3696" y="1503"/>
              <a:ext cx="480" cy="3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folHlink"/>
                </a:solidFill>
              </a:endParaRPr>
            </a:p>
          </p:txBody>
        </p:sp>
        <p:sp>
          <p:nvSpPr>
            <p:cNvPr id="13342" name="Text Box 25"/>
            <p:cNvSpPr txBox="1">
              <a:spLocks noChangeArrowheads="1"/>
            </p:cNvSpPr>
            <p:nvPr/>
          </p:nvSpPr>
          <p:spPr bwMode="auto">
            <a:xfrm>
              <a:off x="3312" y="1503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pt2</a:t>
              </a:r>
            </a:p>
          </p:txBody>
        </p:sp>
      </p:grpSp>
      <p:sp>
        <p:nvSpPr>
          <p:cNvPr id="529434" name="Line 26"/>
          <p:cNvSpPr>
            <a:spLocks noChangeShapeType="1"/>
          </p:cNvSpPr>
          <p:nvPr/>
        </p:nvSpPr>
        <p:spPr bwMode="auto">
          <a:xfrm>
            <a:off x="5586413" y="1219200"/>
            <a:ext cx="0" cy="4572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35" name="Line 27"/>
          <p:cNvSpPr>
            <a:spLocks noChangeShapeType="1"/>
          </p:cNvSpPr>
          <p:nvPr/>
        </p:nvSpPr>
        <p:spPr bwMode="auto">
          <a:xfrm>
            <a:off x="5586413" y="3038475"/>
            <a:ext cx="0" cy="4572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36" name="Line 28"/>
          <p:cNvSpPr>
            <a:spLocks noChangeShapeType="1"/>
          </p:cNvSpPr>
          <p:nvPr/>
        </p:nvSpPr>
        <p:spPr bwMode="auto">
          <a:xfrm>
            <a:off x="5967413" y="890588"/>
            <a:ext cx="10668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37" name="Line 29"/>
          <p:cNvSpPr>
            <a:spLocks noChangeShapeType="1"/>
          </p:cNvSpPr>
          <p:nvPr/>
        </p:nvSpPr>
        <p:spPr bwMode="auto">
          <a:xfrm>
            <a:off x="5967413" y="2733675"/>
            <a:ext cx="10668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38" name="Line 30"/>
          <p:cNvSpPr>
            <a:spLocks noChangeShapeType="1"/>
          </p:cNvSpPr>
          <p:nvPr/>
        </p:nvSpPr>
        <p:spPr bwMode="auto">
          <a:xfrm flipH="1">
            <a:off x="5967413" y="1042988"/>
            <a:ext cx="1066800" cy="914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39" name="Line 31"/>
          <p:cNvSpPr>
            <a:spLocks noChangeShapeType="1"/>
          </p:cNvSpPr>
          <p:nvPr/>
        </p:nvSpPr>
        <p:spPr bwMode="auto">
          <a:xfrm flipH="1">
            <a:off x="5967413" y="2886075"/>
            <a:ext cx="1066800" cy="914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9440" name="Text Box 32"/>
          <p:cNvSpPr txBox="1">
            <a:spLocks noChangeArrowheads="1"/>
          </p:cNvSpPr>
          <p:nvPr/>
        </p:nvSpPr>
        <p:spPr bwMode="auto">
          <a:xfrm>
            <a:off x="7034213" y="3571875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5</a:t>
            </a:r>
          </a:p>
        </p:txBody>
      </p:sp>
      <p:sp>
        <p:nvSpPr>
          <p:cNvPr id="529441" name="Text Box 33"/>
          <p:cNvSpPr txBox="1">
            <a:spLocks noChangeArrowheads="1"/>
          </p:cNvSpPr>
          <p:nvPr/>
        </p:nvSpPr>
        <p:spPr bwMode="auto">
          <a:xfrm>
            <a:off x="4989513" y="4268788"/>
            <a:ext cx="3403600" cy="193899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说明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这种方法是交换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p1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p2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所指向的变量的值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即交换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main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函数中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的值所以输出为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: a=9, b=5</a:t>
            </a:r>
          </a:p>
        </p:txBody>
      </p:sp>
      <p:sp>
        <p:nvSpPr>
          <p:cNvPr id="529442" name="Text Box 34"/>
          <p:cNvSpPr txBox="1">
            <a:spLocks noChangeArrowheads="1"/>
          </p:cNvSpPr>
          <p:nvPr/>
        </p:nvSpPr>
        <p:spPr bwMode="auto">
          <a:xfrm>
            <a:off x="5205413" y="214313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main</a:t>
            </a:r>
          </a:p>
        </p:txBody>
      </p:sp>
      <p:sp>
        <p:nvSpPr>
          <p:cNvPr id="529443" name="Text Box 35"/>
          <p:cNvSpPr txBox="1">
            <a:spLocks noChangeArrowheads="1"/>
          </p:cNvSpPr>
          <p:nvPr/>
        </p:nvSpPr>
        <p:spPr bwMode="auto">
          <a:xfrm>
            <a:off x="6958013" y="2286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swap1</a:t>
            </a:r>
          </a:p>
        </p:txBody>
      </p:sp>
      <p:sp>
        <p:nvSpPr>
          <p:cNvPr id="529444" name="Text Box 36"/>
          <p:cNvSpPr txBox="1">
            <a:spLocks noChangeArrowheads="1"/>
          </p:cNvSpPr>
          <p:nvPr/>
        </p:nvSpPr>
        <p:spPr bwMode="auto">
          <a:xfrm>
            <a:off x="5205413" y="1728788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5</a:t>
            </a:r>
          </a:p>
        </p:txBody>
      </p:sp>
      <p:sp>
        <p:nvSpPr>
          <p:cNvPr id="529445" name="Text Box 37"/>
          <p:cNvSpPr txBox="1">
            <a:spLocks noChangeArrowheads="1"/>
          </p:cNvSpPr>
          <p:nvPr/>
        </p:nvSpPr>
        <p:spPr bwMode="auto">
          <a:xfrm>
            <a:off x="5205413" y="3571875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9</a:t>
            </a:r>
          </a:p>
        </p:txBody>
      </p:sp>
      <p:sp>
        <p:nvSpPr>
          <p:cNvPr id="529446" name="Text Box 38"/>
          <p:cNvSpPr txBox="1">
            <a:spLocks noChangeArrowheads="1"/>
          </p:cNvSpPr>
          <p:nvPr/>
        </p:nvSpPr>
        <p:spPr bwMode="auto">
          <a:xfrm>
            <a:off x="5205413" y="738188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&amp;a</a:t>
            </a:r>
          </a:p>
        </p:txBody>
      </p:sp>
      <p:sp>
        <p:nvSpPr>
          <p:cNvPr id="529447" name="Text Box 39"/>
          <p:cNvSpPr txBox="1">
            <a:spLocks noChangeArrowheads="1"/>
          </p:cNvSpPr>
          <p:nvPr/>
        </p:nvSpPr>
        <p:spPr bwMode="auto">
          <a:xfrm>
            <a:off x="5205413" y="2581275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&amp;b</a:t>
            </a:r>
          </a:p>
        </p:txBody>
      </p:sp>
      <p:sp>
        <p:nvSpPr>
          <p:cNvPr id="529448" name="Rectangle 40"/>
          <p:cNvSpPr>
            <a:spLocks noChangeArrowheads="1"/>
          </p:cNvSpPr>
          <p:nvPr/>
        </p:nvSpPr>
        <p:spPr bwMode="auto">
          <a:xfrm>
            <a:off x="5205413" y="1652588"/>
            <a:ext cx="762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9</a:t>
            </a:r>
          </a:p>
        </p:txBody>
      </p:sp>
      <p:sp>
        <p:nvSpPr>
          <p:cNvPr id="529449" name="Rectangle 41"/>
          <p:cNvSpPr>
            <a:spLocks noChangeArrowheads="1"/>
          </p:cNvSpPr>
          <p:nvPr/>
        </p:nvSpPr>
        <p:spPr bwMode="auto">
          <a:xfrm>
            <a:off x="5205413" y="3495675"/>
            <a:ext cx="762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5</a:t>
            </a:r>
          </a:p>
        </p:txBody>
      </p:sp>
      <p:sp>
        <p:nvSpPr>
          <p:cNvPr id="13340" name="Rectangle 47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6.2.1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指针作为函数参数</a:t>
            </a:r>
          </a:p>
        </p:txBody>
      </p:sp>
    </p:spTree>
    <p:extLst>
      <p:ext uri="{BB962C8B-B14F-4D97-AF65-F5344CB8AC3E}">
        <p14:creationId xmlns:p14="http://schemas.microsoft.com/office/powerpoint/2010/main" val="389085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2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2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94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2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294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2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2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2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0" dur="500"/>
                                        <p:tgtEl>
                                          <p:spTgt spid="529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529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529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9" dur="500"/>
                                        <p:tgtEl>
                                          <p:spTgt spid="529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2" dur="500"/>
                                        <p:tgtEl>
                                          <p:spTgt spid="529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5" dur="500"/>
                                        <p:tgtEl>
                                          <p:spTgt spid="529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8" dur="500"/>
                                        <p:tgtEl>
                                          <p:spTgt spid="529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1" dur="500"/>
                                        <p:tgtEl>
                                          <p:spTgt spid="529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4" dur="500"/>
                                        <p:tgtEl>
                                          <p:spTgt spid="529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7" dur="500"/>
                                        <p:tgtEl>
                                          <p:spTgt spid="529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0" dur="500"/>
                                        <p:tgtEl>
                                          <p:spTgt spid="529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26" grpId="0" autoUpdateAnimBg="0"/>
      <p:bldP spid="529426" grpId="1"/>
      <p:bldP spid="529427" grpId="0" autoUpdateAnimBg="0"/>
      <p:bldP spid="529427" grpId="1"/>
      <p:bldP spid="529440" grpId="0" autoUpdateAnimBg="0"/>
      <p:bldP spid="529440" grpId="1"/>
      <p:bldP spid="529441" grpId="0" animBg="1" autoUpdateAnimBg="0"/>
      <p:bldP spid="529442" grpId="0" autoUpdateAnimBg="0"/>
      <p:bldP spid="529443" grpId="0" autoUpdateAnimBg="0"/>
      <p:bldP spid="529443" grpId="1"/>
      <p:bldP spid="529444" grpId="0" autoUpdateAnimBg="0"/>
      <p:bldP spid="529445" grpId="0" autoUpdateAnimBg="0"/>
      <p:bldP spid="529446" grpId="0" autoUpdateAnimBg="0"/>
      <p:bldP spid="529447" grpId="0" autoUpdateAnimBg="0"/>
      <p:bldP spid="529448" grpId="0" animBg="1" autoUpdateAnimBg="0"/>
      <p:bldP spid="529449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40111" y="860604"/>
            <a:ext cx="464820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void  swap2(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*p1,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*p2)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{ 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*temp</a:t>
            </a:r>
            <a:r>
              <a:rPr lang="en-US" altLang="zh-CN" dirty="0">
                <a:solidFill>
                  <a:srgbClr val="0066FF"/>
                </a:solidFill>
              </a:rPr>
              <a:t>;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     *temp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3333FF"/>
                </a:solidFill>
              </a:rPr>
              <a:t>= *p1 ; 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*p1 = *p2;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*p2 =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*temp</a:t>
            </a:r>
            <a:r>
              <a:rPr lang="en-US" altLang="zh-CN" dirty="0">
                <a:solidFill>
                  <a:srgbClr val="0066FF"/>
                </a:solidFill>
              </a:rPr>
              <a:t>;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}</a:t>
            </a:r>
          </a:p>
        </p:txBody>
      </p:sp>
      <p:sp>
        <p:nvSpPr>
          <p:cNvPr id="530435" name="Text Box 3"/>
          <p:cNvSpPr txBox="1">
            <a:spLocks noChangeArrowheads="1"/>
          </p:cNvSpPr>
          <p:nvPr/>
        </p:nvSpPr>
        <p:spPr bwMode="auto">
          <a:xfrm>
            <a:off x="250825" y="3587750"/>
            <a:ext cx="4440238" cy="2419124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说明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这种方法可能会破坏系统的正常工作状态，因为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temp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是一个指针变量但是</a:t>
            </a:r>
            <a:r>
              <a:rPr lang="zh-CN" altLang="en-US" dirty="0">
                <a:solidFill>
                  <a:srgbClr val="FF33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在函数中并没有给</a:t>
            </a:r>
            <a:r>
              <a:rPr lang="en-US" altLang="zh-CN" dirty="0">
                <a:solidFill>
                  <a:srgbClr val="FF33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temp</a:t>
            </a:r>
            <a:r>
              <a:rPr lang="zh-CN" altLang="en-US" dirty="0">
                <a:solidFill>
                  <a:srgbClr val="FF33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一个确定的地址，这样它所指向的内存单元是不可预见的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，而对*</a:t>
            </a:r>
            <a:r>
              <a:rPr lang="en-US" altLang="zh-CN" dirty="0">
                <a:ea typeface="楷体" panose="02010609060101010101" pitchFamily="49" charset="-122"/>
                <a:cs typeface="Times New Roman" panose="02020603050405020304" pitchFamily="18" charset="0"/>
              </a:rPr>
              <a:t>temp</a:t>
            </a:r>
            <a:r>
              <a:rPr lang="zh-CN" altLang="en-US" dirty="0">
                <a:ea typeface="楷体" panose="02010609060101010101" pitchFamily="49" charset="-122"/>
                <a:cs typeface="Times New Roman" panose="02020603050405020304" pitchFamily="18" charset="0"/>
              </a:rPr>
              <a:t>的赋值可能带来危害</a:t>
            </a:r>
          </a:p>
        </p:txBody>
      </p:sp>
      <p:grpSp>
        <p:nvGrpSpPr>
          <p:cNvPr id="530436" name="Group 4"/>
          <p:cNvGrpSpPr>
            <a:grpSpLocks/>
          </p:cNvGrpSpPr>
          <p:nvPr/>
        </p:nvGrpSpPr>
        <p:grpSpPr bwMode="auto">
          <a:xfrm>
            <a:off x="4538663" y="692150"/>
            <a:ext cx="1371600" cy="3352800"/>
            <a:chOff x="3168" y="384"/>
            <a:chExt cx="864" cy="2112"/>
          </a:xfrm>
        </p:grpSpPr>
        <p:grpSp>
          <p:nvGrpSpPr>
            <p:cNvPr id="14375" name="Group 5"/>
            <p:cNvGrpSpPr>
              <a:grpSpLocks/>
            </p:cNvGrpSpPr>
            <p:nvPr/>
          </p:nvGrpSpPr>
          <p:grpSpPr bwMode="auto">
            <a:xfrm>
              <a:off x="3312" y="1008"/>
              <a:ext cx="720" cy="336"/>
              <a:chOff x="3456" y="864"/>
              <a:chExt cx="720" cy="336"/>
            </a:xfrm>
          </p:grpSpPr>
          <p:sp>
            <p:nvSpPr>
              <p:cNvPr id="14385" name="Rectangle 6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480" cy="336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6" name="Text Box 7"/>
              <p:cNvSpPr txBox="1">
                <a:spLocks noChangeArrowheads="1"/>
              </p:cNvSpPr>
              <p:nvPr/>
            </p:nvSpPr>
            <p:spPr bwMode="auto">
              <a:xfrm>
                <a:off x="3456" y="864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/>
                  <a:t>a</a:t>
                </a:r>
              </a:p>
            </p:txBody>
          </p:sp>
        </p:grpSp>
        <p:grpSp>
          <p:nvGrpSpPr>
            <p:cNvPr id="14376" name="Group 8"/>
            <p:cNvGrpSpPr>
              <a:grpSpLocks/>
            </p:cNvGrpSpPr>
            <p:nvPr/>
          </p:nvGrpSpPr>
          <p:grpSpPr bwMode="auto">
            <a:xfrm>
              <a:off x="3312" y="2160"/>
              <a:ext cx="720" cy="336"/>
              <a:chOff x="3456" y="1968"/>
              <a:chExt cx="720" cy="336"/>
            </a:xfrm>
          </p:grpSpPr>
          <p:sp>
            <p:nvSpPr>
              <p:cNvPr id="14383" name="Rectangle 9"/>
              <p:cNvSpPr>
                <a:spLocks noChangeArrowheads="1"/>
              </p:cNvSpPr>
              <p:nvPr/>
            </p:nvSpPr>
            <p:spPr bwMode="auto">
              <a:xfrm>
                <a:off x="3696" y="1968"/>
                <a:ext cx="480" cy="336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4" name="Text Box 10"/>
              <p:cNvSpPr txBox="1">
                <a:spLocks noChangeArrowheads="1"/>
              </p:cNvSpPr>
              <p:nvPr/>
            </p:nvSpPr>
            <p:spPr bwMode="auto">
              <a:xfrm>
                <a:off x="3456" y="196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/>
                  <a:t>b</a:t>
                </a:r>
              </a:p>
            </p:txBody>
          </p:sp>
        </p:grpSp>
        <p:grpSp>
          <p:nvGrpSpPr>
            <p:cNvPr id="14377" name="Group 11"/>
            <p:cNvGrpSpPr>
              <a:grpSpLocks/>
            </p:cNvGrpSpPr>
            <p:nvPr/>
          </p:nvGrpSpPr>
          <p:grpSpPr bwMode="auto">
            <a:xfrm>
              <a:off x="3168" y="384"/>
              <a:ext cx="864" cy="336"/>
              <a:chOff x="3312" y="288"/>
              <a:chExt cx="864" cy="336"/>
            </a:xfrm>
          </p:grpSpPr>
          <p:sp>
            <p:nvSpPr>
              <p:cNvPr id="14381" name="Rectangle 12"/>
              <p:cNvSpPr>
                <a:spLocks noChangeArrowheads="1"/>
              </p:cNvSpPr>
              <p:nvPr/>
            </p:nvSpPr>
            <p:spPr bwMode="auto">
              <a:xfrm>
                <a:off x="3696" y="288"/>
                <a:ext cx="480" cy="336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4382" name="Text Box 13"/>
              <p:cNvSpPr txBox="1">
                <a:spLocks noChangeArrowheads="1"/>
              </p:cNvSpPr>
              <p:nvPr/>
            </p:nvSpPr>
            <p:spPr bwMode="auto">
              <a:xfrm>
                <a:off x="3312" y="33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/>
                  <a:t>pt1</a:t>
                </a:r>
              </a:p>
            </p:txBody>
          </p:sp>
        </p:grpSp>
        <p:grpSp>
          <p:nvGrpSpPr>
            <p:cNvPr id="14378" name="Group 14"/>
            <p:cNvGrpSpPr>
              <a:grpSpLocks/>
            </p:cNvGrpSpPr>
            <p:nvPr/>
          </p:nvGrpSpPr>
          <p:grpSpPr bwMode="auto">
            <a:xfrm>
              <a:off x="3168" y="1536"/>
              <a:ext cx="864" cy="336"/>
              <a:chOff x="3312" y="1503"/>
              <a:chExt cx="864" cy="336"/>
            </a:xfrm>
          </p:grpSpPr>
          <p:sp>
            <p:nvSpPr>
              <p:cNvPr id="14379" name="Rectangle 15"/>
              <p:cNvSpPr>
                <a:spLocks noChangeArrowheads="1"/>
              </p:cNvSpPr>
              <p:nvPr/>
            </p:nvSpPr>
            <p:spPr bwMode="auto">
              <a:xfrm>
                <a:off x="3696" y="1503"/>
                <a:ext cx="480" cy="336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4380" name="Text Box 16"/>
              <p:cNvSpPr txBox="1">
                <a:spLocks noChangeArrowheads="1"/>
              </p:cNvSpPr>
              <p:nvPr/>
            </p:nvSpPr>
            <p:spPr bwMode="auto">
              <a:xfrm>
                <a:off x="3312" y="1503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/>
                  <a:t>pt2</a:t>
                </a:r>
              </a:p>
            </p:txBody>
          </p:sp>
        </p:grpSp>
      </p:grpSp>
      <p:sp>
        <p:nvSpPr>
          <p:cNvPr id="530449" name="Text Box 17"/>
          <p:cNvSpPr txBox="1">
            <a:spLocks noChangeArrowheads="1"/>
          </p:cNvSpPr>
          <p:nvPr/>
        </p:nvSpPr>
        <p:spPr bwMode="auto">
          <a:xfrm>
            <a:off x="5148263" y="15875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main</a:t>
            </a:r>
          </a:p>
        </p:txBody>
      </p:sp>
      <p:sp>
        <p:nvSpPr>
          <p:cNvPr id="530450" name="Text Box 18"/>
          <p:cNvSpPr txBox="1">
            <a:spLocks noChangeArrowheads="1"/>
          </p:cNvSpPr>
          <p:nvPr/>
        </p:nvSpPr>
        <p:spPr bwMode="auto">
          <a:xfrm>
            <a:off x="5148263" y="76835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&amp;a</a:t>
            </a:r>
          </a:p>
        </p:txBody>
      </p:sp>
      <p:sp>
        <p:nvSpPr>
          <p:cNvPr id="530451" name="Text Box 19"/>
          <p:cNvSpPr txBox="1">
            <a:spLocks noChangeArrowheads="1"/>
          </p:cNvSpPr>
          <p:nvPr/>
        </p:nvSpPr>
        <p:spPr bwMode="auto">
          <a:xfrm>
            <a:off x="5148263" y="259715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&amp;b</a:t>
            </a:r>
          </a:p>
        </p:txBody>
      </p:sp>
      <p:grpSp>
        <p:nvGrpSpPr>
          <p:cNvPr id="530452" name="Group 20"/>
          <p:cNvGrpSpPr>
            <a:grpSpLocks/>
          </p:cNvGrpSpPr>
          <p:nvPr/>
        </p:nvGrpSpPr>
        <p:grpSpPr bwMode="auto">
          <a:xfrm>
            <a:off x="6977063" y="692150"/>
            <a:ext cx="1600200" cy="533400"/>
            <a:chOff x="4992" y="432"/>
            <a:chExt cx="1008" cy="336"/>
          </a:xfrm>
        </p:grpSpPr>
        <p:sp>
          <p:nvSpPr>
            <p:cNvPr id="14373" name="Rectangle 21"/>
            <p:cNvSpPr>
              <a:spLocks noChangeArrowheads="1"/>
            </p:cNvSpPr>
            <p:nvPr/>
          </p:nvSpPr>
          <p:spPr bwMode="auto">
            <a:xfrm>
              <a:off x="4992" y="432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74" name="Text Box 22"/>
            <p:cNvSpPr txBox="1">
              <a:spLocks noChangeArrowheads="1"/>
            </p:cNvSpPr>
            <p:nvPr/>
          </p:nvSpPr>
          <p:spPr bwMode="auto">
            <a:xfrm>
              <a:off x="5520" y="432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p1</a:t>
              </a:r>
            </a:p>
          </p:txBody>
        </p:sp>
      </p:grpSp>
      <p:grpSp>
        <p:nvGrpSpPr>
          <p:cNvPr id="530455" name="Group 23"/>
          <p:cNvGrpSpPr>
            <a:grpSpLocks/>
          </p:cNvGrpSpPr>
          <p:nvPr/>
        </p:nvGrpSpPr>
        <p:grpSpPr bwMode="auto">
          <a:xfrm>
            <a:off x="6977063" y="2520950"/>
            <a:ext cx="1524000" cy="533400"/>
            <a:chOff x="4992" y="1488"/>
            <a:chExt cx="960" cy="336"/>
          </a:xfrm>
        </p:grpSpPr>
        <p:sp>
          <p:nvSpPr>
            <p:cNvPr id="14371" name="Text Box 24"/>
            <p:cNvSpPr txBox="1">
              <a:spLocks noChangeArrowheads="1"/>
            </p:cNvSpPr>
            <p:nvPr/>
          </p:nvSpPr>
          <p:spPr bwMode="auto">
            <a:xfrm>
              <a:off x="5520" y="153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p2</a:t>
              </a:r>
            </a:p>
          </p:txBody>
        </p:sp>
        <p:sp>
          <p:nvSpPr>
            <p:cNvPr id="14372" name="Rectangle 25"/>
            <p:cNvSpPr>
              <a:spLocks noChangeArrowheads="1"/>
            </p:cNvSpPr>
            <p:nvPr/>
          </p:nvSpPr>
          <p:spPr bwMode="auto">
            <a:xfrm>
              <a:off x="4992" y="1488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30458" name="Group 26"/>
          <p:cNvGrpSpPr>
            <a:grpSpLocks/>
          </p:cNvGrpSpPr>
          <p:nvPr/>
        </p:nvGrpSpPr>
        <p:grpSpPr bwMode="auto">
          <a:xfrm>
            <a:off x="6900863" y="3511550"/>
            <a:ext cx="1752600" cy="533400"/>
            <a:chOff x="4656" y="2160"/>
            <a:chExt cx="1104" cy="336"/>
          </a:xfrm>
        </p:grpSpPr>
        <p:sp>
          <p:nvSpPr>
            <p:cNvPr id="14369" name="Rectangle 27"/>
            <p:cNvSpPr>
              <a:spLocks noChangeArrowheads="1"/>
            </p:cNvSpPr>
            <p:nvPr/>
          </p:nvSpPr>
          <p:spPr bwMode="auto">
            <a:xfrm>
              <a:off x="4656" y="2160"/>
              <a:ext cx="55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  <a:p>
              <a:pPr eaLnBrk="1" hangingPunct="1"/>
              <a:endParaRPr lang="zh-CN" altLang="en-US"/>
            </a:p>
          </p:txBody>
        </p:sp>
        <p:sp>
          <p:nvSpPr>
            <p:cNvPr id="14370" name="Text Box 28"/>
            <p:cNvSpPr txBox="1">
              <a:spLocks noChangeArrowheads="1"/>
            </p:cNvSpPr>
            <p:nvPr/>
          </p:nvSpPr>
          <p:spPr bwMode="auto">
            <a:xfrm>
              <a:off x="5158" y="2208"/>
              <a:ext cx="6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temp</a:t>
              </a:r>
            </a:p>
          </p:txBody>
        </p:sp>
      </p:grpSp>
      <p:sp>
        <p:nvSpPr>
          <p:cNvPr id="530461" name="Text Box 29"/>
          <p:cNvSpPr txBox="1">
            <a:spLocks noChangeArrowheads="1"/>
          </p:cNvSpPr>
          <p:nvPr/>
        </p:nvSpPr>
        <p:spPr bwMode="auto">
          <a:xfrm>
            <a:off x="6977063" y="259715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</a:rPr>
              <a:t>&amp;b</a:t>
            </a:r>
          </a:p>
        </p:txBody>
      </p:sp>
      <p:sp>
        <p:nvSpPr>
          <p:cNvPr id="530462" name="Text Box 30"/>
          <p:cNvSpPr txBox="1">
            <a:spLocks noChangeArrowheads="1"/>
          </p:cNvSpPr>
          <p:nvPr/>
        </p:nvSpPr>
        <p:spPr bwMode="auto">
          <a:xfrm>
            <a:off x="6977063" y="76835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</a:rPr>
              <a:t>&amp;a</a:t>
            </a:r>
          </a:p>
        </p:txBody>
      </p:sp>
      <p:sp>
        <p:nvSpPr>
          <p:cNvPr id="530463" name="Text Box 31"/>
          <p:cNvSpPr txBox="1">
            <a:spLocks noChangeArrowheads="1"/>
          </p:cNvSpPr>
          <p:nvPr/>
        </p:nvSpPr>
        <p:spPr bwMode="auto">
          <a:xfrm>
            <a:off x="6900863" y="15875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swap2</a:t>
            </a:r>
          </a:p>
        </p:txBody>
      </p:sp>
      <p:sp>
        <p:nvSpPr>
          <p:cNvPr id="530464" name="Line 32"/>
          <p:cNvSpPr>
            <a:spLocks noChangeShapeType="1"/>
          </p:cNvSpPr>
          <p:nvPr/>
        </p:nvSpPr>
        <p:spPr bwMode="auto">
          <a:xfrm>
            <a:off x="5529263" y="1249363"/>
            <a:ext cx="0" cy="4572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0465" name="Line 33"/>
          <p:cNvSpPr>
            <a:spLocks noChangeShapeType="1"/>
          </p:cNvSpPr>
          <p:nvPr/>
        </p:nvSpPr>
        <p:spPr bwMode="auto">
          <a:xfrm>
            <a:off x="5529263" y="3054350"/>
            <a:ext cx="0" cy="4572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0466" name="Line 34"/>
          <p:cNvSpPr>
            <a:spLocks noChangeShapeType="1"/>
          </p:cNvSpPr>
          <p:nvPr/>
        </p:nvSpPr>
        <p:spPr bwMode="auto">
          <a:xfrm>
            <a:off x="5910263" y="920750"/>
            <a:ext cx="10668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0467" name="Line 35"/>
          <p:cNvSpPr>
            <a:spLocks noChangeShapeType="1"/>
          </p:cNvSpPr>
          <p:nvPr/>
        </p:nvSpPr>
        <p:spPr bwMode="auto">
          <a:xfrm>
            <a:off x="5910263" y="2749550"/>
            <a:ext cx="10668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0468" name="Line 36"/>
          <p:cNvSpPr>
            <a:spLocks noChangeShapeType="1"/>
          </p:cNvSpPr>
          <p:nvPr/>
        </p:nvSpPr>
        <p:spPr bwMode="auto">
          <a:xfrm flipH="1">
            <a:off x="5910263" y="1073150"/>
            <a:ext cx="1066800" cy="914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0469" name="Line 37"/>
          <p:cNvSpPr>
            <a:spLocks noChangeShapeType="1"/>
          </p:cNvSpPr>
          <p:nvPr/>
        </p:nvSpPr>
        <p:spPr bwMode="auto">
          <a:xfrm flipH="1">
            <a:off x="5910263" y="2901950"/>
            <a:ext cx="1066800" cy="914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0470" name="Rectangle 38"/>
          <p:cNvSpPr>
            <a:spLocks noChangeArrowheads="1"/>
          </p:cNvSpPr>
          <p:nvPr/>
        </p:nvSpPr>
        <p:spPr bwMode="auto">
          <a:xfrm>
            <a:off x="6977063" y="4425950"/>
            <a:ext cx="762000" cy="5334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0471" name="Text Box 39"/>
          <p:cNvSpPr txBox="1">
            <a:spLocks noChangeArrowheads="1"/>
          </p:cNvSpPr>
          <p:nvPr/>
        </p:nvSpPr>
        <p:spPr bwMode="auto">
          <a:xfrm>
            <a:off x="7739063" y="4502150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?</a:t>
            </a:r>
          </a:p>
        </p:txBody>
      </p:sp>
      <p:sp>
        <p:nvSpPr>
          <p:cNvPr id="530472" name="Text Box 40"/>
          <p:cNvSpPr txBox="1">
            <a:spLocks noChangeArrowheads="1"/>
          </p:cNvSpPr>
          <p:nvPr/>
        </p:nvSpPr>
        <p:spPr bwMode="auto">
          <a:xfrm>
            <a:off x="6900863" y="358775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1800"/>
              <a:t>随机值</a:t>
            </a:r>
          </a:p>
        </p:txBody>
      </p:sp>
      <p:sp>
        <p:nvSpPr>
          <p:cNvPr id="530473" name="Text Box 41"/>
          <p:cNvSpPr txBox="1">
            <a:spLocks noChangeArrowheads="1"/>
          </p:cNvSpPr>
          <p:nvPr/>
        </p:nvSpPr>
        <p:spPr bwMode="auto">
          <a:xfrm>
            <a:off x="6977063" y="450215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5</a:t>
            </a:r>
          </a:p>
        </p:txBody>
      </p:sp>
      <p:sp>
        <p:nvSpPr>
          <p:cNvPr id="530474" name="Line 42"/>
          <p:cNvSpPr>
            <a:spLocks noChangeShapeType="1"/>
          </p:cNvSpPr>
          <p:nvPr/>
        </p:nvSpPr>
        <p:spPr bwMode="auto">
          <a:xfrm>
            <a:off x="7358063" y="40449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30475" name="Text Box 43"/>
          <p:cNvSpPr txBox="1">
            <a:spLocks noChangeArrowheads="1"/>
          </p:cNvSpPr>
          <p:nvPr/>
        </p:nvSpPr>
        <p:spPr bwMode="auto">
          <a:xfrm>
            <a:off x="5376863" y="175895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5</a:t>
            </a:r>
          </a:p>
        </p:txBody>
      </p:sp>
      <p:sp>
        <p:nvSpPr>
          <p:cNvPr id="530476" name="Text Box 44"/>
          <p:cNvSpPr txBox="1">
            <a:spLocks noChangeArrowheads="1"/>
          </p:cNvSpPr>
          <p:nvPr/>
        </p:nvSpPr>
        <p:spPr bwMode="auto">
          <a:xfrm>
            <a:off x="5376863" y="358775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9</a:t>
            </a:r>
          </a:p>
        </p:txBody>
      </p:sp>
      <p:sp>
        <p:nvSpPr>
          <p:cNvPr id="530477" name="Rectangle 45"/>
          <p:cNvSpPr>
            <a:spLocks noChangeArrowheads="1"/>
          </p:cNvSpPr>
          <p:nvPr/>
        </p:nvSpPr>
        <p:spPr bwMode="auto">
          <a:xfrm>
            <a:off x="5148263" y="3511550"/>
            <a:ext cx="762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5</a:t>
            </a:r>
          </a:p>
        </p:txBody>
      </p:sp>
      <p:sp>
        <p:nvSpPr>
          <p:cNvPr id="530478" name="Rectangle 46"/>
          <p:cNvSpPr>
            <a:spLocks noChangeArrowheads="1"/>
          </p:cNvSpPr>
          <p:nvPr/>
        </p:nvSpPr>
        <p:spPr bwMode="auto">
          <a:xfrm>
            <a:off x="5148263" y="1682750"/>
            <a:ext cx="762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9</a:t>
            </a:r>
          </a:p>
        </p:txBody>
      </p:sp>
      <p:sp>
        <p:nvSpPr>
          <p:cNvPr id="14365" name="Rectangle 49"/>
          <p:cNvSpPr>
            <a:spLocks noChangeArrowheads="1"/>
          </p:cNvSpPr>
          <p:nvPr/>
        </p:nvSpPr>
        <p:spPr bwMode="auto">
          <a:xfrm>
            <a:off x="180975" y="115888"/>
            <a:ext cx="352107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方法</a:t>
            </a: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530482" name="Group 50"/>
          <p:cNvGrpSpPr>
            <a:grpSpLocks/>
          </p:cNvGrpSpPr>
          <p:nvPr/>
        </p:nvGrpSpPr>
        <p:grpSpPr bwMode="auto">
          <a:xfrm>
            <a:off x="2911475" y="2597162"/>
            <a:ext cx="466725" cy="522277"/>
            <a:chOff x="4130" y="2648"/>
            <a:chExt cx="869" cy="817"/>
          </a:xfrm>
        </p:grpSpPr>
        <p:sp>
          <p:nvSpPr>
            <p:cNvPr id="14367" name="Line 51"/>
            <p:cNvSpPr>
              <a:spLocks noChangeShapeType="1"/>
            </p:cNvSpPr>
            <p:nvPr/>
          </p:nvSpPr>
          <p:spPr bwMode="auto">
            <a:xfrm>
              <a:off x="4130" y="2720"/>
              <a:ext cx="869" cy="7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4368" name="Line 52"/>
            <p:cNvSpPr>
              <a:spLocks noChangeShapeType="1"/>
            </p:cNvSpPr>
            <p:nvPr/>
          </p:nvSpPr>
          <p:spPr bwMode="auto">
            <a:xfrm flipV="1">
              <a:off x="4156" y="2648"/>
              <a:ext cx="843" cy="8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062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53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30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3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30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3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04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3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3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53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3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3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500"/>
                                        <p:tgtEl>
                                          <p:spTgt spid="530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5" dur="500"/>
                                        <p:tgtEl>
                                          <p:spTgt spid="530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500"/>
                                        <p:tgtEl>
                                          <p:spTgt spid="530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1" dur="500"/>
                                        <p:tgtEl>
                                          <p:spTgt spid="530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500"/>
                                        <p:tgtEl>
                                          <p:spTgt spid="530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5304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500"/>
                                        <p:tgtEl>
                                          <p:spTgt spid="530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3" dur="500"/>
                                        <p:tgtEl>
                                          <p:spTgt spid="5304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6" dur="500"/>
                                        <p:tgtEl>
                                          <p:spTgt spid="5304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9" dur="500"/>
                                        <p:tgtEl>
                                          <p:spTgt spid="530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500"/>
                                        <p:tgtEl>
                                          <p:spTgt spid="530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500"/>
                                        <p:tgtEl>
                                          <p:spTgt spid="5304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500"/>
                                        <p:tgtEl>
                                          <p:spTgt spid="5304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1" dur="500"/>
                                        <p:tgtEl>
                                          <p:spTgt spid="5304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5304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5" grpId="0" animBg="1" autoUpdateAnimBg="0"/>
      <p:bldP spid="530449" grpId="0" autoUpdateAnimBg="0"/>
      <p:bldP spid="530450" grpId="0" autoUpdateAnimBg="0"/>
      <p:bldP spid="530451" grpId="0" autoUpdateAnimBg="0"/>
      <p:bldP spid="530461" grpId="0" autoUpdateAnimBg="0"/>
      <p:bldP spid="530461" grpId="1"/>
      <p:bldP spid="530462" grpId="0" autoUpdateAnimBg="0"/>
      <p:bldP spid="530462" grpId="1"/>
      <p:bldP spid="530463" grpId="0" autoUpdateAnimBg="0"/>
      <p:bldP spid="530463" grpId="1"/>
      <p:bldP spid="530470" grpId="0" animBg="1" autoUpdateAnimBg="0"/>
      <p:bldP spid="530470" grpId="1" animBg="1"/>
      <p:bldP spid="530471" grpId="0" autoUpdateAnimBg="0"/>
      <p:bldP spid="530471" grpId="1"/>
      <p:bldP spid="530472" grpId="0" autoUpdateAnimBg="0"/>
      <p:bldP spid="530472" grpId="1"/>
      <p:bldP spid="530473" grpId="0" autoUpdateAnimBg="0"/>
      <p:bldP spid="530473" grpId="1"/>
      <p:bldP spid="530475" grpId="0" autoUpdateAnimBg="0"/>
      <p:bldP spid="530476" grpId="0" autoUpdateAnimBg="0"/>
      <p:bldP spid="530477" grpId="0" animBg="1" autoUpdateAnimBg="0"/>
      <p:bldP spid="530478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422275" y="875261"/>
            <a:ext cx="4267200" cy="2751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void  swap3(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*p1,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*p2)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{  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0066FF"/>
                </a:solidFill>
              </a:rPr>
              <a:t>  </a:t>
            </a:r>
            <a:r>
              <a:rPr lang="en-US" altLang="zh-CN" dirty="0">
                <a:solidFill>
                  <a:srgbClr val="FF3300"/>
                </a:solidFill>
              </a:rPr>
              <a:t>*p</a:t>
            </a:r>
            <a:r>
              <a:rPr lang="en-US" altLang="zh-CN" dirty="0">
                <a:solidFill>
                  <a:srgbClr val="3333FF"/>
                </a:solidFill>
              </a:rPr>
              <a:t>;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66FF"/>
                </a:solidFill>
              </a:rPr>
              <a:t>     </a:t>
            </a:r>
            <a:r>
              <a:rPr lang="en-US" altLang="zh-CN" dirty="0">
                <a:solidFill>
                  <a:srgbClr val="FF3300"/>
                </a:solidFill>
              </a:rPr>
              <a:t>p = p1 ; 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3300"/>
                </a:solidFill>
              </a:rPr>
              <a:t>     p1 = p2;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3300"/>
                </a:solidFill>
              </a:rPr>
              <a:t>     p2 = p;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}</a:t>
            </a:r>
          </a:p>
        </p:txBody>
      </p:sp>
      <p:grpSp>
        <p:nvGrpSpPr>
          <p:cNvPr id="531459" name="Group 3"/>
          <p:cNvGrpSpPr>
            <a:grpSpLocks/>
          </p:cNvGrpSpPr>
          <p:nvPr/>
        </p:nvGrpSpPr>
        <p:grpSpPr bwMode="auto">
          <a:xfrm>
            <a:off x="7127875" y="792163"/>
            <a:ext cx="1371600" cy="533400"/>
            <a:chOff x="4752" y="1728"/>
            <a:chExt cx="864" cy="336"/>
          </a:xfrm>
        </p:grpSpPr>
        <p:sp>
          <p:nvSpPr>
            <p:cNvPr id="15403" name="Rectangle 4"/>
            <p:cNvSpPr>
              <a:spLocks noChangeArrowheads="1"/>
            </p:cNvSpPr>
            <p:nvPr/>
          </p:nvSpPr>
          <p:spPr bwMode="auto">
            <a:xfrm>
              <a:off x="4752" y="1728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4" name="Text Box 5"/>
            <p:cNvSpPr txBox="1">
              <a:spLocks noChangeArrowheads="1"/>
            </p:cNvSpPr>
            <p:nvPr/>
          </p:nvSpPr>
          <p:spPr bwMode="auto">
            <a:xfrm>
              <a:off x="5232" y="17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p1</a:t>
              </a:r>
            </a:p>
          </p:txBody>
        </p:sp>
      </p:grpSp>
      <p:grpSp>
        <p:nvGrpSpPr>
          <p:cNvPr id="531462" name="Group 6"/>
          <p:cNvGrpSpPr>
            <a:grpSpLocks/>
          </p:cNvGrpSpPr>
          <p:nvPr/>
        </p:nvGrpSpPr>
        <p:grpSpPr bwMode="auto">
          <a:xfrm>
            <a:off x="7127875" y="2468563"/>
            <a:ext cx="1371600" cy="533400"/>
            <a:chOff x="4752" y="2736"/>
            <a:chExt cx="864" cy="336"/>
          </a:xfrm>
        </p:grpSpPr>
        <p:sp>
          <p:nvSpPr>
            <p:cNvPr id="15401" name="Text Box 7"/>
            <p:cNvSpPr txBox="1">
              <a:spLocks noChangeArrowheads="1"/>
            </p:cNvSpPr>
            <p:nvPr/>
          </p:nvSpPr>
          <p:spPr bwMode="auto">
            <a:xfrm>
              <a:off x="5232" y="278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p2</a:t>
              </a:r>
            </a:p>
          </p:txBody>
        </p:sp>
        <p:sp>
          <p:nvSpPr>
            <p:cNvPr id="15402" name="Rectangle 8"/>
            <p:cNvSpPr>
              <a:spLocks noChangeArrowheads="1"/>
            </p:cNvSpPr>
            <p:nvPr/>
          </p:nvSpPr>
          <p:spPr bwMode="auto">
            <a:xfrm>
              <a:off x="4752" y="2736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31465" name="Group 9"/>
          <p:cNvGrpSpPr>
            <a:grpSpLocks/>
          </p:cNvGrpSpPr>
          <p:nvPr/>
        </p:nvGrpSpPr>
        <p:grpSpPr bwMode="auto">
          <a:xfrm>
            <a:off x="7127875" y="3459163"/>
            <a:ext cx="1295400" cy="533400"/>
            <a:chOff x="4752" y="3360"/>
            <a:chExt cx="816" cy="336"/>
          </a:xfrm>
        </p:grpSpPr>
        <p:sp>
          <p:nvSpPr>
            <p:cNvPr id="15399" name="Rectangle 10"/>
            <p:cNvSpPr>
              <a:spLocks noChangeArrowheads="1"/>
            </p:cNvSpPr>
            <p:nvPr/>
          </p:nvSpPr>
          <p:spPr bwMode="auto">
            <a:xfrm>
              <a:off x="4752" y="3360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0" name="Text Box 11"/>
            <p:cNvSpPr txBox="1">
              <a:spLocks noChangeArrowheads="1"/>
            </p:cNvSpPr>
            <p:nvPr/>
          </p:nvSpPr>
          <p:spPr bwMode="auto">
            <a:xfrm>
              <a:off x="5232" y="336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</p:grpSp>
      <p:sp>
        <p:nvSpPr>
          <p:cNvPr id="531468" name="Line 12"/>
          <p:cNvSpPr>
            <a:spLocks noChangeShapeType="1"/>
          </p:cNvSpPr>
          <p:nvPr/>
        </p:nvSpPr>
        <p:spPr bwMode="auto">
          <a:xfrm>
            <a:off x="6213475" y="1020763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1469" name="Line 13"/>
          <p:cNvSpPr>
            <a:spLocks noChangeShapeType="1"/>
          </p:cNvSpPr>
          <p:nvPr/>
        </p:nvSpPr>
        <p:spPr bwMode="auto">
          <a:xfrm>
            <a:off x="6213475" y="2697163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1470" name="Line 14"/>
          <p:cNvSpPr>
            <a:spLocks noChangeShapeType="1"/>
          </p:cNvSpPr>
          <p:nvPr/>
        </p:nvSpPr>
        <p:spPr bwMode="auto">
          <a:xfrm flipH="1">
            <a:off x="6213475" y="1173163"/>
            <a:ext cx="91440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1471" name="Line 15"/>
          <p:cNvSpPr>
            <a:spLocks noChangeShapeType="1"/>
          </p:cNvSpPr>
          <p:nvPr/>
        </p:nvSpPr>
        <p:spPr bwMode="auto">
          <a:xfrm flipH="1">
            <a:off x="6213475" y="2849563"/>
            <a:ext cx="9144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1472" name="Text Box 16"/>
          <p:cNvSpPr txBox="1">
            <a:spLocks noChangeArrowheads="1"/>
          </p:cNvSpPr>
          <p:nvPr/>
        </p:nvSpPr>
        <p:spPr bwMode="auto">
          <a:xfrm>
            <a:off x="7127875" y="3535363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&amp;a</a:t>
            </a:r>
          </a:p>
        </p:txBody>
      </p:sp>
      <p:sp>
        <p:nvSpPr>
          <p:cNvPr id="531473" name="Text Box 17"/>
          <p:cNvSpPr txBox="1">
            <a:spLocks noChangeArrowheads="1"/>
          </p:cNvSpPr>
          <p:nvPr/>
        </p:nvSpPr>
        <p:spPr bwMode="auto">
          <a:xfrm>
            <a:off x="7127875" y="868363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/>
              <a:t>&amp;a</a:t>
            </a:r>
          </a:p>
        </p:txBody>
      </p:sp>
      <p:sp>
        <p:nvSpPr>
          <p:cNvPr id="531474" name="Text Box 18"/>
          <p:cNvSpPr txBox="1">
            <a:spLocks noChangeArrowheads="1"/>
          </p:cNvSpPr>
          <p:nvPr/>
        </p:nvSpPr>
        <p:spPr bwMode="auto">
          <a:xfrm>
            <a:off x="7127875" y="2544763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/>
              <a:t>&amp;b</a:t>
            </a:r>
          </a:p>
        </p:txBody>
      </p:sp>
      <p:sp>
        <p:nvSpPr>
          <p:cNvPr id="531477" name="Line 21"/>
          <p:cNvSpPr>
            <a:spLocks noChangeShapeType="1"/>
          </p:cNvSpPr>
          <p:nvPr/>
        </p:nvSpPr>
        <p:spPr bwMode="auto">
          <a:xfrm flipH="1">
            <a:off x="6213475" y="1173163"/>
            <a:ext cx="914400" cy="2514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1478" name="Line 22"/>
          <p:cNvSpPr>
            <a:spLocks noChangeShapeType="1"/>
          </p:cNvSpPr>
          <p:nvPr/>
        </p:nvSpPr>
        <p:spPr bwMode="auto">
          <a:xfrm flipH="1" flipV="1">
            <a:off x="6213475" y="2087563"/>
            <a:ext cx="914400" cy="533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1479" name="Text Box 23"/>
          <p:cNvSpPr txBox="1">
            <a:spLocks noChangeArrowheads="1"/>
          </p:cNvSpPr>
          <p:nvPr/>
        </p:nvSpPr>
        <p:spPr bwMode="auto">
          <a:xfrm>
            <a:off x="454025" y="3687763"/>
            <a:ext cx="4267200" cy="193899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zh-CN" altLang="en-US" dirty="0">
                <a:ea typeface="华文楷体" panose="02010600040101010101" pitchFamily="2" charset="-122"/>
                <a:cs typeface="Times New Roman" panose="02020603050405020304" pitchFamily="18" charset="0"/>
              </a:rPr>
              <a:t>这种方法是交换形参</a:t>
            </a:r>
            <a:r>
              <a:rPr lang="en-US" altLang="zh-CN" dirty="0">
                <a:ea typeface="华文楷体" panose="02010600040101010101" pitchFamily="2" charset="-122"/>
                <a:cs typeface="Times New Roman" panose="02020603050405020304" pitchFamily="18" charset="0"/>
              </a:rPr>
              <a:t>p1</a:t>
            </a:r>
            <a:r>
              <a:rPr lang="zh-CN" altLang="en-US" dirty="0"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a typeface="华文楷体" panose="02010600040101010101" pitchFamily="2" charset="-122"/>
                <a:cs typeface="Times New Roman" panose="02020603050405020304" pitchFamily="18" charset="0"/>
              </a:rPr>
              <a:t>p2</a:t>
            </a:r>
            <a:r>
              <a:rPr lang="zh-CN" altLang="en-US" dirty="0">
                <a:ea typeface="华文楷体" panose="0201060004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ea typeface="华文楷体" panose="02010600040101010101" pitchFamily="2" charset="-122"/>
                <a:cs typeface="Times New Roman" panose="02020603050405020304" pitchFamily="18" charset="0"/>
              </a:rPr>
              <a:t>使它们的指向发生改变</a:t>
            </a:r>
            <a:r>
              <a:rPr lang="en-US" altLang="zh-CN" dirty="0"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ea typeface="华文楷体" panose="02010600040101010101" pitchFamily="2" charset="-122"/>
                <a:cs typeface="Times New Roman" panose="02020603050405020304" pitchFamily="18" charset="0"/>
              </a:rPr>
              <a:t>但是</a:t>
            </a:r>
            <a:r>
              <a:rPr lang="en-US" altLang="zh-CN" dirty="0">
                <a:ea typeface="华文楷体" panose="02010600040101010101" pitchFamily="2" charset="-122"/>
                <a:cs typeface="Times New Roman" panose="02020603050405020304" pitchFamily="18" charset="0"/>
              </a:rPr>
              <a:t>main</a:t>
            </a:r>
            <a:r>
              <a:rPr lang="zh-CN" altLang="en-US" dirty="0">
                <a:ea typeface="华文楷体" panose="02010600040101010101" pitchFamily="2" charset="-122"/>
                <a:cs typeface="Times New Roman" panose="02020603050405020304" pitchFamily="18" charset="0"/>
              </a:rPr>
              <a:t>函数中的</a:t>
            </a:r>
            <a:r>
              <a:rPr lang="en-US" altLang="zh-CN" dirty="0"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ea typeface="华文楷体" panose="02010600040101010101" pitchFamily="2" charset="-122"/>
                <a:cs typeface="Times New Roman" panose="02020603050405020304" pitchFamily="18" charset="0"/>
              </a:rPr>
              <a:t>的值并没有进行交换，所以输出为</a:t>
            </a:r>
            <a:r>
              <a:rPr lang="en-US" altLang="zh-CN" dirty="0">
                <a:ea typeface="华文楷体" panose="02010600040101010101" pitchFamily="2" charset="-122"/>
                <a:cs typeface="Times New Roman" panose="02020603050405020304" pitchFamily="18" charset="0"/>
              </a:rPr>
              <a:t>: a=5, b=9</a:t>
            </a:r>
          </a:p>
        </p:txBody>
      </p:sp>
      <p:grpSp>
        <p:nvGrpSpPr>
          <p:cNvPr id="531480" name="Group 24"/>
          <p:cNvGrpSpPr>
            <a:grpSpLocks/>
          </p:cNvGrpSpPr>
          <p:nvPr/>
        </p:nvGrpSpPr>
        <p:grpSpPr bwMode="auto">
          <a:xfrm>
            <a:off x="4841875" y="334963"/>
            <a:ext cx="1524000" cy="3657600"/>
            <a:chOff x="3360" y="96"/>
            <a:chExt cx="960" cy="2304"/>
          </a:xfrm>
        </p:grpSpPr>
        <p:grpSp>
          <p:nvGrpSpPr>
            <p:cNvPr id="15384" name="Group 25"/>
            <p:cNvGrpSpPr>
              <a:grpSpLocks/>
            </p:cNvGrpSpPr>
            <p:nvPr/>
          </p:nvGrpSpPr>
          <p:grpSpPr bwMode="auto">
            <a:xfrm>
              <a:off x="3552" y="1008"/>
              <a:ext cx="672" cy="336"/>
              <a:chOff x="3552" y="1008"/>
              <a:chExt cx="672" cy="336"/>
            </a:xfrm>
          </p:grpSpPr>
          <p:sp>
            <p:nvSpPr>
              <p:cNvPr id="15397" name="Rectangle 26"/>
              <p:cNvSpPr>
                <a:spLocks noChangeArrowheads="1"/>
              </p:cNvSpPr>
              <p:nvPr/>
            </p:nvSpPr>
            <p:spPr bwMode="auto">
              <a:xfrm>
                <a:off x="3744" y="1008"/>
                <a:ext cx="480" cy="336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/>
                  <a:t>5</a:t>
                </a:r>
              </a:p>
            </p:txBody>
          </p:sp>
          <p:sp>
            <p:nvSpPr>
              <p:cNvPr id="15398" name="Text Box 27"/>
              <p:cNvSpPr txBox="1">
                <a:spLocks noChangeArrowheads="1"/>
              </p:cNvSpPr>
              <p:nvPr/>
            </p:nvSpPr>
            <p:spPr bwMode="auto">
              <a:xfrm>
                <a:off x="3552" y="10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/>
                  <a:t>a</a:t>
                </a:r>
              </a:p>
            </p:txBody>
          </p:sp>
        </p:grpSp>
        <p:grpSp>
          <p:nvGrpSpPr>
            <p:cNvPr id="15385" name="Group 28"/>
            <p:cNvGrpSpPr>
              <a:grpSpLocks/>
            </p:cNvGrpSpPr>
            <p:nvPr/>
          </p:nvGrpSpPr>
          <p:grpSpPr bwMode="auto">
            <a:xfrm>
              <a:off x="3552" y="2064"/>
              <a:ext cx="672" cy="336"/>
              <a:chOff x="3552" y="2064"/>
              <a:chExt cx="672" cy="336"/>
            </a:xfrm>
          </p:grpSpPr>
          <p:sp>
            <p:nvSpPr>
              <p:cNvPr id="15395" name="Rectangle 29"/>
              <p:cNvSpPr>
                <a:spLocks noChangeArrowheads="1"/>
              </p:cNvSpPr>
              <p:nvPr/>
            </p:nvSpPr>
            <p:spPr bwMode="auto">
              <a:xfrm>
                <a:off x="3744" y="2064"/>
                <a:ext cx="480" cy="336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/>
                  <a:t>9</a:t>
                </a:r>
              </a:p>
            </p:txBody>
          </p:sp>
          <p:sp>
            <p:nvSpPr>
              <p:cNvPr id="15396" name="Text Box 30"/>
              <p:cNvSpPr txBox="1">
                <a:spLocks noChangeArrowheads="1"/>
              </p:cNvSpPr>
              <p:nvPr/>
            </p:nvSpPr>
            <p:spPr bwMode="auto">
              <a:xfrm>
                <a:off x="3552" y="211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/>
                  <a:t>b</a:t>
                </a:r>
              </a:p>
            </p:txBody>
          </p:sp>
        </p:grpSp>
        <p:grpSp>
          <p:nvGrpSpPr>
            <p:cNvPr id="15386" name="Group 31"/>
            <p:cNvGrpSpPr>
              <a:grpSpLocks/>
            </p:cNvGrpSpPr>
            <p:nvPr/>
          </p:nvGrpSpPr>
          <p:grpSpPr bwMode="auto">
            <a:xfrm>
              <a:off x="3360" y="384"/>
              <a:ext cx="864" cy="336"/>
              <a:chOff x="3360" y="384"/>
              <a:chExt cx="864" cy="336"/>
            </a:xfrm>
          </p:grpSpPr>
          <p:sp>
            <p:nvSpPr>
              <p:cNvPr id="15393" name="Rectangle 32"/>
              <p:cNvSpPr>
                <a:spLocks noChangeArrowheads="1"/>
              </p:cNvSpPr>
              <p:nvPr/>
            </p:nvSpPr>
            <p:spPr bwMode="auto">
              <a:xfrm>
                <a:off x="3744" y="384"/>
                <a:ext cx="480" cy="336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/>
                  <a:t>&amp;a</a:t>
                </a:r>
              </a:p>
            </p:txBody>
          </p:sp>
          <p:sp>
            <p:nvSpPr>
              <p:cNvPr id="15394" name="Text Box 33"/>
              <p:cNvSpPr txBox="1">
                <a:spLocks noChangeArrowheads="1"/>
              </p:cNvSpPr>
              <p:nvPr/>
            </p:nvSpPr>
            <p:spPr bwMode="auto">
              <a:xfrm>
                <a:off x="3360" y="43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/>
                  <a:t>pt1</a:t>
                </a:r>
              </a:p>
            </p:txBody>
          </p:sp>
        </p:grpSp>
        <p:grpSp>
          <p:nvGrpSpPr>
            <p:cNvPr id="15387" name="Group 34"/>
            <p:cNvGrpSpPr>
              <a:grpSpLocks/>
            </p:cNvGrpSpPr>
            <p:nvPr/>
          </p:nvGrpSpPr>
          <p:grpSpPr bwMode="auto">
            <a:xfrm>
              <a:off x="3360" y="1440"/>
              <a:ext cx="864" cy="336"/>
              <a:chOff x="3360" y="1440"/>
              <a:chExt cx="864" cy="336"/>
            </a:xfrm>
          </p:grpSpPr>
          <p:sp>
            <p:nvSpPr>
              <p:cNvPr id="15391" name="Rectangle 35"/>
              <p:cNvSpPr>
                <a:spLocks noChangeArrowheads="1"/>
              </p:cNvSpPr>
              <p:nvPr/>
            </p:nvSpPr>
            <p:spPr bwMode="auto">
              <a:xfrm>
                <a:off x="3744" y="1440"/>
                <a:ext cx="480" cy="336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/>
                  <a:t>&amp;b</a:t>
                </a:r>
              </a:p>
            </p:txBody>
          </p:sp>
          <p:sp>
            <p:nvSpPr>
              <p:cNvPr id="15392" name="Text Box 36"/>
              <p:cNvSpPr txBox="1">
                <a:spLocks noChangeArrowheads="1"/>
              </p:cNvSpPr>
              <p:nvPr/>
            </p:nvSpPr>
            <p:spPr bwMode="auto">
              <a:xfrm>
                <a:off x="3360" y="1488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/>
                  <a:t>pt2</a:t>
                </a:r>
              </a:p>
            </p:txBody>
          </p:sp>
        </p:grpSp>
        <p:sp>
          <p:nvSpPr>
            <p:cNvPr id="15388" name="Line 37"/>
            <p:cNvSpPr>
              <a:spLocks noChangeShapeType="1"/>
            </p:cNvSpPr>
            <p:nvPr/>
          </p:nvSpPr>
          <p:spPr bwMode="auto">
            <a:xfrm>
              <a:off x="3984" y="720"/>
              <a:ext cx="0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9" name="Line 38"/>
            <p:cNvSpPr>
              <a:spLocks noChangeShapeType="1"/>
            </p:cNvSpPr>
            <p:nvPr/>
          </p:nvSpPr>
          <p:spPr bwMode="auto">
            <a:xfrm>
              <a:off x="3984" y="1776"/>
              <a:ext cx="0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0" name="Text Box 39"/>
            <p:cNvSpPr txBox="1">
              <a:spLocks noChangeArrowheads="1"/>
            </p:cNvSpPr>
            <p:nvPr/>
          </p:nvSpPr>
          <p:spPr bwMode="auto">
            <a:xfrm>
              <a:off x="3744" y="96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main</a:t>
              </a:r>
            </a:p>
          </p:txBody>
        </p:sp>
      </p:grpSp>
      <p:sp>
        <p:nvSpPr>
          <p:cNvPr id="531496" name="Rectangle 40"/>
          <p:cNvSpPr>
            <a:spLocks noChangeArrowheads="1"/>
          </p:cNvSpPr>
          <p:nvPr/>
        </p:nvSpPr>
        <p:spPr bwMode="auto">
          <a:xfrm>
            <a:off x="7127875" y="792163"/>
            <a:ext cx="762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&amp;b</a:t>
            </a:r>
          </a:p>
        </p:txBody>
      </p:sp>
      <p:sp>
        <p:nvSpPr>
          <p:cNvPr id="531497" name="Rectangle 41"/>
          <p:cNvSpPr>
            <a:spLocks noChangeArrowheads="1"/>
          </p:cNvSpPr>
          <p:nvPr/>
        </p:nvSpPr>
        <p:spPr bwMode="auto">
          <a:xfrm>
            <a:off x="7127875" y="2468563"/>
            <a:ext cx="762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&amp;a</a:t>
            </a:r>
          </a:p>
        </p:txBody>
      </p:sp>
      <p:sp>
        <p:nvSpPr>
          <p:cNvPr id="531498" name="Text Box 42"/>
          <p:cNvSpPr txBox="1">
            <a:spLocks noChangeArrowheads="1"/>
          </p:cNvSpPr>
          <p:nvPr/>
        </p:nvSpPr>
        <p:spPr bwMode="auto">
          <a:xfrm>
            <a:off x="7051675" y="334963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swap3</a:t>
            </a:r>
          </a:p>
        </p:txBody>
      </p:sp>
      <p:sp>
        <p:nvSpPr>
          <p:cNvPr id="15380" name="Rectangle 45"/>
          <p:cNvSpPr>
            <a:spLocks noChangeArrowheads="1"/>
          </p:cNvSpPr>
          <p:nvPr/>
        </p:nvSpPr>
        <p:spPr bwMode="auto">
          <a:xfrm>
            <a:off x="180975" y="115888"/>
            <a:ext cx="352107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方法</a:t>
            </a: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3</a:t>
            </a:r>
          </a:p>
        </p:txBody>
      </p:sp>
      <p:grpSp>
        <p:nvGrpSpPr>
          <p:cNvPr id="531502" name="Group 46"/>
          <p:cNvGrpSpPr>
            <a:grpSpLocks/>
          </p:cNvGrpSpPr>
          <p:nvPr/>
        </p:nvGrpSpPr>
        <p:grpSpPr bwMode="auto">
          <a:xfrm>
            <a:off x="2587625" y="2995613"/>
            <a:ext cx="466725" cy="476250"/>
            <a:chOff x="4130" y="2720"/>
            <a:chExt cx="869" cy="745"/>
          </a:xfrm>
        </p:grpSpPr>
        <p:sp>
          <p:nvSpPr>
            <p:cNvPr id="15382" name="Line 47"/>
            <p:cNvSpPr>
              <a:spLocks noChangeShapeType="1"/>
            </p:cNvSpPr>
            <p:nvPr/>
          </p:nvSpPr>
          <p:spPr bwMode="auto">
            <a:xfrm>
              <a:off x="4130" y="2720"/>
              <a:ext cx="869" cy="7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5383" name="Line 48"/>
            <p:cNvSpPr>
              <a:spLocks noChangeShapeType="1"/>
            </p:cNvSpPr>
            <p:nvPr/>
          </p:nvSpPr>
          <p:spPr bwMode="auto">
            <a:xfrm flipV="1">
              <a:off x="4156" y="2720"/>
              <a:ext cx="843" cy="7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694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53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53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3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531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3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3" dur="500"/>
                                        <p:tgtEl>
                                          <p:spTgt spid="5314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531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4" dur="500"/>
                                        <p:tgtEl>
                                          <p:spTgt spid="531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531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5314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3" dur="500"/>
                                        <p:tgtEl>
                                          <p:spTgt spid="5314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6" dur="500"/>
                                        <p:tgtEl>
                                          <p:spTgt spid="531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9" dur="500"/>
                                        <p:tgtEl>
                                          <p:spTgt spid="5314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2" dur="500"/>
                                        <p:tgtEl>
                                          <p:spTgt spid="5314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5" dur="500"/>
                                        <p:tgtEl>
                                          <p:spTgt spid="531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8" dur="500"/>
                                        <p:tgtEl>
                                          <p:spTgt spid="531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1" dur="500"/>
                                        <p:tgtEl>
                                          <p:spTgt spid="531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4" dur="500"/>
                                        <p:tgtEl>
                                          <p:spTgt spid="531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7" dur="500"/>
                                        <p:tgtEl>
                                          <p:spTgt spid="5314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0" dur="500"/>
                                        <p:tgtEl>
                                          <p:spTgt spid="5314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3" dur="500"/>
                                        <p:tgtEl>
                                          <p:spTgt spid="5314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53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72" grpId="0" autoUpdateAnimBg="0"/>
      <p:bldP spid="531472" grpId="1"/>
      <p:bldP spid="531473" grpId="0" autoUpdateAnimBg="0"/>
      <p:bldP spid="531473" grpId="1"/>
      <p:bldP spid="531474" grpId="0" autoUpdateAnimBg="0"/>
      <p:bldP spid="531474" grpId="1"/>
      <p:bldP spid="531479" grpId="0" animBg="1" autoUpdateAnimBg="0"/>
      <p:bldP spid="531496" grpId="0" animBg="1" autoUpdateAnimBg="0"/>
      <p:bldP spid="531496" grpId="1" animBg="1"/>
      <p:bldP spid="531497" grpId="0" animBg="1" autoUpdateAnimBg="0"/>
      <p:bldP spid="531497" grpId="1" animBg="1"/>
      <p:bldP spid="531498" grpId="0" autoUpdateAnimBg="0"/>
      <p:bldP spid="531498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5888"/>
            <a:ext cx="5414963" cy="587375"/>
          </a:xfrm>
        </p:spPr>
        <p:txBody>
          <a:bodyPr>
            <a:normAutofit/>
          </a:bodyPr>
          <a:lstStyle/>
          <a:p>
            <a:pPr defTabSz="457200">
              <a:buFont typeface="Wingdings" panose="05000000000000000000" pitchFamily="2" charset="2"/>
              <a:buNone/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6.2.2 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返回指针值的函数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07950" y="692150"/>
            <a:ext cx="8567738" cy="42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5000"/>
              </a:spcBef>
              <a:buClr>
                <a:srgbClr val="0000FF"/>
              </a:buClr>
            </a:pPr>
            <a:r>
              <a:rPr lang="zh-CN" altLang="en-US" dirty="0">
                <a:cs typeface="Times New Roman" panose="02020603050405020304" pitchFamily="18" charset="0"/>
              </a:rPr>
              <a:t>函数的返回值可以是一个指针类型的数据</a:t>
            </a:r>
            <a:r>
              <a:rPr lang="en-US" altLang="zh-CN" dirty="0">
                <a:cs typeface="Times New Roman" panose="02020603050405020304" pitchFamily="18" charset="0"/>
              </a:rPr>
              <a:t>(</a:t>
            </a:r>
            <a:r>
              <a:rPr lang="zh-CN" altLang="en-US" dirty="0">
                <a:cs typeface="Times New Roman" panose="02020603050405020304" pitchFamily="18" charset="0"/>
              </a:rPr>
              <a:t>即地址</a:t>
            </a:r>
            <a:r>
              <a:rPr lang="en-US" altLang="zh-CN" dirty="0">
                <a:cs typeface="Times New Roman" panose="02020603050405020304" pitchFamily="18" charset="0"/>
              </a:rPr>
              <a:t>)</a:t>
            </a:r>
            <a:endParaRPr lang="en-US" altLang="zh-CN" b="0" dirty="0">
              <a:cs typeface="Times New Roman" panose="02020603050405020304" pitchFamily="18" charset="0"/>
            </a:endParaRPr>
          </a:p>
        </p:txBody>
      </p:sp>
      <p:sp>
        <p:nvSpPr>
          <p:cNvPr id="583684" name="Text Box 4"/>
          <p:cNvSpPr txBox="1">
            <a:spLocks noChangeArrowheads="1"/>
          </p:cNvSpPr>
          <p:nvPr/>
        </p:nvSpPr>
        <p:spPr bwMode="auto">
          <a:xfrm>
            <a:off x="647700" y="1206500"/>
            <a:ext cx="6148388" cy="1387176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3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返回指针值函数的定义格式</a:t>
            </a:r>
            <a:r>
              <a:rPr lang="en-US" altLang="zh-CN" dirty="0">
                <a:cs typeface="Times New Roman" panose="02020603050405020304" pitchFamily="18" charset="0"/>
              </a:rPr>
              <a:t>:   </a:t>
            </a:r>
          </a:p>
          <a:p>
            <a:pPr algn="l"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dirty="0">
                <a:solidFill>
                  <a:schemeClr val="tx2"/>
                </a:solidFill>
                <a:cs typeface="Times New Roman" panose="02020603050405020304" pitchFamily="18" charset="0"/>
              </a:rPr>
              <a:t>函数类型  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chemeClr val="tx2"/>
                </a:solidFill>
                <a:cs typeface="Times New Roman" panose="02020603050405020304" pitchFamily="18" charset="0"/>
              </a:rPr>
              <a:t> 函数名</a:t>
            </a:r>
            <a:r>
              <a:rPr lang="en-US" altLang="zh-CN" dirty="0">
                <a:solidFill>
                  <a:schemeClr val="tx2"/>
                </a:solidFill>
                <a:cs typeface="Times New Roman" panose="02020603050405020304" pitchFamily="18" charset="0"/>
              </a:rPr>
              <a:t>( </a:t>
            </a:r>
            <a:r>
              <a:rPr lang="zh-CN" altLang="en-US" dirty="0">
                <a:solidFill>
                  <a:schemeClr val="tx2"/>
                </a:solidFill>
                <a:cs typeface="Times New Roman" panose="02020603050405020304" pitchFamily="18" charset="0"/>
              </a:rPr>
              <a:t>形参列表 </a:t>
            </a:r>
            <a:r>
              <a:rPr lang="en-US" altLang="zh-CN" dirty="0">
                <a:solidFill>
                  <a:schemeClr val="tx2"/>
                </a:solidFill>
                <a:cs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zh-CN" dirty="0">
                <a:solidFill>
                  <a:schemeClr val="tx2"/>
                </a:solidFill>
                <a:cs typeface="Times New Roman" panose="02020603050405020304" pitchFamily="18" charset="0"/>
              </a:rPr>
              <a:t>{    </a:t>
            </a:r>
            <a:r>
              <a:rPr lang="zh-CN" altLang="en-US" dirty="0">
                <a:solidFill>
                  <a:schemeClr val="tx2"/>
                </a:solidFill>
                <a:cs typeface="Times New Roman" panose="02020603050405020304" pitchFamily="18" charset="0"/>
              </a:rPr>
              <a:t>函数体</a:t>
            </a:r>
            <a:r>
              <a:rPr lang="en-US" altLang="zh-CN" dirty="0">
                <a:solidFill>
                  <a:schemeClr val="tx2"/>
                </a:solidFill>
                <a:cs typeface="Times New Roman" panose="02020603050405020304" pitchFamily="18" charset="0"/>
              </a:rPr>
              <a:t>;   }</a:t>
            </a:r>
            <a:r>
              <a:rPr lang="en-US" altLang="zh-CN" sz="2800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cs typeface="Times New Roman" panose="02020603050405020304" pitchFamily="18" charset="0"/>
              </a:rPr>
              <a:t>  </a:t>
            </a:r>
            <a:endParaRPr lang="en-US" altLang="zh-CN" sz="2800" b="0" dirty="0">
              <a:cs typeface="Times New Roman" panose="02020603050405020304" pitchFamily="18" charset="0"/>
            </a:endParaRPr>
          </a:p>
        </p:txBody>
      </p:sp>
      <p:sp>
        <p:nvSpPr>
          <p:cNvPr id="583685" name="Text Box 5"/>
          <p:cNvSpPr txBox="1">
            <a:spLocks noChangeArrowheads="1"/>
          </p:cNvSpPr>
          <p:nvPr/>
        </p:nvSpPr>
        <p:spPr bwMode="auto">
          <a:xfrm>
            <a:off x="107950" y="2847975"/>
            <a:ext cx="8778875" cy="83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说明</a:t>
            </a:r>
            <a:r>
              <a:rPr lang="en-US" altLang="zh-CN" dirty="0">
                <a:cs typeface="Times New Roman" panose="02020603050405020304" pitchFamily="18" charset="0"/>
              </a:rPr>
              <a:t>:</a:t>
            </a:r>
            <a:r>
              <a:rPr lang="zh-CN" altLang="en-US" dirty="0">
                <a:cs typeface="Times New Roman" panose="02020603050405020304" pitchFamily="18" charset="0"/>
              </a:rPr>
              <a:t>定义一个返回指针值的函数与定义普通函数的格式基本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     类似</a:t>
            </a:r>
            <a:r>
              <a:rPr lang="en-US" altLang="zh-CN" dirty="0">
                <a:cs typeface="Times New Roman" panose="02020603050405020304" pitchFamily="18" charset="0"/>
              </a:rPr>
              <a:t>,</a:t>
            </a:r>
            <a:r>
              <a:rPr lang="zh-CN" altLang="en-US" dirty="0">
                <a:cs typeface="Times New Roman" panose="02020603050405020304" pitchFamily="18" charset="0"/>
              </a:rPr>
              <a:t>只是在函数名前加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dirty="0">
                <a:cs typeface="Times New Roman" panose="02020603050405020304" pitchFamily="18" charset="0"/>
              </a:rPr>
              <a:t>,</a:t>
            </a:r>
            <a:r>
              <a:rPr lang="zh-CN" altLang="en-US" dirty="0">
                <a:cs typeface="Times New Roman" panose="02020603050405020304" pitchFamily="18" charset="0"/>
              </a:rPr>
              <a:t>表明该函数返回一个指针值</a:t>
            </a:r>
          </a:p>
        </p:txBody>
      </p:sp>
      <p:sp>
        <p:nvSpPr>
          <p:cNvPr id="583686" name="Text Box 6"/>
          <p:cNvSpPr txBox="1">
            <a:spLocks noChangeArrowheads="1"/>
          </p:cNvSpPr>
          <p:nvPr/>
        </p:nvSpPr>
        <p:spPr bwMode="auto">
          <a:xfrm>
            <a:off x="107950" y="3825875"/>
            <a:ext cx="5334000" cy="870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:   </a:t>
            </a:r>
            <a:r>
              <a:rPr lang="en-US" altLang="zh-CN" dirty="0" err="1">
                <a:solidFill>
                  <a:srgbClr val="0000FF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9900"/>
                </a:solidFill>
                <a:cs typeface="Times New Roman" panose="02020603050405020304" pitchFamily="18" charset="0"/>
              </a:rPr>
              <a:t>fun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 ( </a:t>
            </a:r>
            <a:r>
              <a:rPr lang="en-US" altLang="zh-CN" dirty="0" err="1">
                <a:solidFill>
                  <a:srgbClr val="0000FF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  a , </a:t>
            </a:r>
            <a:r>
              <a:rPr lang="en-US" altLang="zh-CN" dirty="0" err="1">
                <a:solidFill>
                  <a:srgbClr val="0000FF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  b )</a:t>
            </a:r>
          </a:p>
          <a:p>
            <a:pPr algn="l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        {    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函数体 </a:t>
            </a:r>
            <a:r>
              <a:rPr lang="en-US" altLang="zh-CN" dirty="0">
                <a:solidFill>
                  <a:srgbClr val="0000FF"/>
                </a:solidFill>
                <a:cs typeface="Times New Roman" panose="02020603050405020304" pitchFamily="18" charset="0"/>
              </a:rPr>
              <a:t>;   } </a:t>
            </a:r>
          </a:p>
        </p:txBody>
      </p:sp>
    </p:spTree>
    <p:extLst>
      <p:ext uri="{BB962C8B-B14F-4D97-AF65-F5344CB8AC3E}">
        <p14:creationId xmlns:p14="http://schemas.microsoft.com/office/powerpoint/2010/main" val="302432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4" grpId="0" animBg="1" autoUpdateAnimBg="0"/>
      <p:bldP spid="583685" grpId="0" autoUpdateAnimBg="0"/>
      <p:bldP spid="58368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459" name="Group 3"/>
          <p:cNvGrpSpPr>
            <a:grpSpLocks/>
          </p:cNvGrpSpPr>
          <p:nvPr/>
        </p:nvGrpSpPr>
        <p:grpSpPr bwMode="auto">
          <a:xfrm>
            <a:off x="7163629" y="2398368"/>
            <a:ext cx="1371600" cy="533400"/>
            <a:chOff x="4752" y="1728"/>
            <a:chExt cx="864" cy="336"/>
          </a:xfrm>
        </p:grpSpPr>
        <p:sp>
          <p:nvSpPr>
            <p:cNvPr id="17443" name="Rectangle 4"/>
            <p:cNvSpPr>
              <a:spLocks noChangeArrowheads="1"/>
            </p:cNvSpPr>
            <p:nvPr/>
          </p:nvSpPr>
          <p:spPr bwMode="auto">
            <a:xfrm>
              <a:off x="4752" y="1728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44" name="Text Box 5"/>
            <p:cNvSpPr txBox="1">
              <a:spLocks noChangeArrowheads="1"/>
            </p:cNvSpPr>
            <p:nvPr/>
          </p:nvSpPr>
          <p:spPr bwMode="auto">
            <a:xfrm>
              <a:off x="5232" y="17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</a:p>
          </p:txBody>
        </p:sp>
      </p:grpSp>
      <p:grpSp>
        <p:nvGrpSpPr>
          <p:cNvPr id="531462" name="Group 6"/>
          <p:cNvGrpSpPr>
            <a:grpSpLocks/>
          </p:cNvGrpSpPr>
          <p:nvPr/>
        </p:nvGrpSpPr>
        <p:grpSpPr bwMode="auto">
          <a:xfrm>
            <a:off x="7154104" y="3279431"/>
            <a:ext cx="1371600" cy="533400"/>
            <a:chOff x="4752" y="2736"/>
            <a:chExt cx="864" cy="336"/>
          </a:xfrm>
        </p:grpSpPr>
        <p:sp>
          <p:nvSpPr>
            <p:cNvPr id="17441" name="Text Box 7"/>
            <p:cNvSpPr txBox="1">
              <a:spLocks noChangeArrowheads="1"/>
            </p:cNvSpPr>
            <p:nvPr/>
          </p:nvSpPr>
          <p:spPr bwMode="auto">
            <a:xfrm>
              <a:off x="5232" y="278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y</a:t>
              </a:r>
            </a:p>
          </p:txBody>
        </p:sp>
        <p:sp>
          <p:nvSpPr>
            <p:cNvPr id="17442" name="Rectangle 8"/>
            <p:cNvSpPr>
              <a:spLocks noChangeArrowheads="1"/>
            </p:cNvSpPr>
            <p:nvPr/>
          </p:nvSpPr>
          <p:spPr bwMode="auto">
            <a:xfrm>
              <a:off x="4752" y="2736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31465" name="Group 9"/>
          <p:cNvGrpSpPr>
            <a:grpSpLocks/>
          </p:cNvGrpSpPr>
          <p:nvPr/>
        </p:nvGrpSpPr>
        <p:grpSpPr bwMode="auto">
          <a:xfrm>
            <a:off x="7144579" y="4250981"/>
            <a:ext cx="1295400" cy="533400"/>
            <a:chOff x="4752" y="3360"/>
            <a:chExt cx="816" cy="336"/>
          </a:xfrm>
        </p:grpSpPr>
        <p:sp>
          <p:nvSpPr>
            <p:cNvPr id="17439" name="Rectangle 10"/>
            <p:cNvSpPr>
              <a:spLocks noChangeArrowheads="1"/>
            </p:cNvSpPr>
            <p:nvPr/>
          </p:nvSpPr>
          <p:spPr bwMode="auto">
            <a:xfrm>
              <a:off x="4752" y="3360"/>
              <a:ext cx="480" cy="336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40" name="Text Box 11"/>
            <p:cNvSpPr txBox="1">
              <a:spLocks noChangeArrowheads="1"/>
            </p:cNvSpPr>
            <p:nvPr/>
          </p:nvSpPr>
          <p:spPr bwMode="auto">
            <a:xfrm>
              <a:off x="5232" y="336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</p:grpSp>
      <p:sp>
        <p:nvSpPr>
          <p:cNvPr id="531473" name="Text Box 17"/>
          <p:cNvSpPr txBox="1">
            <a:spLocks noChangeArrowheads="1"/>
          </p:cNvSpPr>
          <p:nvPr/>
        </p:nvSpPr>
        <p:spPr bwMode="auto">
          <a:xfrm>
            <a:off x="7163629" y="2474568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/>
              <a:t>&amp;a</a:t>
            </a:r>
          </a:p>
        </p:txBody>
      </p:sp>
      <p:sp>
        <p:nvSpPr>
          <p:cNvPr id="531474" name="Text Box 18"/>
          <p:cNvSpPr txBox="1">
            <a:spLocks noChangeArrowheads="1"/>
          </p:cNvSpPr>
          <p:nvPr/>
        </p:nvSpPr>
        <p:spPr bwMode="auto">
          <a:xfrm>
            <a:off x="7154104" y="3355631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/>
              <a:t>&amp;b</a:t>
            </a:r>
          </a:p>
        </p:txBody>
      </p:sp>
      <p:grpSp>
        <p:nvGrpSpPr>
          <p:cNvPr id="15386" name="Group 31"/>
          <p:cNvGrpSpPr>
            <a:grpSpLocks/>
          </p:cNvGrpSpPr>
          <p:nvPr/>
        </p:nvGrpSpPr>
        <p:grpSpPr bwMode="auto">
          <a:xfrm>
            <a:off x="4877629" y="2398368"/>
            <a:ext cx="1371600" cy="533400"/>
            <a:chOff x="3360" y="384"/>
            <a:chExt cx="864" cy="336"/>
          </a:xfrm>
        </p:grpSpPr>
        <p:sp>
          <p:nvSpPr>
            <p:cNvPr id="17437" name="Rectangle 32"/>
            <p:cNvSpPr>
              <a:spLocks noChangeArrowheads="1"/>
            </p:cNvSpPr>
            <p:nvPr/>
          </p:nvSpPr>
          <p:spPr bwMode="auto">
            <a:xfrm>
              <a:off x="3744" y="384"/>
              <a:ext cx="480" cy="3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17438" name="Text Box 33"/>
            <p:cNvSpPr txBox="1">
              <a:spLocks noChangeArrowheads="1"/>
            </p:cNvSpPr>
            <p:nvPr/>
          </p:nvSpPr>
          <p:spPr bwMode="auto">
            <a:xfrm>
              <a:off x="3360" y="43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</p:grpSp>
      <p:grpSp>
        <p:nvGrpSpPr>
          <p:cNvPr id="15387" name="Group 34"/>
          <p:cNvGrpSpPr>
            <a:grpSpLocks/>
          </p:cNvGrpSpPr>
          <p:nvPr/>
        </p:nvGrpSpPr>
        <p:grpSpPr bwMode="auto">
          <a:xfrm>
            <a:off x="4868104" y="3279431"/>
            <a:ext cx="1371600" cy="533400"/>
            <a:chOff x="3360" y="1440"/>
            <a:chExt cx="864" cy="336"/>
          </a:xfrm>
        </p:grpSpPr>
        <p:sp>
          <p:nvSpPr>
            <p:cNvPr id="17435" name="Rectangle 35"/>
            <p:cNvSpPr>
              <a:spLocks noChangeArrowheads="1"/>
            </p:cNvSpPr>
            <p:nvPr/>
          </p:nvSpPr>
          <p:spPr bwMode="auto">
            <a:xfrm>
              <a:off x="3744" y="1440"/>
              <a:ext cx="480" cy="3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17436" name="Text Box 36"/>
            <p:cNvSpPr txBox="1">
              <a:spLocks noChangeArrowheads="1"/>
            </p:cNvSpPr>
            <p:nvPr/>
          </p:nvSpPr>
          <p:spPr bwMode="auto">
            <a:xfrm>
              <a:off x="3360" y="148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</p:grpSp>
      <p:sp>
        <p:nvSpPr>
          <p:cNvPr id="15390" name="Text Box 39"/>
          <p:cNvSpPr txBox="1">
            <a:spLocks noChangeArrowheads="1"/>
          </p:cNvSpPr>
          <p:nvPr/>
        </p:nvSpPr>
        <p:spPr bwMode="auto">
          <a:xfrm>
            <a:off x="5458654" y="192211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main</a:t>
            </a:r>
          </a:p>
        </p:txBody>
      </p:sp>
      <p:sp>
        <p:nvSpPr>
          <p:cNvPr id="531498" name="Text Box 42"/>
          <p:cNvSpPr txBox="1">
            <a:spLocks noChangeArrowheads="1"/>
          </p:cNvSpPr>
          <p:nvPr/>
        </p:nvSpPr>
        <p:spPr bwMode="auto">
          <a:xfrm>
            <a:off x="7154104" y="1931643"/>
            <a:ext cx="806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max</a:t>
            </a:r>
          </a:p>
        </p:txBody>
      </p:sp>
      <p:sp>
        <p:nvSpPr>
          <p:cNvPr id="17420" name="Text Box 3"/>
          <p:cNvSpPr txBox="1">
            <a:spLocks noChangeArrowheads="1"/>
          </p:cNvSpPr>
          <p:nvPr/>
        </p:nvSpPr>
        <p:spPr bwMode="auto">
          <a:xfrm>
            <a:off x="177730" y="1173714"/>
            <a:ext cx="44958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dirty="0"/>
              <a:t>#include 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pPr algn="l" eaLnBrk="1" hangingPunct="1"/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*</a:t>
            </a:r>
            <a:r>
              <a:rPr lang="en-US" altLang="zh-CN" dirty="0">
                <a:solidFill>
                  <a:srgbClr val="009900"/>
                </a:solidFill>
              </a:rPr>
              <a:t>max</a:t>
            </a:r>
            <a:r>
              <a:rPr lang="en-US" altLang="zh-CN" dirty="0">
                <a:solidFill>
                  <a:srgbClr val="3333FF"/>
                </a:solidFill>
              </a:rPr>
              <a:t>(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*x ,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*y)</a:t>
            </a:r>
          </a:p>
          <a:p>
            <a:pPr algn="l" eaLnBrk="1" hangingPunct="1"/>
            <a:r>
              <a:rPr lang="en-US" altLang="zh-CN" dirty="0">
                <a:solidFill>
                  <a:srgbClr val="3333FF"/>
                </a:solidFill>
              </a:rPr>
              <a:t>{    </a:t>
            </a:r>
          </a:p>
          <a:p>
            <a:pPr algn="l" eaLnBrk="1" hangingPunct="1"/>
            <a:r>
              <a:rPr lang="en-US" altLang="zh-CN" dirty="0">
                <a:solidFill>
                  <a:srgbClr val="3333FF"/>
                </a:solidFill>
              </a:rPr>
              <a:t> 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*p</a:t>
            </a:r>
            <a:r>
              <a:rPr lang="en-US" altLang="zh-CN" dirty="0">
                <a:solidFill>
                  <a:srgbClr val="3333FF"/>
                </a:solidFill>
              </a:rPr>
              <a:t>;</a:t>
            </a:r>
          </a:p>
          <a:p>
            <a:pPr algn="l" eaLnBrk="1" hangingPunct="1"/>
            <a:r>
              <a:rPr lang="en-US" altLang="zh-CN" dirty="0">
                <a:solidFill>
                  <a:srgbClr val="3333FF"/>
                </a:solidFill>
              </a:rPr>
              <a:t>      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3333FF"/>
                </a:solidFill>
              </a:rPr>
              <a:t> = *x&gt;*y ? 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dirty="0">
                <a:solidFill>
                  <a:srgbClr val="3333FF"/>
                </a:solidFill>
              </a:rPr>
              <a:t> : </a:t>
            </a:r>
            <a:r>
              <a:rPr lang="en-US" altLang="zh-CN" dirty="0">
                <a:solidFill>
                  <a:srgbClr val="FF0000"/>
                </a:solidFill>
              </a:rPr>
              <a:t>y</a:t>
            </a:r>
            <a:r>
              <a:rPr lang="en-US" altLang="zh-CN" dirty="0">
                <a:solidFill>
                  <a:srgbClr val="3333FF"/>
                </a:solidFill>
              </a:rPr>
              <a:t>;</a:t>
            </a:r>
          </a:p>
          <a:p>
            <a:pPr algn="l" eaLnBrk="1" hangingPunct="1"/>
            <a:r>
              <a:rPr lang="en-US" altLang="zh-CN" dirty="0">
                <a:solidFill>
                  <a:srgbClr val="3333FF"/>
                </a:solidFill>
              </a:rPr>
              <a:t>      return 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3333FF"/>
                </a:solidFill>
              </a:rPr>
              <a:t>;</a:t>
            </a:r>
          </a:p>
          <a:p>
            <a:pPr algn="l" eaLnBrk="1" hangingPunct="1"/>
            <a:r>
              <a:rPr lang="en-US" altLang="zh-CN" dirty="0">
                <a:solidFill>
                  <a:srgbClr val="3333FF"/>
                </a:solidFill>
              </a:rPr>
              <a:t>}</a:t>
            </a:r>
          </a:p>
          <a:p>
            <a:pPr algn="l" eaLnBrk="1" hangingPunct="1"/>
            <a:r>
              <a:rPr lang="en-US" altLang="zh-CN" dirty="0" err="1"/>
              <a:t>int</a:t>
            </a:r>
            <a:r>
              <a:rPr lang="en-US" altLang="zh-CN" dirty="0"/>
              <a:t>  main( )</a:t>
            </a:r>
          </a:p>
          <a:p>
            <a:pPr algn="l" eaLnBrk="1" hangingPunct="1"/>
            <a:r>
              <a:rPr lang="en-US" altLang="zh-CN" dirty="0"/>
              <a:t>{ </a:t>
            </a:r>
          </a:p>
          <a:p>
            <a:pPr algn="l" eaLnBrk="1" hangingPunct="1"/>
            <a:r>
              <a:rPr lang="en-US" altLang="zh-CN" dirty="0"/>
              <a:t>      </a:t>
            </a:r>
            <a:r>
              <a:rPr lang="en-US" altLang="zh-CN" dirty="0" err="1"/>
              <a:t>int</a:t>
            </a:r>
            <a:r>
              <a:rPr lang="en-US" altLang="zh-CN" dirty="0"/>
              <a:t>    a , b, </a:t>
            </a:r>
            <a:r>
              <a:rPr lang="en-US" altLang="zh-CN" dirty="0">
                <a:solidFill>
                  <a:srgbClr val="FF0000"/>
                </a:solidFill>
              </a:rPr>
              <a:t>*p1</a:t>
            </a:r>
            <a:r>
              <a:rPr lang="en-US" altLang="zh-CN" dirty="0"/>
              <a:t>;</a:t>
            </a:r>
          </a:p>
          <a:p>
            <a:pPr algn="l" eaLnBrk="1" hangingPunct="1"/>
            <a:r>
              <a:rPr lang="en-US" altLang="zh-CN" dirty="0"/>
              <a:t>  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d%d</a:t>
            </a:r>
            <a:r>
              <a:rPr lang="en-US" altLang="zh-CN" dirty="0"/>
              <a:t>",&amp;a, &amp;b);</a:t>
            </a:r>
          </a:p>
          <a:p>
            <a:pPr algn="l" eaLnBrk="1" hangingPunct="1"/>
            <a:r>
              <a:rPr lang="en-US" altLang="zh-CN" dirty="0">
                <a:solidFill>
                  <a:srgbClr val="3333FF"/>
                </a:solidFill>
              </a:rPr>
              <a:t>      </a:t>
            </a:r>
            <a:r>
              <a:rPr lang="en-US" altLang="zh-CN" dirty="0">
                <a:solidFill>
                  <a:srgbClr val="FF0000"/>
                </a:solidFill>
              </a:rPr>
              <a:t>p1</a:t>
            </a:r>
            <a:r>
              <a:rPr lang="en-US" altLang="zh-CN" dirty="0">
                <a:solidFill>
                  <a:srgbClr val="3333FF"/>
                </a:solidFill>
              </a:rPr>
              <a:t> = </a:t>
            </a:r>
            <a:r>
              <a:rPr lang="en-US" altLang="zh-CN" dirty="0">
                <a:solidFill>
                  <a:srgbClr val="FF0000"/>
                </a:solidFill>
              </a:rPr>
              <a:t>max</a:t>
            </a:r>
            <a:r>
              <a:rPr lang="en-US" altLang="zh-CN" dirty="0">
                <a:solidFill>
                  <a:srgbClr val="3333FF"/>
                </a:solidFill>
              </a:rPr>
              <a:t>(</a:t>
            </a:r>
            <a:r>
              <a:rPr lang="en-US" altLang="zh-CN" dirty="0">
                <a:solidFill>
                  <a:srgbClr val="FF0000"/>
                </a:solidFill>
              </a:rPr>
              <a:t>&amp;a</a:t>
            </a:r>
            <a:r>
              <a:rPr lang="en-US" altLang="zh-CN" dirty="0">
                <a:solidFill>
                  <a:srgbClr val="3333FF"/>
                </a:solidFill>
              </a:rPr>
              <a:t> , </a:t>
            </a:r>
            <a:r>
              <a:rPr lang="en-US" altLang="zh-CN" dirty="0">
                <a:solidFill>
                  <a:srgbClr val="FF0000"/>
                </a:solidFill>
              </a:rPr>
              <a:t>&amp;b</a:t>
            </a:r>
            <a:r>
              <a:rPr lang="en-US" altLang="zh-CN" dirty="0">
                <a:solidFill>
                  <a:srgbClr val="3333FF"/>
                </a:solidFill>
              </a:rPr>
              <a:t>);</a:t>
            </a:r>
          </a:p>
          <a:p>
            <a:pPr algn="l" eaLnBrk="1" hangingPunct="1"/>
            <a:r>
              <a:rPr lang="en-US" altLang="zh-CN" dirty="0">
                <a:solidFill>
                  <a:srgbClr val="3333FF"/>
                </a:solidFill>
              </a:rPr>
              <a:t>      </a:t>
            </a:r>
            <a:r>
              <a:rPr lang="en-US" altLang="zh-CN" dirty="0" err="1"/>
              <a:t>printf</a:t>
            </a:r>
            <a:r>
              <a:rPr lang="en-US" altLang="zh-CN" dirty="0"/>
              <a:t>("max=%d\n", </a:t>
            </a:r>
            <a:r>
              <a:rPr lang="en-US" altLang="zh-CN" dirty="0">
                <a:solidFill>
                  <a:srgbClr val="FF0000"/>
                </a:solidFill>
              </a:rPr>
              <a:t>*p1</a:t>
            </a:r>
            <a:r>
              <a:rPr lang="en-US" altLang="zh-CN" dirty="0"/>
              <a:t>);</a:t>
            </a:r>
          </a:p>
          <a:p>
            <a:pPr algn="l" eaLnBrk="1" hangingPunct="1"/>
            <a:r>
              <a:rPr lang="en-US" altLang="zh-CN" dirty="0"/>
              <a:t>}</a:t>
            </a:r>
          </a:p>
        </p:txBody>
      </p:sp>
      <p:sp>
        <p:nvSpPr>
          <p:cNvPr id="15407" name="Rectangle 47"/>
          <p:cNvSpPr>
            <a:spLocks noChangeArrowheads="1"/>
          </p:cNvSpPr>
          <p:nvPr/>
        </p:nvSpPr>
        <p:spPr bwMode="auto">
          <a:xfrm>
            <a:off x="5228467" y="1404593"/>
            <a:ext cx="117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输入</a:t>
            </a:r>
            <a:r>
              <a:rPr lang="en-US" altLang="zh-CN"/>
              <a:t>5 8</a:t>
            </a:r>
          </a:p>
        </p:txBody>
      </p:sp>
      <p:grpSp>
        <p:nvGrpSpPr>
          <p:cNvPr id="15411" name="Group 34"/>
          <p:cNvGrpSpPr>
            <a:grpSpLocks/>
          </p:cNvGrpSpPr>
          <p:nvPr/>
        </p:nvGrpSpPr>
        <p:grpSpPr bwMode="auto">
          <a:xfrm>
            <a:off x="4879217" y="4254156"/>
            <a:ext cx="1371600" cy="533400"/>
            <a:chOff x="3360" y="1440"/>
            <a:chExt cx="864" cy="336"/>
          </a:xfrm>
        </p:grpSpPr>
        <p:sp>
          <p:nvSpPr>
            <p:cNvPr id="17433" name="Rectangle 35"/>
            <p:cNvSpPr>
              <a:spLocks noChangeArrowheads="1"/>
            </p:cNvSpPr>
            <p:nvPr/>
          </p:nvSpPr>
          <p:spPr bwMode="auto">
            <a:xfrm>
              <a:off x="3744" y="1440"/>
              <a:ext cx="480" cy="3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zh-CN"/>
            </a:p>
          </p:txBody>
        </p:sp>
        <p:sp>
          <p:nvSpPr>
            <p:cNvPr id="17434" name="Text Box 36"/>
            <p:cNvSpPr txBox="1">
              <a:spLocks noChangeArrowheads="1"/>
            </p:cNvSpPr>
            <p:nvPr/>
          </p:nvSpPr>
          <p:spPr bwMode="auto">
            <a:xfrm>
              <a:off x="3360" y="148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p1</a:t>
              </a:r>
            </a:p>
          </p:txBody>
        </p:sp>
      </p:grpSp>
      <p:sp>
        <p:nvSpPr>
          <p:cNvPr id="15414" name="Line 54"/>
          <p:cNvSpPr>
            <a:spLocks noChangeShapeType="1"/>
          </p:cNvSpPr>
          <p:nvPr/>
        </p:nvSpPr>
        <p:spPr bwMode="auto">
          <a:xfrm flipH="1">
            <a:off x="6301617" y="4512918"/>
            <a:ext cx="8159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415" name="Line 55"/>
          <p:cNvSpPr>
            <a:spLocks noChangeShapeType="1"/>
          </p:cNvSpPr>
          <p:nvPr/>
        </p:nvSpPr>
        <p:spPr bwMode="auto">
          <a:xfrm>
            <a:off x="6282567" y="2649193"/>
            <a:ext cx="814387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416" name="Line 56"/>
          <p:cNvSpPr>
            <a:spLocks noChangeShapeType="1"/>
          </p:cNvSpPr>
          <p:nvPr/>
        </p:nvSpPr>
        <p:spPr bwMode="auto">
          <a:xfrm>
            <a:off x="6282567" y="3555656"/>
            <a:ext cx="814387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1497" name="Rectangle 41"/>
          <p:cNvSpPr>
            <a:spLocks noChangeArrowheads="1"/>
          </p:cNvSpPr>
          <p:nvPr/>
        </p:nvSpPr>
        <p:spPr bwMode="auto">
          <a:xfrm>
            <a:off x="7147754" y="4249393"/>
            <a:ext cx="762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3300"/>
                </a:solidFill>
              </a:rPr>
              <a:t>&amp;b</a:t>
            </a:r>
          </a:p>
        </p:txBody>
      </p:sp>
      <p:sp>
        <p:nvSpPr>
          <p:cNvPr id="2" name="Rectangle 41"/>
          <p:cNvSpPr>
            <a:spLocks noChangeArrowheads="1"/>
          </p:cNvSpPr>
          <p:nvPr/>
        </p:nvSpPr>
        <p:spPr bwMode="auto">
          <a:xfrm>
            <a:off x="5487229" y="4250981"/>
            <a:ext cx="762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&amp;b</a:t>
            </a:r>
          </a:p>
        </p:txBody>
      </p:sp>
      <p:sp>
        <p:nvSpPr>
          <p:cNvPr id="3" name="Rectangle 41"/>
          <p:cNvSpPr>
            <a:spLocks noChangeArrowheads="1"/>
          </p:cNvSpPr>
          <p:nvPr/>
        </p:nvSpPr>
        <p:spPr bwMode="auto">
          <a:xfrm>
            <a:off x="5488817" y="2399956"/>
            <a:ext cx="762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4" name="Rectangle 41"/>
          <p:cNvSpPr>
            <a:spLocks noChangeArrowheads="1"/>
          </p:cNvSpPr>
          <p:nvPr/>
        </p:nvSpPr>
        <p:spPr bwMode="auto">
          <a:xfrm>
            <a:off x="5479292" y="3279431"/>
            <a:ext cx="762000" cy="533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8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6301617" y="2633318"/>
            <a:ext cx="795337" cy="958850"/>
            <a:chOff x="6230938" y="2089150"/>
            <a:chExt cx="795337" cy="958850"/>
          </a:xfrm>
        </p:grpSpPr>
        <p:cxnSp>
          <p:nvCxnSpPr>
            <p:cNvPr id="17431" name="直接箭头连接符 5"/>
            <p:cNvCxnSpPr>
              <a:cxnSpLocks noChangeShapeType="1"/>
            </p:cNvCxnSpPr>
            <p:nvPr/>
          </p:nvCxnSpPr>
          <p:spPr bwMode="auto">
            <a:xfrm flipH="1">
              <a:off x="6230938" y="2089150"/>
              <a:ext cx="795337" cy="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32" name="直接箭头连接符 7"/>
            <p:cNvCxnSpPr>
              <a:cxnSpLocks noChangeShapeType="1"/>
            </p:cNvCxnSpPr>
            <p:nvPr/>
          </p:nvCxnSpPr>
          <p:spPr bwMode="auto">
            <a:xfrm flipH="1">
              <a:off x="6230938" y="3048000"/>
              <a:ext cx="795337" cy="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7" name="直接箭头连接符 7"/>
          <p:cNvCxnSpPr>
            <a:cxnSpLocks noChangeShapeType="1"/>
          </p:cNvCxnSpPr>
          <p:nvPr/>
        </p:nvCxnSpPr>
        <p:spPr bwMode="auto">
          <a:xfrm flipH="1" flipV="1">
            <a:off x="6403217" y="3726673"/>
            <a:ext cx="693737" cy="52272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箭头连接符 7"/>
          <p:cNvCxnSpPr>
            <a:cxnSpLocks noChangeShapeType="1"/>
            <a:stCxn id="2" idx="0"/>
            <a:endCxn id="4" idx="2"/>
          </p:cNvCxnSpPr>
          <p:nvPr/>
        </p:nvCxnSpPr>
        <p:spPr bwMode="auto">
          <a:xfrm flipH="1" flipV="1">
            <a:off x="5860292" y="3812831"/>
            <a:ext cx="7937" cy="4381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Rectangle 33"/>
          <p:cNvSpPr>
            <a:spLocks noChangeArrowheads="1"/>
          </p:cNvSpPr>
          <p:nvPr/>
        </p:nvSpPr>
        <p:spPr bwMode="auto">
          <a:xfrm>
            <a:off x="177730" y="656051"/>
            <a:ext cx="7747069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6.6 </a:t>
            </a:r>
            <a:r>
              <a:rPr lang="zh-CN" altLang="en-US" dirty="0"/>
              <a:t>利用返回指针的函数求两个数的最大值</a:t>
            </a:r>
          </a:p>
        </p:txBody>
      </p:sp>
      <p:sp>
        <p:nvSpPr>
          <p:cNvPr id="41" name="Rectangle 2"/>
          <p:cNvSpPr txBox="1">
            <a:spLocks noChangeArrowheads="1"/>
          </p:cNvSpPr>
          <p:nvPr/>
        </p:nvSpPr>
        <p:spPr>
          <a:xfrm>
            <a:off x="177730" y="115888"/>
            <a:ext cx="5414962" cy="587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/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6.2.2 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返回指针值的函数</a:t>
            </a:r>
          </a:p>
        </p:txBody>
      </p:sp>
    </p:spTree>
    <p:extLst>
      <p:ext uri="{BB962C8B-B14F-4D97-AF65-F5344CB8AC3E}">
        <p14:creationId xmlns:p14="http://schemas.microsoft.com/office/powerpoint/2010/main" val="295769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3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3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3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3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3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53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5" dur="500"/>
                                        <p:tgtEl>
                                          <p:spTgt spid="531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8" dur="500"/>
                                        <p:tgtEl>
                                          <p:spTgt spid="531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1" dur="500"/>
                                        <p:tgtEl>
                                          <p:spTgt spid="531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4" dur="500"/>
                                        <p:tgtEl>
                                          <p:spTgt spid="531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7" dur="500"/>
                                        <p:tgtEl>
                                          <p:spTgt spid="531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0" dur="500"/>
                                        <p:tgtEl>
                                          <p:spTgt spid="5314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3" dur="500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6" dur="500"/>
                                        <p:tgtEl>
                                          <p:spTgt spid="5314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9" dur="500"/>
                                        <p:tgtEl>
                                          <p:spTgt spid="15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2" dur="500"/>
                                        <p:tgtEl>
                                          <p:spTgt spid="15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73" grpId="0"/>
      <p:bldP spid="531473" grpId="1"/>
      <p:bldP spid="531474" grpId="0"/>
      <p:bldP spid="531474" grpId="1"/>
      <p:bldP spid="15390" grpId="0"/>
      <p:bldP spid="531498" grpId="0"/>
      <p:bldP spid="531498" grpId="1"/>
      <p:bldP spid="15407" grpId="0"/>
      <p:bldP spid="531497" grpId="0" animBg="1"/>
      <p:bldP spid="531497" grpId="1" animBg="1"/>
      <p:bldP spid="2" grpId="0" animBg="1"/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3"/>
          <p:cNvSpPr txBox="1">
            <a:spLocks noChangeArrowheads="1"/>
          </p:cNvSpPr>
          <p:nvPr/>
        </p:nvSpPr>
        <p:spPr bwMode="auto">
          <a:xfrm>
            <a:off x="254000" y="962025"/>
            <a:ext cx="73152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/>
              <a:t> 一</a:t>
            </a:r>
            <a:r>
              <a:rPr lang="en-US" altLang="zh-CN"/>
              <a:t>. </a:t>
            </a:r>
            <a:r>
              <a:rPr lang="zh-CN" altLang="en-US"/>
              <a:t>指向一维数组的指针和指针变量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/>
              <a:t> </a:t>
            </a:r>
            <a:r>
              <a:rPr lang="en-US" altLang="zh-CN"/>
              <a:t>1. </a:t>
            </a:r>
            <a:r>
              <a:rPr lang="zh-CN" altLang="en-US"/>
              <a:t>一维数组及元素的地址表示</a:t>
            </a:r>
          </a:p>
          <a:p>
            <a:pPr algn="l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/>
              <a:t>     </a:t>
            </a:r>
            <a:r>
              <a:rPr lang="en-US" altLang="zh-CN">
                <a:solidFill>
                  <a:srgbClr val="3333FF"/>
                </a:solidFill>
              </a:rPr>
              <a:t>int   a[5] = { 1, 2, 3, 4, 5 } ;</a:t>
            </a:r>
            <a:r>
              <a:rPr lang="en-US" altLang="zh-CN">
                <a:solidFill>
                  <a:schemeClr val="folHlink"/>
                </a:solidFill>
              </a:rPr>
              <a:t>        </a:t>
            </a:r>
            <a:r>
              <a:rPr lang="en-US" altLang="zh-CN"/>
              <a:t>    </a:t>
            </a:r>
            <a:r>
              <a:rPr lang="zh-CN" altLang="en-US"/>
              <a:t>数组的地址 </a:t>
            </a:r>
            <a:r>
              <a:rPr lang="en-US" altLang="zh-CN"/>
              <a:t>: </a:t>
            </a:r>
            <a:r>
              <a:rPr lang="en-US" altLang="zh-CN">
                <a:solidFill>
                  <a:srgbClr val="FF0000"/>
                </a:solidFill>
              </a:rPr>
              <a:t>a    </a:t>
            </a:r>
          </a:p>
        </p:txBody>
      </p:sp>
      <p:graphicFrame>
        <p:nvGraphicFramePr>
          <p:cNvPr id="532521" name="Group 41"/>
          <p:cNvGraphicFramePr>
            <a:graphicFrameLocks noGrp="1"/>
          </p:cNvGraphicFramePr>
          <p:nvPr/>
        </p:nvGraphicFramePr>
        <p:xfrm>
          <a:off x="415925" y="2343150"/>
          <a:ext cx="5257800" cy="2974975"/>
        </p:xfrm>
        <a:graphic>
          <a:graphicData uri="http://schemas.openxmlformats.org/drawingml/2006/table">
            <a:tbl>
              <a:tblPr/>
              <a:tblGrid>
                <a:gridCol w="1373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元素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地址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(a+1)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(a+2)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(a+3)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(a+4)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a[4]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&amp;a[4]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470" name="Rectangle 43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6.3.1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一维数组与指针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6327775" y="2470150"/>
            <a:ext cx="2640013" cy="2332038"/>
            <a:chOff x="6004791" y="2470006"/>
            <a:chExt cx="2640441" cy="2332139"/>
          </a:xfrm>
        </p:grpSpPr>
        <p:sp>
          <p:nvSpPr>
            <p:cNvPr id="18487" name="Text Box 37"/>
            <p:cNvSpPr txBox="1">
              <a:spLocks noChangeArrowheads="1"/>
            </p:cNvSpPr>
            <p:nvPr/>
          </p:nvSpPr>
          <p:spPr bwMode="auto">
            <a:xfrm>
              <a:off x="7868223" y="2470006"/>
              <a:ext cx="777009" cy="23267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05000"/>
                </a:lnSpc>
                <a:spcBef>
                  <a:spcPct val="20000"/>
                </a:spcBef>
              </a:pPr>
              <a:r>
                <a:rPr kumimoji="0" lang="en-US" altLang="zh-CN">
                  <a:solidFill>
                    <a:schemeClr val="tx2"/>
                  </a:solidFill>
                </a:rPr>
                <a:t>a[0]</a:t>
              </a:r>
            </a:p>
            <a:p>
              <a:pPr algn="l">
                <a:lnSpc>
                  <a:spcPct val="105000"/>
                </a:lnSpc>
                <a:spcBef>
                  <a:spcPct val="20000"/>
                </a:spcBef>
              </a:pPr>
              <a:r>
                <a:rPr kumimoji="0" lang="en-US" altLang="zh-CN">
                  <a:solidFill>
                    <a:schemeClr val="tx2"/>
                  </a:solidFill>
                </a:rPr>
                <a:t>a[1]</a:t>
              </a:r>
            </a:p>
            <a:p>
              <a:pPr algn="l">
                <a:lnSpc>
                  <a:spcPct val="105000"/>
                </a:lnSpc>
                <a:spcBef>
                  <a:spcPct val="20000"/>
                </a:spcBef>
              </a:pPr>
              <a:r>
                <a:rPr kumimoji="0" lang="en-US" altLang="zh-CN">
                  <a:solidFill>
                    <a:schemeClr val="tx2"/>
                  </a:solidFill>
                </a:rPr>
                <a:t>a[2]</a:t>
              </a:r>
            </a:p>
            <a:p>
              <a:pPr algn="l">
                <a:lnSpc>
                  <a:spcPct val="105000"/>
                </a:lnSpc>
                <a:spcBef>
                  <a:spcPct val="20000"/>
                </a:spcBef>
              </a:pPr>
              <a:r>
                <a:rPr kumimoji="0" lang="en-US" altLang="zh-CN">
                  <a:solidFill>
                    <a:schemeClr val="tx2"/>
                  </a:solidFill>
                </a:rPr>
                <a:t>a[3]</a:t>
              </a:r>
            </a:p>
            <a:p>
              <a:pPr algn="l">
                <a:lnSpc>
                  <a:spcPct val="105000"/>
                </a:lnSpc>
                <a:spcBef>
                  <a:spcPct val="20000"/>
                </a:spcBef>
              </a:pPr>
              <a:r>
                <a:rPr kumimoji="0" lang="en-US" altLang="zh-CN">
                  <a:solidFill>
                    <a:schemeClr val="tx2"/>
                  </a:solidFill>
                </a:rPr>
                <a:t>a[4]</a:t>
              </a:r>
            </a:p>
          </p:txBody>
        </p:sp>
        <p:sp>
          <p:nvSpPr>
            <p:cNvPr id="18488" name="Text Box 38"/>
            <p:cNvSpPr txBox="1">
              <a:spLocks noChangeArrowheads="1"/>
            </p:cNvSpPr>
            <p:nvPr/>
          </p:nvSpPr>
          <p:spPr bwMode="auto">
            <a:xfrm>
              <a:off x="6004791" y="2500168"/>
              <a:ext cx="838200" cy="23019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20000"/>
                </a:spcBef>
              </a:pPr>
              <a:r>
                <a:rPr lang="zh-CN" altLang="en-US">
                  <a:solidFill>
                    <a:srgbClr val="006600"/>
                  </a:solidFill>
                </a:rPr>
                <a:t>1010</a:t>
              </a:r>
            </a:p>
            <a:p>
              <a:pPr eaLnBrk="1" hangingPunct="1">
                <a:lnSpc>
                  <a:spcPct val="105000"/>
                </a:lnSpc>
                <a:spcBef>
                  <a:spcPct val="20000"/>
                </a:spcBef>
              </a:pPr>
              <a:r>
                <a:rPr lang="zh-CN" altLang="en-US">
                  <a:solidFill>
                    <a:srgbClr val="006600"/>
                  </a:solidFill>
                </a:rPr>
                <a:t>101</a:t>
              </a:r>
              <a:r>
                <a:rPr lang="en-US" altLang="zh-CN">
                  <a:solidFill>
                    <a:srgbClr val="006600"/>
                  </a:solidFill>
                </a:rPr>
                <a:t>4</a:t>
              </a:r>
            </a:p>
            <a:p>
              <a:pPr eaLnBrk="1" hangingPunct="1">
                <a:lnSpc>
                  <a:spcPct val="105000"/>
                </a:lnSpc>
                <a:spcBef>
                  <a:spcPct val="20000"/>
                </a:spcBef>
              </a:pPr>
              <a:r>
                <a:rPr lang="zh-CN" altLang="en-US">
                  <a:solidFill>
                    <a:srgbClr val="006600"/>
                  </a:solidFill>
                </a:rPr>
                <a:t>101</a:t>
              </a:r>
              <a:r>
                <a:rPr lang="en-US" altLang="zh-CN">
                  <a:solidFill>
                    <a:srgbClr val="006600"/>
                  </a:solidFill>
                </a:rPr>
                <a:t>8</a:t>
              </a:r>
            </a:p>
            <a:p>
              <a:pPr eaLnBrk="1" hangingPunct="1">
                <a:lnSpc>
                  <a:spcPct val="105000"/>
                </a:lnSpc>
                <a:spcBef>
                  <a:spcPct val="20000"/>
                </a:spcBef>
              </a:pPr>
              <a:r>
                <a:rPr lang="zh-CN" altLang="en-US">
                  <a:solidFill>
                    <a:srgbClr val="006600"/>
                  </a:solidFill>
                </a:rPr>
                <a:t>10</a:t>
              </a:r>
              <a:r>
                <a:rPr lang="en-US" altLang="zh-CN">
                  <a:solidFill>
                    <a:srgbClr val="006600"/>
                  </a:solidFill>
                </a:rPr>
                <a:t>22</a:t>
              </a:r>
            </a:p>
            <a:p>
              <a:pPr eaLnBrk="1" hangingPunct="1">
                <a:lnSpc>
                  <a:spcPct val="105000"/>
                </a:lnSpc>
                <a:spcBef>
                  <a:spcPct val="20000"/>
                </a:spcBef>
              </a:pPr>
              <a:r>
                <a:rPr lang="zh-CN" altLang="en-US">
                  <a:solidFill>
                    <a:srgbClr val="006600"/>
                  </a:solidFill>
                </a:rPr>
                <a:t>10</a:t>
              </a:r>
              <a:r>
                <a:rPr lang="en-US" altLang="zh-CN">
                  <a:solidFill>
                    <a:srgbClr val="006600"/>
                  </a:solidFill>
                </a:rPr>
                <a:t>26</a:t>
              </a:r>
            </a:p>
          </p:txBody>
        </p:sp>
      </p:grpSp>
      <p:graphicFrame>
        <p:nvGraphicFramePr>
          <p:cNvPr id="8" name="Group 72"/>
          <p:cNvGraphicFramePr>
            <a:graphicFrameLocks noGrp="1"/>
          </p:cNvGraphicFramePr>
          <p:nvPr/>
        </p:nvGraphicFramePr>
        <p:xfrm>
          <a:off x="7229475" y="2501900"/>
          <a:ext cx="914400" cy="23034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2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3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4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5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9" name="直接箭头连接符 8"/>
          <p:cNvCxnSpPr>
            <a:cxnSpLocks noChangeShapeType="1"/>
            <a:endCxn id="8" idx="0"/>
          </p:cNvCxnSpPr>
          <p:nvPr/>
        </p:nvCxnSpPr>
        <p:spPr bwMode="auto">
          <a:xfrm>
            <a:off x="6983413" y="2076450"/>
            <a:ext cx="703262" cy="425450"/>
          </a:xfrm>
          <a:prstGeom prst="straightConnector1">
            <a:avLst/>
          </a:prstGeom>
          <a:noFill/>
          <a:ln w="38100" algn="ctr">
            <a:solidFill>
              <a:srgbClr val="0000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7679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3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03213" y="841375"/>
            <a:ext cx="4953000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2. </a:t>
            </a:r>
            <a:r>
              <a:rPr lang="zh-CN" altLang="en-US" dirty="0"/>
              <a:t>用指针变量引用数组元素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(1) </a:t>
            </a:r>
            <a:r>
              <a:rPr lang="zh-CN" altLang="en-US" dirty="0"/>
              <a:t>定义指针变量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3333FF"/>
                </a:solidFill>
              </a:rPr>
              <a:t> 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*p ,  a[5] = { 1, 2, 3, 4, 5 } ;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      p = a ;</a:t>
            </a:r>
          </a:p>
        </p:txBody>
      </p:sp>
      <p:sp>
        <p:nvSpPr>
          <p:cNvPr id="533507" name="Text Box 3"/>
          <p:cNvSpPr txBox="1">
            <a:spLocks noChangeArrowheads="1"/>
          </p:cNvSpPr>
          <p:nvPr/>
        </p:nvSpPr>
        <p:spPr bwMode="auto">
          <a:xfrm>
            <a:off x="303213" y="2451098"/>
            <a:ext cx="2971800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/>
              <a:t>(2) </a:t>
            </a:r>
            <a:r>
              <a:rPr lang="zh-CN" altLang="en-US" dirty="0"/>
              <a:t>引用数组元素</a:t>
            </a:r>
          </a:p>
        </p:txBody>
      </p:sp>
      <p:graphicFrame>
        <p:nvGraphicFramePr>
          <p:cNvPr id="533508" name="Group 4"/>
          <p:cNvGraphicFramePr>
            <a:graphicFrameLocks noGrp="1"/>
          </p:cNvGraphicFramePr>
          <p:nvPr>
            <p:extLst/>
          </p:nvPr>
        </p:nvGraphicFramePr>
        <p:xfrm>
          <a:off x="816120" y="2875828"/>
          <a:ext cx="5730875" cy="1447800"/>
        </p:xfrm>
        <a:graphic>
          <a:graphicData uri="http://schemas.openxmlformats.org/drawingml/2006/table">
            <a:tbl>
              <a:tblPr/>
              <a:tblGrid>
                <a:gridCol w="24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下标法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地址法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指针法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个元素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a[k]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(a+k)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(p+k)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第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个元素的地址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&amp;a[k]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a+k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p+k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3530" name="Text Box 26"/>
          <p:cNvSpPr txBox="1">
            <a:spLocks noChangeArrowheads="1"/>
          </p:cNvSpPr>
          <p:nvPr/>
        </p:nvSpPr>
        <p:spPr bwMode="auto">
          <a:xfrm>
            <a:off x="303213" y="4524374"/>
            <a:ext cx="7315200" cy="123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 注意 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①</a:t>
            </a:r>
            <a:r>
              <a:rPr lang="zh-CN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指针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变量也可以加下标 </a:t>
            </a:r>
            <a:r>
              <a:rPr lang="en-US" altLang="zh-CN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p[k] 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等价</a:t>
            </a:r>
            <a:r>
              <a:rPr lang="zh-CN" altLang="en-US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于 </a:t>
            </a:r>
            <a:r>
              <a:rPr lang="en-US" altLang="zh-CN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a[k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]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②</a:t>
            </a:r>
            <a:r>
              <a:rPr lang="zh-CN" altLang="en-US" dirty="0" smtClean="0">
                <a:solidFill>
                  <a:srgbClr val="FF0000"/>
                </a:solidFill>
              </a:rPr>
              <a:t>用</a:t>
            </a:r>
            <a:r>
              <a:rPr lang="zh-CN" altLang="en-US" dirty="0">
                <a:solidFill>
                  <a:srgbClr val="FF0000"/>
                </a:solidFill>
              </a:rPr>
              <a:t>指针变量访问数组元素时要注意下标是否越界</a:t>
            </a:r>
            <a:r>
              <a:rPr lang="zh-CN" altLang="en-US" dirty="0">
                <a:solidFill>
                  <a:srgbClr val="FF3300"/>
                </a:solidFill>
              </a:rPr>
              <a:t> </a:t>
            </a:r>
          </a:p>
        </p:txBody>
      </p:sp>
      <p:sp>
        <p:nvSpPr>
          <p:cNvPr id="19483" name="Rectangle 27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6.3.1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一维数组与指针</a:t>
            </a:r>
          </a:p>
        </p:txBody>
      </p:sp>
    </p:spTree>
    <p:extLst>
      <p:ext uri="{BB962C8B-B14F-4D97-AF65-F5344CB8AC3E}">
        <p14:creationId xmlns:p14="http://schemas.microsoft.com/office/powerpoint/2010/main" val="135482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3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7" grpId="0" autoUpdateAnimBg="0"/>
      <p:bldP spid="53353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7" name="Text Box 3"/>
          <p:cNvSpPr txBox="1">
            <a:spLocks noChangeArrowheads="1"/>
          </p:cNvSpPr>
          <p:nvPr/>
        </p:nvSpPr>
        <p:spPr bwMode="auto">
          <a:xfrm>
            <a:off x="323850" y="866775"/>
            <a:ext cx="3943350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70000"/>
              </a:spcBef>
            </a:pPr>
            <a:r>
              <a:rPr lang="en-US" altLang="zh-CN"/>
              <a:t>int 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a[5] = { 1, 2, 3, 4, 5 }</a:t>
            </a:r>
            <a:r>
              <a:rPr lang="en-US" altLang="zh-CN" b="0"/>
              <a:t> , </a:t>
            </a:r>
            <a:r>
              <a:rPr lang="en-US" altLang="zh-CN">
                <a:solidFill>
                  <a:srgbClr val="FF0000"/>
                </a:solidFill>
              </a:rPr>
              <a:t>*p;</a:t>
            </a:r>
          </a:p>
          <a:p>
            <a:pPr algn="l" eaLnBrk="1" hangingPunct="1">
              <a:spcBef>
                <a:spcPct val="70000"/>
              </a:spcBef>
            </a:pPr>
            <a:r>
              <a:rPr lang="en-US" altLang="zh-CN">
                <a:solidFill>
                  <a:srgbClr val="FF0000"/>
                </a:solidFill>
              </a:rPr>
              <a:t>p=a;</a:t>
            </a:r>
          </a:p>
        </p:txBody>
      </p:sp>
      <p:graphicFrame>
        <p:nvGraphicFramePr>
          <p:cNvPr id="548868" name="Group 4"/>
          <p:cNvGraphicFramePr>
            <a:graphicFrameLocks noGrp="1"/>
          </p:cNvGraphicFramePr>
          <p:nvPr/>
        </p:nvGraphicFramePr>
        <p:xfrm>
          <a:off x="5213350" y="2135188"/>
          <a:ext cx="1368425" cy="352742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元素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(p+1)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(p+2)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(p+3)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(p+4)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48884" name="Group 20"/>
          <p:cNvGraphicFramePr>
            <a:graphicFrameLocks noGrp="1"/>
          </p:cNvGraphicFramePr>
          <p:nvPr/>
        </p:nvGraphicFramePr>
        <p:xfrm>
          <a:off x="4278313" y="2135188"/>
          <a:ext cx="935037" cy="3527424"/>
        </p:xfrm>
        <a:graphic>
          <a:graphicData uri="http://schemas.openxmlformats.org/drawingml/2006/table">
            <a:tbl>
              <a:tblPr/>
              <a:tblGrid>
                <a:gridCol w="935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地址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 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p+1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p+2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p+3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p+4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48900" name="Group 36"/>
          <p:cNvGraphicFramePr>
            <a:graphicFrameLocks noGrp="1"/>
          </p:cNvGraphicFramePr>
          <p:nvPr/>
        </p:nvGraphicFramePr>
        <p:xfrm>
          <a:off x="1476375" y="2135188"/>
          <a:ext cx="1044575" cy="3527424"/>
        </p:xfrm>
        <a:graphic>
          <a:graphicData uri="http://schemas.openxmlformats.org/drawingml/2006/table">
            <a:tbl>
              <a:tblPr/>
              <a:tblGrid>
                <a:gridCol w="10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地址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 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48916" name="Group 52"/>
          <p:cNvGraphicFramePr>
            <a:graphicFrameLocks noGrp="1"/>
          </p:cNvGraphicFramePr>
          <p:nvPr/>
        </p:nvGraphicFramePr>
        <p:xfrm>
          <a:off x="323850" y="2133600"/>
          <a:ext cx="1152525" cy="3527424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元素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a[3]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a[4]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8942" name="AutoShape 78"/>
          <p:cNvSpPr>
            <a:spLocks noChangeArrowheads="1"/>
          </p:cNvSpPr>
          <p:nvPr/>
        </p:nvSpPr>
        <p:spPr bwMode="auto">
          <a:xfrm>
            <a:off x="5260975" y="720725"/>
            <a:ext cx="2597150" cy="1233488"/>
          </a:xfrm>
          <a:prstGeom prst="cloudCallout">
            <a:avLst>
              <a:gd name="adj1" fmla="val -41870"/>
              <a:gd name="adj2" fmla="val 76514"/>
            </a:avLst>
          </a:prstGeom>
          <a:solidFill>
            <a:srgbClr val="FFFFCC"/>
          </a:solidFill>
          <a:ln w="12700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还能如何表示元素？</a:t>
            </a:r>
          </a:p>
        </p:txBody>
      </p:sp>
      <p:sp>
        <p:nvSpPr>
          <p:cNvPr id="20548" name="Rectangle 82"/>
          <p:cNvSpPr>
            <a:spLocks noChangeArrowheads="1"/>
          </p:cNvSpPr>
          <p:nvPr/>
        </p:nvSpPr>
        <p:spPr bwMode="auto">
          <a:xfrm>
            <a:off x="180975" y="115888"/>
            <a:ext cx="741997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6.3.1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一维数组与指针</a:t>
            </a: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小结</a:t>
            </a: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)</a:t>
            </a:r>
            <a:endParaRPr lang="zh-CN" altLang="en-US" sz="3200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548947" name="Group 83"/>
          <p:cNvGraphicFramePr>
            <a:graphicFrameLocks noGrp="1"/>
          </p:cNvGraphicFramePr>
          <p:nvPr/>
        </p:nvGraphicFramePr>
        <p:xfrm>
          <a:off x="6583363" y="2139950"/>
          <a:ext cx="1368425" cy="352742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元素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p[1]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p[2]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p[3]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p[4]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48980" name="Group 116"/>
          <p:cNvGraphicFramePr>
            <a:graphicFrameLocks noGrp="1"/>
          </p:cNvGraphicFramePr>
          <p:nvPr/>
        </p:nvGraphicFramePr>
        <p:xfrm>
          <a:off x="2519363" y="2128838"/>
          <a:ext cx="1044575" cy="3527424"/>
        </p:xfrm>
        <a:graphic>
          <a:graphicData uri="http://schemas.openxmlformats.org/drawingml/2006/table">
            <a:tbl>
              <a:tblPr/>
              <a:tblGrid>
                <a:gridCol w="10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元素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(a+1)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(a+2)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(a+3)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(a+4)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99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8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4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7" grpId="0" build="allAtOnce"/>
      <p:bldP spid="54894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/>
          <p:cNvSpPr txBox="1">
            <a:spLocks noChangeArrowheads="1"/>
          </p:cNvSpPr>
          <p:nvPr/>
        </p:nvSpPr>
        <p:spPr bwMode="auto">
          <a:xfrm>
            <a:off x="209550" y="1333573"/>
            <a:ext cx="5476875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dirty="0"/>
              <a:t> 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  main( )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{ 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a[5] = {1, 3, 5 ,7 ,9 }, </a:t>
            </a:r>
            <a:r>
              <a:rPr lang="en-US" altLang="zh-CN" dirty="0">
                <a:solidFill>
                  <a:srgbClr val="FF0000"/>
                </a:solidFill>
              </a:rPr>
              <a:t>*p</a:t>
            </a:r>
            <a:r>
              <a:rPr lang="en-US" altLang="zh-CN" dirty="0">
                <a:solidFill>
                  <a:srgbClr val="3333FF"/>
                </a:solidFill>
              </a:rPr>
              <a:t> , </a:t>
            </a:r>
            <a:r>
              <a:rPr lang="en-US" altLang="zh-CN" dirty="0" err="1">
                <a:solidFill>
                  <a:srgbClr val="3333FF"/>
                </a:solidFill>
              </a:rPr>
              <a:t>i</a:t>
            </a:r>
            <a:r>
              <a:rPr lang="en-US" altLang="zh-CN" dirty="0">
                <a:solidFill>
                  <a:srgbClr val="3333FF"/>
                </a:solidFill>
              </a:rPr>
              <a:t> ;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for ( </a:t>
            </a:r>
            <a:r>
              <a:rPr lang="en-US" altLang="zh-CN" dirty="0">
                <a:solidFill>
                  <a:srgbClr val="FF0000"/>
                </a:solidFill>
              </a:rPr>
              <a:t>p=a </a:t>
            </a:r>
            <a:r>
              <a:rPr lang="en-US" altLang="zh-CN" dirty="0">
                <a:solidFill>
                  <a:srgbClr val="3333FF"/>
                </a:solidFill>
              </a:rPr>
              <a:t>; </a:t>
            </a:r>
            <a:r>
              <a:rPr lang="en-US" altLang="zh-CN" dirty="0">
                <a:solidFill>
                  <a:srgbClr val="FF0000"/>
                </a:solidFill>
              </a:rPr>
              <a:t>p&lt;a+5</a:t>
            </a:r>
            <a:r>
              <a:rPr lang="en-US" altLang="zh-CN" dirty="0">
                <a:solidFill>
                  <a:srgbClr val="3333FF"/>
                </a:solidFill>
              </a:rPr>
              <a:t> ; </a:t>
            </a:r>
            <a:r>
              <a:rPr lang="en-US" altLang="zh-CN" dirty="0">
                <a:solidFill>
                  <a:srgbClr val="FF0000"/>
                </a:solidFill>
              </a:rPr>
              <a:t>p++</a:t>
            </a:r>
            <a:r>
              <a:rPr lang="en-US" altLang="zh-CN" dirty="0">
                <a:solidFill>
                  <a:srgbClr val="3333FF"/>
                </a:solidFill>
              </a:rPr>
              <a:t> )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       *p=*p+1;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dirty="0">
              <a:solidFill>
                <a:srgbClr val="3333FF"/>
              </a:solidFill>
            </a:endParaRP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/>
              <a:t>    for ( </a:t>
            </a:r>
            <a:r>
              <a:rPr lang="en-US" altLang="zh-CN" dirty="0" err="1"/>
              <a:t>i</a:t>
            </a:r>
            <a:r>
              <a:rPr lang="en-US" altLang="zh-CN" dirty="0"/>
              <a:t>=0 ; </a:t>
            </a:r>
            <a:r>
              <a:rPr lang="en-US" altLang="zh-CN" dirty="0" err="1"/>
              <a:t>i</a:t>
            </a:r>
            <a:r>
              <a:rPr lang="en-US" altLang="zh-CN" dirty="0"/>
              <a:t>&lt;5 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66FF"/>
                </a:solidFill>
              </a:rPr>
              <a:t>         </a:t>
            </a:r>
            <a:r>
              <a:rPr lang="en-US" altLang="zh-CN" dirty="0" err="1">
                <a:solidFill>
                  <a:srgbClr val="3333FF"/>
                </a:solidFill>
              </a:rPr>
              <a:t>printf</a:t>
            </a:r>
            <a:r>
              <a:rPr lang="en-US" altLang="zh-CN" dirty="0">
                <a:solidFill>
                  <a:srgbClr val="3333FF"/>
                </a:solidFill>
              </a:rPr>
              <a:t>("%3d",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*(</a:t>
            </a:r>
            <a:r>
              <a:rPr lang="en-US" altLang="zh-CN" dirty="0" err="1">
                <a:solidFill>
                  <a:srgbClr val="FF0000"/>
                </a:solidFill>
              </a:rPr>
              <a:t>p+i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3333FF"/>
                </a:solidFill>
              </a:rPr>
              <a:t>) ;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("\n") ;</a:t>
            </a: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dirty="0"/>
              <a:t> }</a:t>
            </a:r>
            <a:r>
              <a:rPr lang="en-US" altLang="zh-CN" dirty="0">
                <a:solidFill>
                  <a:srgbClr val="0066FF"/>
                </a:solidFill>
              </a:rPr>
              <a:t>     </a:t>
            </a:r>
          </a:p>
        </p:txBody>
      </p:sp>
      <p:sp>
        <p:nvSpPr>
          <p:cNvPr id="534531" name="Text Box 3"/>
          <p:cNvSpPr txBox="1">
            <a:spLocks noChangeArrowheads="1"/>
          </p:cNvSpPr>
          <p:nvPr/>
        </p:nvSpPr>
        <p:spPr bwMode="auto">
          <a:xfrm>
            <a:off x="528061" y="3543373"/>
            <a:ext cx="10668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7C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p=a ;</a:t>
            </a:r>
          </a:p>
        </p:txBody>
      </p:sp>
      <p:graphicFrame>
        <p:nvGraphicFramePr>
          <p:cNvPr id="53453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43447"/>
              </p:ext>
            </p:extLst>
          </p:nvPr>
        </p:nvGraphicFramePr>
        <p:xfrm>
          <a:off x="7158038" y="1409773"/>
          <a:ext cx="762000" cy="3200401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4548" name="Line 20"/>
          <p:cNvSpPr>
            <a:spLocks noChangeShapeType="1"/>
          </p:cNvSpPr>
          <p:nvPr/>
        </p:nvSpPr>
        <p:spPr bwMode="auto">
          <a:xfrm>
            <a:off x="6472238" y="1638373"/>
            <a:ext cx="685800" cy="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4549" name="Line 21"/>
          <p:cNvSpPr>
            <a:spLocks noChangeShapeType="1"/>
          </p:cNvSpPr>
          <p:nvPr/>
        </p:nvSpPr>
        <p:spPr bwMode="auto">
          <a:xfrm>
            <a:off x="6472238" y="1638373"/>
            <a:ext cx="685800" cy="6096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4550" name="Line 22"/>
          <p:cNvSpPr>
            <a:spLocks noChangeShapeType="1"/>
          </p:cNvSpPr>
          <p:nvPr/>
        </p:nvSpPr>
        <p:spPr bwMode="auto">
          <a:xfrm>
            <a:off x="6472238" y="1714573"/>
            <a:ext cx="685800" cy="9906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4551" name="Text Box 23"/>
          <p:cNvSpPr txBox="1">
            <a:spLocks noChangeArrowheads="1"/>
          </p:cNvSpPr>
          <p:nvPr/>
        </p:nvSpPr>
        <p:spPr bwMode="auto">
          <a:xfrm>
            <a:off x="7920038" y="1458985"/>
            <a:ext cx="83820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/>
              <a:t>a</a:t>
            </a: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/>
              <a:t>a+1</a:t>
            </a: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/>
              <a:t>a+2</a:t>
            </a: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/>
              <a:t>a+3</a:t>
            </a: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/>
              <a:t>a+4</a:t>
            </a: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/>
              <a:t>a+5</a:t>
            </a:r>
          </a:p>
        </p:txBody>
      </p:sp>
      <p:sp>
        <p:nvSpPr>
          <p:cNvPr id="534552" name="Line 24"/>
          <p:cNvSpPr>
            <a:spLocks noChangeShapeType="1"/>
          </p:cNvSpPr>
          <p:nvPr/>
        </p:nvSpPr>
        <p:spPr bwMode="auto">
          <a:xfrm>
            <a:off x="6472238" y="1714573"/>
            <a:ext cx="685800" cy="16002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4553" name="Line 25"/>
          <p:cNvSpPr>
            <a:spLocks noChangeShapeType="1"/>
          </p:cNvSpPr>
          <p:nvPr/>
        </p:nvSpPr>
        <p:spPr bwMode="auto">
          <a:xfrm>
            <a:off x="6472238" y="1790773"/>
            <a:ext cx="685800" cy="20574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4554" name="Rectangle 26"/>
          <p:cNvSpPr>
            <a:spLocks noChangeArrowheads="1"/>
          </p:cNvSpPr>
          <p:nvPr/>
        </p:nvSpPr>
        <p:spPr bwMode="auto">
          <a:xfrm>
            <a:off x="7158038" y="1409773"/>
            <a:ext cx="762000" cy="533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</a:t>
            </a:r>
          </a:p>
        </p:txBody>
      </p:sp>
      <p:sp>
        <p:nvSpPr>
          <p:cNvPr id="534555" name="Rectangle 27"/>
          <p:cNvSpPr>
            <a:spLocks noChangeArrowheads="1"/>
          </p:cNvSpPr>
          <p:nvPr/>
        </p:nvSpPr>
        <p:spPr bwMode="auto">
          <a:xfrm>
            <a:off x="7158038" y="1943173"/>
            <a:ext cx="762000" cy="533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4</a:t>
            </a:r>
          </a:p>
        </p:txBody>
      </p:sp>
      <p:sp>
        <p:nvSpPr>
          <p:cNvPr id="534556" name="Rectangle 28"/>
          <p:cNvSpPr>
            <a:spLocks noChangeArrowheads="1"/>
          </p:cNvSpPr>
          <p:nvPr/>
        </p:nvSpPr>
        <p:spPr bwMode="auto">
          <a:xfrm>
            <a:off x="7158038" y="2476573"/>
            <a:ext cx="762000" cy="533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6</a:t>
            </a:r>
          </a:p>
        </p:txBody>
      </p:sp>
      <p:sp>
        <p:nvSpPr>
          <p:cNvPr id="534557" name="Rectangle 29"/>
          <p:cNvSpPr>
            <a:spLocks noChangeArrowheads="1"/>
          </p:cNvSpPr>
          <p:nvPr/>
        </p:nvSpPr>
        <p:spPr bwMode="auto">
          <a:xfrm>
            <a:off x="7158038" y="3009973"/>
            <a:ext cx="762000" cy="533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8</a:t>
            </a:r>
          </a:p>
        </p:txBody>
      </p:sp>
      <p:sp>
        <p:nvSpPr>
          <p:cNvPr id="534558" name="Rectangle 30"/>
          <p:cNvSpPr>
            <a:spLocks noChangeArrowheads="1"/>
          </p:cNvSpPr>
          <p:nvPr/>
        </p:nvSpPr>
        <p:spPr bwMode="auto">
          <a:xfrm>
            <a:off x="7158038" y="3543373"/>
            <a:ext cx="762000" cy="533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10</a:t>
            </a:r>
          </a:p>
        </p:txBody>
      </p:sp>
      <p:sp>
        <p:nvSpPr>
          <p:cNvPr id="534559" name="Line 31"/>
          <p:cNvSpPr>
            <a:spLocks noChangeShapeType="1"/>
          </p:cNvSpPr>
          <p:nvPr/>
        </p:nvSpPr>
        <p:spPr bwMode="auto">
          <a:xfrm>
            <a:off x="6472238" y="1790773"/>
            <a:ext cx="685800" cy="25146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4560" name="Line 32"/>
          <p:cNvSpPr>
            <a:spLocks noChangeShapeType="1"/>
          </p:cNvSpPr>
          <p:nvPr/>
        </p:nvSpPr>
        <p:spPr bwMode="auto">
          <a:xfrm>
            <a:off x="6472238" y="1638373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34561" name="Group 33"/>
          <p:cNvGrpSpPr>
            <a:grpSpLocks/>
          </p:cNvGrpSpPr>
          <p:nvPr/>
        </p:nvGrpSpPr>
        <p:grpSpPr bwMode="auto">
          <a:xfrm>
            <a:off x="5557838" y="1409773"/>
            <a:ext cx="914400" cy="533400"/>
            <a:chOff x="3312" y="576"/>
            <a:chExt cx="576" cy="336"/>
          </a:xfrm>
        </p:grpSpPr>
        <p:sp>
          <p:nvSpPr>
            <p:cNvPr id="21543" name="Text Box 34"/>
            <p:cNvSpPr txBox="1">
              <a:spLocks noChangeArrowheads="1"/>
            </p:cNvSpPr>
            <p:nvPr/>
          </p:nvSpPr>
          <p:spPr bwMode="auto">
            <a:xfrm>
              <a:off x="3312" y="57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  <p:sp>
          <p:nvSpPr>
            <p:cNvPr id="21544" name="Rectangle 35"/>
            <p:cNvSpPr>
              <a:spLocks noChangeArrowheads="1"/>
            </p:cNvSpPr>
            <p:nvPr/>
          </p:nvSpPr>
          <p:spPr bwMode="auto">
            <a:xfrm>
              <a:off x="3504" y="576"/>
              <a:ext cx="384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34565" name="AutoShape 37"/>
          <p:cNvSpPr>
            <a:spLocks noChangeArrowheads="1"/>
          </p:cNvSpPr>
          <p:nvPr/>
        </p:nvSpPr>
        <p:spPr bwMode="auto">
          <a:xfrm>
            <a:off x="195983" y="5716411"/>
            <a:ext cx="3064453" cy="790575"/>
          </a:xfrm>
          <a:prstGeom prst="wedgeRectCallout">
            <a:avLst>
              <a:gd name="adj1" fmla="val 47444"/>
              <a:gd name="adj2" fmla="val -149801"/>
            </a:avLst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使用指针变量时要注意它的当前值</a:t>
            </a:r>
          </a:p>
        </p:txBody>
      </p:sp>
      <p:sp>
        <p:nvSpPr>
          <p:cNvPr id="21539" name="Rectangle 40"/>
          <p:cNvSpPr>
            <a:spLocks noChangeArrowheads="1"/>
          </p:cNvSpPr>
          <p:nvPr/>
        </p:nvSpPr>
        <p:spPr bwMode="auto">
          <a:xfrm>
            <a:off x="180975" y="115888"/>
            <a:ext cx="68548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6.3.1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一维数组与指针</a:t>
            </a:r>
          </a:p>
        </p:txBody>
      </p:sp>
      <p:sp>
        <p:nvSpPr>
          <p:cNvPr id="534584" name="Line 56"/>
          <p:cNvSpPr>
            <a:spLocks noChangeShapeType="1"/>
          </p:cNvSpPr>
          <p:nvPr/>
        </p:nvSpPr>
        <p:spPr bwMode="auto">
          <a:xfrm>
            <a:off x="3136899" y="4867348"/>
            <a:ext cx="94297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34586" name="AutoShape 58"/>
          <p:cNvSpPr>
            <a:spLocks noChangeArrowheads="1"/>
          </p:cNvSpPr>
          <p:nvPr/>
        </p:nvSpPr>
        <p:spPr bwMode="auto">
          <a:xfrm>
            <a:off x="4225780" y="5114747"/>
            <a:ext cx="2544475" cy="485775"/>
          </a:xfrm>
          <a:prstGeom prst="wedgeRectCallout">
            <a:avLst>
              <a:gd name="adj1" fmla="val -68981"/>
              <a:gd name="adj2" fmla="val -110782"/>
            </a:avLst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可以换成</a:t>
            </a:r>
            <a:r>
              <a:rPr lang="zh-CN" altLang="en-US" sz="2000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000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a+i</a:t>
            </a:r>
            <a:r>
              <a:rPr lang="en-US" altLang="zh-CN" sz="2000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吗？</a:t>
            </a:r>
          </a:p>
        </p:txBody>
      </p:sp>
      <p:sp>
        <p:nvSpPr>
          <p:cNvPr id="534588" name="Rectangle 60"/>
          <p:cNvSpPr>
            <a:spLocks noChangeArrowheads="1"/>
          </p:cNvSpPr>
          <p:nvPr/>
        </p:nvSpPr>
        <p:spPr bwMode="auto">
          <a:xfrm>
            <a:off x="6685383" y="5114747"/>
            <a:ext cx="700833" cy="40011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可以</a:t>
            </a:r>
          </a:p>
        </p:txBody>
      </p:sp>
      <p:sp>
        <p:nvSpPr>
          <p:cNvPr id="28" name="Rectangle 33"/>
          <p:cNvSpPr>
            <a:spLocks noChangeArrowheads="1"/>
          </p:cNvSpPr>
          <p:nvPr/>
        </p:nvSpPr>
        <p:spPr bwMode="auto">
          <a:xfrm>
            <a:off x="177730" y="656051"/>
            <a:ext cx="7747069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 </a:t>
            </a:r>
            <a:r>
              <a:rPr lang="zh-CN" altLang="en-US" dirty="0"/>
              <a:t>将数组</a:t>
            </a:r>
            <a:r>
              <a:rPr lang="en-US" altLang="zh-CN" dirty="0"/>
              <a:t>a</a:t>
            </a:r>
            <a:r>
              <a:rPr lang="zh-CN" altLang="en-US" dirty="0"/>
              <a:t>中全部元素加</a:t>
            </a:r>
            <a:r>
              <a:rPr lang="en-US" altLang="zh-CN" dirty="0"/>
              <a:t>1, </a:t>
            </a:r>
            <a:r>
              <a:rPr lang="zh-CN" altLang="en-US" dirty="0"/>
              <a:t>再输出</a:t>
            </a:r>
            <a:r>
              <a:rPr lang="en-US" altLang="zh-CN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0099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3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3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3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3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3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3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34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34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34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34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534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34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34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534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534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534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3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4" dur="500"/>
                                        <p:tgtEl>
                                          <p:spTgt spid="5345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3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3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53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1" grpId="0" animBg="1" autoUpdateAnimBg="0"/>
      <p:bldP spid="534551" grpId="0" autoUpdateAnimBg="0"/>
      <p:bldP spid="534554" grpId="0" animBg="1" autoUpdateAnimBg="0"/>
      <p:bldP spid="534555" grpId="0" animBg="1" autoUpdateAnimBg="0"/>
      <p:bldP spid="534556" grpId="0" animBg="1" autoUpdateAnimBg="0"/>
      <p:bldP spid="534557" grpId="0" animBg="1" autoUpdateAnimBg="0"/>
      <p:bldP spid="534558" grpId="0" animBg="1" autoUpdateAnimBg="0"/>
      <p:bldP spid="534565" grpId="0" animBg="1" autoUpdateAnimBg="0"/>
      <p:bldP spid="534586" grpId="0" animBg="1" autoUpdateAnimBg="0"/>
      <p:bldP spid="53458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1"/>
          <p:cNvSpPr txBox="1">
            <a:spLocks noChangeArrowheads="1"/>
          </p:cNvSpPr>
          <p:nvPr/>
        </p:nvSpPr>
        <p:spPr bwMode="auto">
          <a:xfrm>
            <a:off x="95823" y="709612"/>
            <a:ext cx="313914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dirty="0">
                <a:latin typeface="宋体" panose="02010600030101010101" pitchFamily="2" charset="-122"/>
              </a:rPr>
              <a:t>(1)</a:t>
            </a:r>
            <a:r>
              <a:rPr lang="zh-CN" altLang="en-US" dirty="0">
                <a:latin typeface="宋体" panose="02010600030101010101" pitchFamily="2" charset="-122"/>
              </a:rPr>
              <a:t>数组名作函数参数</a:t>
            </a:r>
          </a:p>
        </p:txBody>
      </p:sp>
      <p:sp>
        <p:nvSpPr>
          <p:cNvPr id="22531" name="Rectangle 14"/>
          <p:cNvSpPr>
            <a:spLocks noChangeArrowheads="1"/>
          </p:cNvSpPr>
          <p:nvPr/>
        </p:nvSpPr>
        <p:spPr bwMode="auto">
          <a:xfrm>
            <a:off x="180975" y="115888"/>
            <a:ext cx="7727950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6.3.2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指向数组元素的指针作为函数参数</a:t>
            </a:r>
          </a:p>
        </p:txBody>
      </p:sp>
      <p:grpSp>
        <p:nvGrpSpPr>
          <p:cNvPr id="547878" name="Group 38"/>
          <p:cNvGrpSpPr>
            <a:grpSpLocks/>
          </p:cNvGrpSpPr>
          <p:nvPr/>
        </p:nvGrpSpPr>
        <p:grpSpPr bwMode="auto">
          <a:xfrm>
            <a:off x="152400" y="1196975"/>
            <a:ext cx="3535363" cy="1662113"/>
            <a:chOff x="158" y="754"/>
            <a:chExt cx="2227" cy="1047"/>
          </a:xfrm>
        </p:grpSpPr>
        <p:sp>
          <p:nvSpPr>
            <p:cNvPr id="22549" name="Text Box 15"/>
            <p:cNvSpPr txBox="1">
              <a:spLocks noChangeArrowheads="1"/>
            </p:cNvSpPr>
            <p:nvPr/>
          </p:nvSpPr>
          <p:spPr bwMode="auto">
            <a:xfrm>
              <a:off x="158" y="754"/>
              <a:ext cx="1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/>
                <a:t>函数定义：</a:t>
              </a:r>
            </a:p>
          </p:txBody>
        </p:sp>
        <p:sp>
          <p:nvSpPr>
            <p:cNvPr id="22550" name="Text Box 16"/>
            <p:cNvSpPr txBox="1">
              <a:spLocks noChangeArrowheads="1"/>
            </p:cNvSpPr>
            <p:nvPr/>
          </p:nvSpPr>
          <p:spPr bwMode="auto">
            <a:xfrm>
              <a:off x="162" y="1045"/>
              <a:ext cx="2223" cy="75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void f(</a:t>
              </a:r>
              <a:r>
                <a:rPr lang="en-US" altLang="zh-CN" dirty="0">
                  <a:solidFill>
                    <a:srgbClr val="FF0000"/>
                  </a:solidFill>
                  <a:ea typeface="楷体" panose="02010609060101010101" pitchFamily="49" charset="-122"/>
                </a:rPr>
                <a:t>int b</a:t>
              </a:r>
              <a:r>
                <a:rPr lang="en-US" altLang="zh-CN" dirty="0" smtClean="0">
                  <a:solidFill>
                    <a:srgbClr val="FF0000"/>
                  </a:solidFill>
                  <a:ea typeface="楷体" panose="02010609060101010101" pitchFamily="49" charset="-122"/>
                </a:rPr>
                <a:t>[]</a:t>
              </a:r>
              <a:r>
                <a:rPr lang="en-US" altLang="zh-CN" dirty="0" smtClean="0">
                  <a:solidFill>
                    <a:srgbClr val="3333FF"/>
                  </a:solidFill>
                  <a:ea typeface="楷体" panose="02010609060101010101" pitchFamily="49" charset="-122"/>
                </a:rPr>
                <a:t>)</a:t>
              </a:r>
              <a:r>
                <a:rPr lang="en-US" altLang="zh-CN" dirty="0" smtClean="0">
                  <a:solidFill>
                    <a:srgbClr val="0000FF"/>
                  </a:solidFill>
                  <a:ea typeface="楷体" panose="02010609060101010101" pitchFamily="49" charset="-122"/>
                </a:rPr>
                <a:t> </a:t>
              </a:r>
              <a:endParaRPr lang="en-US" altLang="zh-CN" dirty="0">
                <a:solidFill>
                  <a:srgbClr val="0000FF"/>
                </a:solidFill>
                <a:ea typeface="楷体" panose="02010609060101010101" pitchFamily="49" charset="-122"/>
              </a:endParaRP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{  …</a:t>
              </a: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}</a:t>
              </a:r>
            </a:p>
          </p:txBody>
        </p:sp>
      </p:grpSp>
      <p:grpSp>
        <p:nvGrpSpPr>
          <p:cNvPr id="547879" name="Group 39"/>
          <p:cNvGrpSpPr>
            <a:grpSpLocks/>
          </p:cNvGrpSpPr>
          <p:nvPr/>
        </p:nvGrpSpPr>
        <p:grpSpPr bwMode="auto">
          <a:xfrm>
            <a:off x="152400" y="2987675"/>
            <a:ext cx="3605213" cy="2457450"/>
            <a:chOff x="96" y="1882"/>
            <a:chExt cx="2271" cy="1548"/>
          </a:xfrm>
        </p:grpSpPr>
        <p:sp>
          <p:nvSpPr>
            <p:cNvPr id="22547" name="Rectangle 17"/>
            <p:cNvSpPr>
              <a:spLocks noChangeArrowheads="1"/>
            </p:cNvSpPr>
            <p:nvPr/>
          </p:nvSpPr>
          <p:spPr bwMode="auto">
            <a:xfrm>
              <a:off x="96" y="1882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函数调用：</a:t>
              </a:r>
            </a:p>
          </p:txBody>
        </p:sp>
        <p:sp>
          <p:nvSpPr>
            <p:cNvPr id="22548" name="Text Box 18"/>
            <p:cNvSpPr txBox="1">
              <a:spLocks noChangeArrowheads="1"/>
            </p:cNvSpPr>
            <p:nvPr/>
          </p:nvSpPr>
          <p:spPr bwMode="auto">
            <a:xfrm>
              <a:off x="144" y="2209"/>
              <a:ext cx="2223" cy="122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dirty="0" err="1">
                  <a:solidFill>
                    <a:srgbClr val="3333FF"/>
                  </a:solidFill>
                  <a:ea typeface="楷体" panose="02010609060101010101" pitchFamily="49" charset="-122"/>
                </a:rPr>
                <a:t>int</a:t>
              </a:r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 main() </a:t>
              </a: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{</a:t>
              </a: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    </a:t>
              </a:r>
              <a:r>
                <a:rPr lang="en-US" altLang="zh-CN" dirty="0" err="1">
                  <a:solidFill>
                    <a:srgbClr val="3333FF"/>
                  </a:solidFill>
                  <a:ea typeface="楷体" panose="02010609060101010101" pitchFamily="49" charset="-122"/>
                </a:rPr>
                <a:t>int</a:t>
              </a:r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 a[10];</a:t>
              </a:r>
            </a:p>
            <a:p>
              <a:pPr algn="l" eaLnBrk="1" hangingPunct="1"/>
              <a:r>
                <a:rPr lang="en-US" altLang="zh-CN" dirty="0">
                  <a:solidFill>
                    <a:srgbClr val="0000FF"/>
                  </a:solidFill>
                  <a:ea typeface="楷体" panose="02010609060101010101" pitchFamily="49" charset="-122"/>
                </a:rPr>
                <a:t>    </a:t>
              </a:r>
              <a:r>
                <a:rPr lang="en-US" altLang="zh-CN" dirty="0" smtClean="0">
                  <a:solidFill>
                    <a:srgbClr val="FF0000"/>
                  </a:solidFill>
                  <a:ea typeface="楷体" panose="02010609060101010101" pitchFamily="49" charset="-122"/>
                </a:rPr>
                <a:t>f(a);</a:t>
              </a:r>
              <a:endParaRPr lang="en-US" altLang="zh-CN" dirty="0">
                <a:solidFill>
                  <a:srgbClr val="FF0000"/>
                </a:solidFill>
                <a:ea typeface="楷体" panose="02010609060101010101" pitchFamily="49" charset="-122"/>
              </a:endParaRP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}</a:t>
              </a:r>
            </a:p>
          </p:txBody>
        </p:sp>
      </p:grpSp>
      <p:grpSp>
        <p:nvGrpSpPr>
          <p:cNvPr id="547881" name="Group 41"/>
          <p:cNvGrpSpPr>
            <a:grpSpLocks/>
          </p:cNvGrpSpPr>
          <p:nvPr/>
        </p:nvGrpSpPr>
        <p:grpSpPr bwMode="auto">
          <a:xfrm>
            <a:off x="4234656" y="2957513"/>
            <a:ext cx="3529013" cy="3146426"/>
            <a:chOff x="2744" y="1884"/>
            <a:chExt cx="2223" cy="1982"/>
          </a:xfrm>
        </p:grpSpPr>
        <p:sp>
          <p:nvSpPr>
            <p:cNvPr id="22545" name="Text Box 28"/>
            <p:cNvSpPr txBox="1">
              <a:spLocks noChangeArrowheads="1"/>
            </p:cNvSpPr>
            <p:nvPr/>
          </p:nvSpPr>
          <p:spPr bwMode="auto">
            <a:xfrm>
              <a:off x="2744" y="2179"/>
              <a:ext cx="2223" cy="168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dirty="0" err="1">
                  <a:solidFill>
                    <a:srgbClr val="3333FF"/>
                  </a:solidFill>
                  <a:ea typeface="楷体" panose="02010609060101010101" pitchFamily="49" charset="-122"/>
                </a:rPr>
                <a:t>int</a:t>
              </a:r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 main() </a:t>
              </a: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{ </a:t>
              </a: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    </a:t>
              </a:r>
              <a:r>
                <a:rPr lang="en-US" altLang="zh-CN" dirty="0" err="1">
                  <a:solidFill>
                    <a:srgbClr val="3333FF"/>
                  </a:solidFill>
                  <a:ea typeface="楷体" panose="02010609060101010101" pitchFamily="49" charset="-122"/>
                </a:rPr>
                <a:t>int</a:t>
              </a:r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 a[10];</a:t>
              </a:r>
            </a:p>
            <a:p>
              <a:pPr algn="l" eaLnBrk="1" hangingPunct="1"/>
              <a:r>
                <a:rPr lang="en-US" altLang="zh-CN" dirty="0">
                  <a:solidFill>
                    <a:srgbClr val="0000FF"/>
                  </a:solidFill>
                  <a:ea typeface="楷体" panose="02010609060101010101" pitchFamily="49" charset="-122"/>
                </a:rPr>
                <a:t>    </a:t>
              </a:r>
              <a:r>
                <a:rPr lang="en-US" altLang="zh-CN" dirty="0" err="1">
                  <a:solidFill>
                    <a:srgbClr val="FF0000"/>
                  </a:solidFill>
                  <a:ea typeface="楷体" panose="02010609060101010101" pitchFamily="49" charset="-122"/>
                </a:rPr>
                <a:t>int</a:t>
              </a:r>
              <a:r>
                <a:rPr lang="en-US" altLang="zh-CN" dirty="0">
                  <a:solidFill>
                    <a:srgbClr val="FF0000"/>
                  </a:solidFill>
                  <a:ea typeface="楷体" panose="02010609060101010101" pitchFamily="49" charset="-122"/>
                </a:rPr>
                <a:t> *p;</a:t>
              </a:r>
            </a:p>
            <a:p>
              <a:pPr algn="l" eaLnBrk="1" hangingPunct="1"/>
              <a:r>
                <a:rPr lang="en-US" altLang="zh-CN" dirty="0">
                  <a:solidFill>
                    <a:srgbClr val="FF0000"/>
                  </a:solidFill>
                  <a:ea typeface="楷体" panose="02010609060101010101" pitchFamily="49" charset="-122"/>
                </a:rPr>
                <a:t>    p=a;</a:t>
              </a: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    </a:t>
              </a:r>
              <a:r>
                <a:rPr lang="en-US" altLang="zh-CN" dirty="0" smtClean="0">
                  <a:solidFill>
                    <a:srgbClr val="3333FF"/>
                  </a:solidFill>
                  <a:ea typeface="楷体" panose="02010609060101010101" pitchFamily="49" charset="-122"/>
                </a:rPr>
                <a:t>f(</a:t>
              </a:r>
              <a:r>
                <a:rPr lang="en-US" altLang="zh-CN" dirty="0" smtClean="0">
                  <a:solidFill>
                    <a:srgbClr val="FF0000"/>
                  </a:solidFill>
                  <a:ea typeface="楷体" panose="02010609060101010101" pitchFamily="49" charset="-122"/>
                </a:rPr>
                <a:t>p</a:t>
              </a:r>
              <a:r>
                <a:rPr lang="en-US" altLang="zh-CN" dirty="0" smtClean="0">
                  <a:solidFill>
                    <a:srgbClr val="3333FF"/>
                  </a:solidFill>
                  <a:ea typeface="楷体" panose="02010609060101010101" pitchFamily="49" charset="-122"/>
                </a:rPr>
                <a:t>);</a:t>
              </a:r>
              <a:endParaRPr lang="en-US" altLang="zh-CN" dirty="0">
                <a:solidFill>
                  <a:srgbClr val="3333FF"/>
                </a:solidFill>
                <a:ea typeface="楷体" panose="02010609060101010101" pitchFamily="49" charset="-122"/>
              </a:endParaRP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}</a:t>
              </a:r>
            </a:p>
          </p:txBody>
        </p:sp>
        <p:sp>
          <p:nvSpPr>
            <p:cNvPr id="22546" name="Rectangle 29"/>
            <p:cNvSpPr>
              <a:spLocks noChangeArrowheads="1"/>
            </p:cNvSpPr>
            <p:nvPr/>
          </p:nvSpPr>
          <p:spPr bwMode="auto">
            <a:xfrm>
              <a:off x="2766" y="1884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函数调用：</a:t>
              </a:r>
            </a:p>
          </p:txBody>
        </p:sp>
      </p:grpSp>
      <p:grpSp>
        <p:nvGrpSpPr>
          <p:cNvPr id="547880" name="Group 40"/>
          <p:cNvGrpSpPr>
            <a:grpSpLocks/>
          </p:cNvGrpSpPr>
          <p:nvPr/>
        </p:nvGrpSpPr>
        <p:grpSpPr bwMode="auto">
          <a:xfrm>
            <a:off x="4234656" y="1196976"/>
            <a:ext cx="3535363" cy="1662112"/>
            <a:chOff x="2770" y="775"/>
            <a:chExt cx="2227" cy="1047"/>
          </a:xfrm>
        </p:grpSpPr>
        <p:sp>
          <p:nvSpPr>
            <p:cNvPr id="22543" name="Text Box 32"/>
            <p:cNvSpPr txBox="1">
              <a:spLocks noChangeArrowheads="1"/>
            </p:cNvSpPr>
            <p:nvPr/>
          </p:nvSpPr>
          <p:spPr bwMode="auto">
            <a:xfrm>
              <a:off x="2770" y="775"/>
              <a:ext cx="1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dirty="0"/>
                <a:t>函数定义：</a:t>
              </a:r>
            </a:p>
          </p:txBody>
        </p:sp>
        <p:sp>
          <p:nvSpPr>
            <p:cNvPr id="22544" name="Text Box 33"/>
            <p:cNvSpPr txBox="1">
              <a:spLocks noChangeArrowheads="1"/>
            </p:cNvSpPr>
            <p:nvPr/>
          </p:nvSpPr>
          <p:spPr bwMode="auto">
            <a:xfrm>
              <a:off x="2774" y="1066"/>
              <a:ext cx="2223" cy="75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void f(</a:t>
              </a:r>
              <a:r>
                <a:rPr lang="en-US" altLang="zh-CN" dirty="0" err="1">
                  <a:solidFill>
                    <a:srgbClr val="FF0000"/>
                  </a:solidFill>
                  <a:ea typeface="楷体" panose="02010609060101010101" pitchFamily="49" charset="-122"/>
                </a:rPr>
                <a:t>int</a:t>
              </a:r>
              <a:r>
                <a:rPr lang="en-US" altLang="zh-CN" dirty="0">
                  <a:solidFill>
                    <a:srgbClr val="FF0000"/>
                  </a:solidFill>
                  <a:ea typeface="楷体" panose="02010609060101010101" pitchFamily="49" charset="-122"/>
                </a:rPr>
                <a:t> *</a:t>
              </a:r>
              <a:r>
                <a:rPr lang="en-US" altLang="zh-CN" dirty="0" smtClean="0">
                  <a:solidFill>
                    <a:srgbClr val="FF0000"/>
                  </a:solidFill>
                  <a:ea typeface="楷体" panose="02010609060101010101" pitchFamily="49" charset="-122"/>
                </a:rPr>
                <a:t>q</a:t>
              </a:r>
              <a:r>
                <a:rPr lang="en-US" altLang="zh-CN" dirty="0" smtClean="0">
                  <a:solidFill>
                    <a:srgbClr val="3333FF"/>
                  </a:solidFill>
                  <a:ea typeface="楷体" panose="02010609060101010101" pitchFamily="49" charset="-122"/>
                </a:rPr>
                <a:t>)</a:t>
              </a:r>
              <a:r>
                <a:rPr lang="en-US" altLang="zh-CN" dirty="0" smtClean="0">
                  <a:solidFill>
                    <a:srgbClr val="0000FF"/>
                  </a:solidFill>
                  <a:ea typeface="楷体" panose="02010609060101010101" pitchFamily="49" charset="-122"/>
                </a:rPr>
                <a:t> </a:t>
              </a:r>
              <a:endParaRPr lang="en-US" altLang="zh-CN" dirty="0">
                <a:solidFill>
                  <a:srgbClr val="0000FF"/>
                </a:solidFill>
                <a:ea typeface="楷体" panose="02010609060101010101" pitchFamily="49" charset="-122"/>
              </a:endParaRP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{  …</a:t>
              </a:r>
            </a:p>
            <a:p>
              <a:pPr algn="l" eaLnBrk="1" hangingPunct="1"/>
              <a:r>
                <a:rPr lang="en-US" altLang="zh-CN" dirty="0">
                  <a:solidFill>
                    <a:srgbClr val="3333FF"/>
                  </a:solidFill>
                  <a:ea typeface="楷体" panose="02010609060101010101" pitchFamily="49" charset="-122"/>
                </a:rPr>
                <a:t>}</a:t>
              </a:r>
            </a:p>
          </p:txBody>
        </p:sp>
      </p:grpSp>
      <p:grpSp>
        <p:nvGrpSpPr>
          <p:cNvPr id="547877" name="Group 37"/>
          <p:cNvGrpSpPr>
            <a:grpSpLocks/>
          </p:cNvGrpSpPr>
          <p:nvPr/>
        </p:nvGrpSpPr>
        <p:grpSpPr bwMode="auto">
          <a:xfrm>
            <a:off x="1673385" y="3227389"/>
            <a:ext cx="2406650" cy="527050"/>
            <a:chOff x="1334" y="2513"/>
            <a:chExt cx="1516" cy="332"/>
          </a:xfrm>
        </p:grpSpPr>
        <p:sp>
          <p:nvSpPr>
            <p:cNvPr id="22541" name="Line 27"/>
            <p:cNvSpPr>
              <a:spLocks noChangeShapeType="1"/>
            </p:cNvSpPr>
            <p:nvPr/>
          </p:nvSpPr>
          <p:spPr bwMode="auto">
            <a:xfrm>
              <a:off x="1334" y="2845"/>
              <a:ext cx="1516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2" name="Rectangle 34"/>
            <p:cNvSpPr>
              <a:spLocks noChangeArrowheads="1"/>
            </p:cNvSpPr>
            <p:nvPr/>
          </p:nvSpPr>
          <p:spPr bwMode="auto">
            <a:xfrm>
              <a:off x="1708" y="2513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ea typeface="楷体" panose="02010609060101010101" pitchFamily="49" charset="-122"/>
                </a:rPr>
                <a:t>等价于</a:t>
              </a:r>
            </a:p>
          </p:txBody>
        </p:sp>
      </p:grpSp>
      <p:grpSp>
        <p:nvGrpSpPr>
          <p:cNvPr id="547876" name="Group 36"/>
          <p:cNvGrpSpPr>
            <a:grpSpLocks/>
          </p:cNvGrpSpPr>
          <p:nvPr/>
        </p:nvGrpSpPr>
        <p:grpSpPr bwMode="auto">
          <a:xfrm>
            <a:off x="2834481" y="1499397"/>
            <a:ext cx="1400175" cy="461963"/>
            <a:chOff x="1612" y="930"/>
            <a:chExt cx="1126" cy="291"/>
          </a:xfrm>
        </p:grpSpPr>
        <p:sp>
          <p:nvSpPr>
            <p:cNvPr id="22539" name="Line 31"/>
            <p:cNvSpPr>
              <a:spLocks noChangeShapeType="1"/>
            </p:cNvSpPr>
            <p:nvPr/>
          </p:nvSpPr>
          <p:spPr bwMode="auto">
            <a:xfrm>
              <a:off x="1612" y="1208"/>
              <a:ext cx="1126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0" name="Rectangle 35"/>
            <p:cNvSpPr>
              <a:spLocks noChangeArrowheads="1"/>
            </p:cNvSpPr>
            <p:nvPr/>
          </p:nvSpPr>
          <p:spPr bwMode="auto">
            <a:xfrm>
              <a:off x="1753" y="930"/>
              <a:ext cx="89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ea typeface="楷体" panose="02010609060101010101" pitchFamily="49" charset="-122"/>
                </a:rPr>
                <a:t>等价于</a:t>
              </a:r>
            </a:p>
          </p:txBody>
        </p:sp>
      </p:grpSp>
      <p:sp>
        <p:nvSpPr>
          <p:cNvPr id="547882" name="Text Box 42"/>
          <p:cNvSpPr txBox="1">
            <a:spLocks noChangeArrowheads="1"/>
          </p:cNvSpPr>
          <p:nvPr/>
        </p:nvSpPr>
        <p:spPr bwMode="auto">
          <a:xfrm>
            <a:off x="4080158" y="709612"/>
            <a:ext cx="49807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dirty="0">
                <a:latin typeface="宋体" panose="02010600030101010101" pitchFamily="2" charset="-122"/>
              </a:rPr>
              <a:t>(2)</a:t>
            </a:r>
            <a:r>
              <a:rPr lang="zh-CN" altLang="en-US" dirty="0">
                <a:latin typeface="宋体" panose="02010600030101010101" pitchFamily="2" charset="-122"/>
              </a:rPr>
              <a:t>指向数组元素的指针作函数参数</a:t>
            </a:r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3234971" y="948315"/>
            <a:ext cx="845064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82" grpId="0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80667" y="997500"/>
            <a:ext cx="4196103" cy="569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fun(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en-US" altLang="zh-CN" dirty="0" err="1">
                <a:solidFill>
                  <a:srgbClr val="0066FF"/>
                </a:solidFill>
              </a:rPr>
              <a:t>int</a:t>
            </a:r>
            <a:r>
              <a:rPr lang="en-US" altLang="zh-CN" dirty="0">
                <a:solidFill>
                  <a:srgbClr val="0066FF"/>
                </a:solidFill>
              </a:rPr>
              <a:t> n)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{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*p, *end, max;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66FF"/>
                </a:solidFill>
              </a:rPr>
              <a:t>    </a:t>
            </a:r>
            <a:r>
              <a:rPr lang="en-US" altLang="zh-CN" dirty="0">
                <a:solidFill>
                  <a:srgbClr val="FF3300"/>
                </a:solidFill>
              </a:rPr>
              <a:t>end=</a:t>
            </a:r>
            <a:r>
              <a:rPr lang="en-US" altLang="zh-CN" dirty="0" err="1">
                <a:solidFill>
                  <a:srgbClr val="FF3300"/>
                </a:solidFill>
              </a:rPr>
              <a:t>arr+n</a:t>
            </a:r>
            <a:r>
              <a:rPr lang="en-US" altLang="zh-CN" dirty="0">
                <a:solidFill>
                  <a:srgbClr val="FF3300"/>
                </a:solidFill>
              </a:rPr>
              <a:t>;    max=*</a:t>
            </a:r>
            <a:r>
              <a:rPr lang="en-US" altLang="zh-CN" dirty="0" err="1">
                <a:solidFill>
                  <a:srgbClr val="FF3300"/>
                </a:solidFill>
              </a:rPr>
              <a:t>arr</a:t>
            </a:r>
            <a:r>
              <a:rPr lang="en-US" altLang="zh-CN" dirty="0">
                <a:solidFill>
                  <a:srgbClr val="FF3300"/>
                </a:solidFill>
              </a:rPr>
              <a:t>;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66FF"/>
                </a:solidFill>
              </a:rPr>
              <a:t>    </a:t>
            </a:r>
            <a:r>
              <a:rPr lang="en-US" altLang="zh-CN" dirty="0">
                <a:solidFill>
                  <a:srgbClr val="3333FF"/>
                </a:solidFill>
              </a:rPr>
              <a:t>for(</a:t>
            </a:r>
            <a:r>
              <a:rPr lang="en-US" altLang="zh-CN" dirty="0">
                <a:solidFill>
                  <a:srgbClr val="FF3300"/>
                </a:solidFill>
              </a:rPr>
              <a:t>p=arr+1 ; p&lt;end ; p++</a:t>
            </a:r>
            <a:r>
              <a:rPr lang="en-US" altLang="zh-CN" dirty="0">
                <a:solidFill>
                  <a:srgbClr val="3333FF"/>
                </a:solidFill>
              </a:rPr>
              <a:t>)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{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if(</a:t>
            </a:r>
            <a:r>
              <a:rPr lang="en-US" altLang="zh-CN" dirty="0">
                <a:solidFill>
                  <a:srgbClr val="FF0000"/>
                </a:solidFill>
              </a:rPr>
              <a:t>*p&gt;max</a:t>
            </a:r>
            <a:r>
              <a:rPr lang="en-US" altLang="zh-CN" dirty="0">
                <a:solidFill>
                  <a:srgbClr val="3333FF"/>
                </a:solidFill>
              </a:rPr>
              <a:t> ) 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   </a:t>
            </a:r>
            <a:r>
              <a:rPr lang="en-US" altLang="zh-CN" dirty="0">
                <a:solidFill>
                  <a:srgbClr val="FF0000"/>
                </a:solidFill>
              </a:rPr>
              <a:t>max=*p</a:t>
            </a:r>
            <a:r>
              <a:rPr lang="en-US" altLang="zh-CN" dirty="0">
                <a:solidFill>
                  <a:srgbClr val="3333FF"/>
                </a:solidFill>
              </a:rPr>
              <a:t>;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}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return max;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}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 err="1"/>
              <a:t>int</a:t>
            </a:r>
            <a:r>
              <a:rPr lang="en-US" altLang="zh-CN" dirty="0"/>
              <a:t> main( ) 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/>
              <a:t>{</a:t>
            </a:r>
            <a:r>
              <a:rPr lang="en-US" altLang="zh-CN" dirty="0">
                <a:solidFill>
                  <a:srgbClr val="3333FF"/>
                </a:solidFill>
              </a:rPr>
              <a:t>  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</a:t>
            </a:r>
            <a:r>
              <a:rPr lang="en-US" altLang="zh-CN" dirty="0" err="1">
                <a:solidFill>
                  <a:srgbClr val="3333FF"/>
                </a:solidFill>
              </a:rPr>
              <a:t>i</a:t>
            </a:r>
            <a:r>
              <a:rPr lang="en-US" altLang="zh-CN" dirty="0">
                <a:solidFill>
                  <a:srgbClr val="3333FF"/>
                </a:solidFill>
              </a:rPr>
              <a:t>, a[6],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max</a:t>
            </a:r>
            <a:r>
              <a:rPr lang="en-US" altLang="zh-CN" dirty="0">
                <a:solidFill>
                  <a:srgbClr val="3333FF"/>
                </a:solidFill>
              </a:rPr>
              <a:t>;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/>
              <a:t>     for(</a:t>
            </a:r>
            <a:r>
              <a:rPr lang="en-US" altLang="zh-CN" dirty="0" err="1"/>
              <a:t>i</a:t>
            </a:r>
            <a:r>
              <a:rPr lang="en-US" altLang="zh-CN" dirty="0"/>
              <a:t>=0 ; </a:t>
            </a:r>
            <a:r>
              <a:rPr lang="en-US" altLang="zh-CN" dirty="0" err="1"/>
              <a:t>i</a:t>
            </a:r>
            <a:r>
              <a:rPr lang="en-US" altLang="zh-CN" dirty="0"/>
              <a:t>&lt;6 ; </a:t>
            </a:r>
            <a:r>
              <a:rPr lang="en-US" altLang="zh-CN" dirty="0" err="1"/>
              <a:t>i</a:t>
            </a:r>
            <a:r>
              <a:rPr lang="en-US" altLang="zh-CN" dirty="0"/>
              <a:t>++)   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/>
              <a:t>      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d",&amp;a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);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max = fun(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3333FF"/>
                </a:solidFill>
              </a:rPr>
              <a:t>, 6);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0066FF"/>
                </a:solidFill>
              </a:rPr>
              <a:t>     </a:t>
            </a:r>
            <a:r>
              <a:rPr lang="en-US" altLang="zh-CN" dirty="0" err="1"/>
              <a:t>printf</a:t>
            </a:r>
            <a:r>
              <a:rPr lang="en-US" altLang="zh-CN" dirty="0"/>
              <a:t>("max=%d\n", max);</a:t>
            </a:r>
          </a:p>
          <a:p>
            <a:pPr algn="l" eaLnBrk="1" hangingPunct="1">
              <a:lnSpc>
                <a:spcPts val="2300"/>
              </a:lnSpc>
              <a:spcBef>
                <a:spcPts val="0"/>
              </a:spcBef>
            </a:pPr>
            <a:r>
              <a:rPr lang="en-US" altLang="zh-CN" dirty="0"/>
              <a:t>}</a:t>
            </a:r>
          </a:p>
        </p:txBody>
      </p:sp>
      <p:graphicFrame>
        <p:nvGraphicFramePr>
          <p:cNvPr id="53862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1909"/>
              </p:ext>
            </p:extLst>
          </p:nvPr>
        </p:nvGraphicFramePr>
        <p:xfrm>
          <a:off x="6793921" y="1179339"/>
          <a:ext cx="762000" cy="3733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8645" name="Text Box 21"/>
          <p:cNvSpPr txBox="1">
            <a:spLocks noChangeArrowheads="1"/>
          </p:cNvSpPr>
          <p:nvPr/>
        </p:nvSpPr>
        <p:spPr bwMode="auto">
          <a:xfrm>
            <a:off x="7555921" y="1179339"/>
            <a:ext cx="685800" cy="319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a[0]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/>
              <a:t>a[1]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/>
              <a:t>a[2]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/>
              <a:t>a[3]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/>
              <a:t>a[4]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/>
              <a:t>a[5]</a:t>
            </a:r>
          </a:p>
        </p:txBody>
      </p:sp>
      <p:grpSp>
        <p:nvGrpSpPr>
          <p:cNvPr id="538646" name="Group 22"/>
          <p:cNvGrpSpPr>
            <a:grpSpLocks/>
          </p:cNvGrpSpPr>
          <p:nvPr/>
        </p:nvGrpSpPr>
        <p:grpSpPr bwMode="auto">
          <a:xfrm>
            <a:off x="5317546" y="3632291"/>
            <a:ext cx="914400" cy="457200"/>
            <a:chOff x="3360" y="720"/>
            <a:chExt cx="576" cy="288"/>
          </a:xfrm>
        </p:grpSpPr>
        <p:sp>
          <p:nvSpPr>
            <p:cNvPr id="23605" name="Rectangle 23"/>
            <p:cNvSpPr>
              <a:spLocks noChangeArrowheads="1"/>
            </p:cNvSpPr>
            <p:nvPr/>
          </p:nvSpPr>
          <p:spPr bwMode="auto">
            <a:xfrm>
              <a:off x="3600" y="768"/>
              <a:ext cx="336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6</a:t>
              </a:r>
            </a:p>
          </p:txBody>
        </p:sp>
        <p:sp>
          <p:nvSpPr>
            <p:cNvPr id="23606" name="Text Box 24"/>
            <p:cNvSpPr txBox="1">
              <a:spLocks noChangeArrowheads="1"/>
            </p:cNvSpPr>
            <p:nvPr/>
          </p:nvSpPr>
          <p:spPr bwMode="auto">
            <a:xfrm>
              <a:off x="3360" y="72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dirty="0"/>
                <a:t>n</a:t>
              </a:r>
            </a:p>
          </p:txBody>
        </p:sp>
      </p:grpSp>
      <p:grpSp>
        <p:nvGrpSpPr>
          <p:cNvPr id="538649" name="Group 25"/>
          <p:cNvGrpSpPr>
            <a:grpSpLocks/>
          </p:cNvGrpSpPr>
          <p:nvPr/>
        </p:nvGrpSpPr>
        <p:grpSpPr bwMode="auto">
          <a:xfrm>
            <a:off x="5269921" y="1788939"/>
            <a:ext cx="1143000" cy="457200"/>
            <a:chOff x="3984" y="1392"/>
            <a:chExt cx="720" cy="288"/>
          </a:xfrm>
        </p:grpSpPr>
        <p:sp>
          <p:nvSpPr>
            <p:cNvPr id="23603" name="Rectangle 26"/>
            <p:cNvSpPr>
              <a:spLocks noChangeArrowheads="1"/>
            </p:cNvSpPr>
            <p:nvPr/>
          </p:nvSpPr>
          <p:spPr bwMode="auto">
            <a:xfrm>
              <a:off x="4176" y="1392"/>
              <a:ext cx="528" cy="28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/>
                <a:t>arr+1</a:t>
              </a:r>
            </a:p>
          </p:txBody>
        </p:sp>
        <p:sp>
          <p:nvSpPr>
            <p:cNvPr id="23604" name="Text Box 27"/>
            <p:cNvSpPr txBox="1">
              <a:spLocks noChangeArrowheads="1"/>
            </p:cNvSpPr>
            <p:nvPr/>
          </p:nvSpPr>
          <p:spPr bwMode="auto">
            <a:xfrm>
              <a:off x="3984" y="139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p</a:t>
              </a:r>
            </a:p>
          </p:txBody>
        </p:sp>
      </p:grpSp>
      <p:grpSp>
        <p:nvGrpSpPr>
          <p:cNvPr id="538652" name="Group 28"/>
          <p:cNvGrpSpPr>
            <a:grpSpLocks/>
          </p:cNvGrpSpPr>
          <p:nvPr/>
        </p:nvGrpSpPr>
        <p:grpSpPr bwMode="auto">
          <a:xfrm>
            <a:off x="4812721" y="4455939"/>
            <a:ext cx="1600200" cy="457200"/>
            <a:chOff x="3072" y="768"/>
            <a:chExt cx="1008" cy="288"/>
          </a:xfrm>
        </p:grpSpPr>
        <p:sp>
          <p:nvSpPr>
            <p:cNvPr id="23601" name="Rectangle 29"/>
            <p:cNvSpPr>
              <a:spLocks noChangeArrowheads="1"/>
            </p:cNvSpPr>
            <p:nvPr/>
          </p:nvSpPr>
          <p:spPr bwMode="auto">
            <a:xfrm>
              <a:off x="3456" y="768"/>
              <a:ext cx="624" cy="28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arr+6</a:t>
              </a:r>
            </a:p>
          </p:txBody>
        </p:sp>
        <p:sp>
          <p:nvSpPr>
            <p:cNvPr id="23602" name="Text Box 30"/>
            <p:cNvSpPr txBox="1">
              <a:spLocks noChangeArrowheads="1"/>
            </p:cNvSpPr>
            <p:nvPr/>
          </p:nvSpPr>
          <p:spPr bwMode="auto">
            <a:xfrm>
              <a:off x="3072" y="76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dirty="0"/>
                <a:t>end</a:t>
              </a:r>
            </a:p>
          </p:txBody>
        </p:sp>
      </p:grpSp>
      <p:grpSp>
        <p:nvGrpSpPr>
          <p:cNvPr id="538655" name="Group 31"/>
          <p:cNvGrpSpPr>
            <a:grpSpLocks/>
          </p:cNvGrpSpPr>
          <p:nvPr/>
        </p:nvGrpSpPr>
        <p:grpSpPr bwMode="auto">
          <a:xfrm>
            <a:off x="4754273" y="5115160"/>
            <a:ext cx="1295400" cy="533400"/>
            <a:chOff x="3120" y="1440"/>
            <a:chExt cx="768" cy="288"/>
          </a:xfrm>
        </p:grpSpPr>
        <p:sp>
          <p:nvSpPr>
            <p:cNvPr id="23599" name="Rectangle 32"/>
            <p:cNvSpPr>
              <a:spLocks noChangeArrowheads="1"/>
            </p:cNvSpPr>
            <p:nvPr/>
          </p:nvSpPr>
          <p:spPr bwMode="auto">
            <a:xfrm>
              <a:off x="3552" y="1488"/>
              <a:ext cx="336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00" name="Text Box 33"/>
            <p:cNvSpPr txBox="1">
              <a:spLocks noChangeArrowheads="1"/>
            </p:cNvSpPr>
            <p:nvPr/>
          </p:nvSpPr>
          <p:spPr bwMode="auto">
            <a:xfrm>
              <a:off x="3120" y="1440"/>
              <a:ext cx="480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max</a:t>
              </a:r>
            </a:p>
          </p:txBody>
        </p:sp>
      </p:grpSp>
      <p:sp>
        <p:nvSpPr>
          <p:cNvPr id="538661" name="Text Box 37"/>
          <p:cNvSpPr txBox="1">
            <a:spLocks noChangeArrowheads="1"/>
          </p:cNvSpPr>
          <p:nvPr/>
        </p:nvSpPr>
        <p:spPr bwMode="auto">
          <a:xfrm>
            <a:off x="7022521" y="1179339"/>
            <a:ext cx="533400" cy="319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/>
              <a:t>4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/>
              <a:t>7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/>
              <a:t>1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/>
              <a:t>9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/>
              <a:t>0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/>
              <a:t>5</a:t>
            </a:r>
          </a:p>
        </p:txBody>
      </p:sp>
      <p:grpSp>
        <p:nvGrpSpPr>
          <p:cNvPr id="538662" name="Group 38"/>
          <p:cNvGrpSpPr>
            <a:grpSpLocks/>
          </p:cNvGrpSpPr>
          <p:nvPr/>
        </p:nvGrpSpPr>
        <p:grpSpPr bwMode="auto">
          <a:xfrm>
            <a:off x="5269921" y="1103139"/>
            <a:ext cx="1143000" cy="457200"/>
            <a:chOff x="3840" y="240"/>
            <a:chExt cx="720" cy="288"/>
          </a:xfrm>
        </p:grpSpPr>
        <p:sp>
          <p:nvSpPr>
            <p:cNvPr id="23597" name="Rectangle 39"/>
            <p:cNvSpPr>
              <a:spLocks noChangeArrowheads="1"/>
            </p:cNvSpPr>
            <p:nvPr/>
          </p:nvSpPr>
          <p:spPr bwMode="auto">
            <a:xfrm>
              <a:off x="4224" y="288"/>
              <a:ext cx="336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a</a:t>
              </a:r>
            </a:p>
          </p:txBody>
        </p:sp>
        <p:sp>
          <p:nvSpPr>
            <p:cNvPr id="23598" name="Text Box 40"/>
            <p:cNvSpPr txBox="1">
              <a:spLocks noChangeArrowheads="1"/>
            </p:cNvSpPr>
            <p:nvPr/>
          </p:nvSpPr>
          <p:spPr bwMode="auto">
            <a:xfrm>
              <a:off x="3840" y="24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/>
                <a:t>arr</a:t>
              </a:r>
            </a:p>
          </p:txBody>
        </p:sp>
      </p:grpSp>
      <p:sp>
        <p:nvSpPr>
          <p:cNvPr id="538665" name="Line 41"/>
          <p:cNvSpPr>
            <a:spLocks noChangeShapeType="1"/>
          </p:cNvSpPr>
          <p:nvPr/>
        </p:nvSpPr>
        <p:spPr bwMode="auto">
          <a:xfrm>
            <a:off x="6412921" y="1407939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38666" name="Line 42"/>
          <p:cNvSpPr>
            <a:spLocks noChangeShapeType="1"/>
          </p:cNvSpPr>
          <p:nvPr/>
        </p:nvSpPr>
        <p:spPr bwMode="auto">
          <a:xfrm>
            <a:off x="6412921" y="1941339"/>
            <a:ext cx="3810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38667" name="Line 43"/>
          <p:cNvSpPr>
            <a:spLocks noChangeShapeType="1"/>
          </p:cNvSpPr>
          <p:nvPr/>
        </p:nvSpPr>
        <p:spPr bwMode="auto">
          <a:xfrm>
            <a:off x="6412921" y="4684539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38668" name="Line 44"/>
          <p:cNvSpPr>
            <a:spLocks noChangeShapeType="1"/>
          </p:cNvSpPr>
          <p:nvPr/>
        </p:nvSpPr>
        <p:spPr bwMode="auto">
          <a:xfrm>
            <a:off x="6412921" y="2017539"/>
            <a:ext cx="381000" cy="457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38669" name="Line 45"/>
          <p:cNvSpPr>
            <a:spLocks noChangeShapeType="1"/>
          </p:cNvSpPr>
          <p:nvPr/>
        </p:nvSpPr>
        <p:spPr bwMode="auto">
          <a:xfrm>
            <a:off x="6412921" y="2093739"/>
            <a:ext cx="381000" cy="990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38670" name="Line 46"/>
          <p:cNvSpPr>
            <a:spLocks noChangeShapeType="1"/>
          </p:cNvSpPr>
          <p:nvPr/>
        </p:nvSpPr>
        <p:spPr bwMode="auto">
          <a:xfrm>
            <a:off x="6260521" y="2246139"/>
            <a:ext cx="533400" cy="1371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38671" name="Line 47"/>
          <p:cNvSpPr>
            <a:spLocks noChangeShapeType="1"/>
          </p:cNvSpPr>
          <p:nvPr/>
        </p:nvSpPr>
        <p:spPr bwMode="auto">
          <a:xfrm>
            <a:off x="6184321" y="2246139"/>
            <a:ext cx="609600" cy="1905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38672" name="Text Box 48"/>
          <p:cNvSpPr txBox="1">
            <a:spLocks noChangeArrowheads="1"/>
          </p:cNvSpPr>
          <p:nvPr/>
        </p:nvSpPr>
        <p:spPr bwMode="auto">
          <a:xfrm>
            <a:off x="5425786" y="516278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4</a:t>
            </a:r>
          </a:p>
        </p:txBody>
      </p:sp>
      <p:sp>
        <p:nvSpPr>
          <p:cNvPr id="538674" name="Rectangle 50"/>
          <p:cNvSpPr>
            <a:spLocks noChangeArrowheads="1"/>
          </p:cNvSpPr>
          <p:nvPr/>
        </p:nvSpPr>
        <p:spPr bwMode="auto">
          <a:xfrm>
            <a:off x="5440073" y="5192948"/>
            <a:ext cx="609600" cy="457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7</a:t>
            </a:r>
          </a:p>
        </p:txBody>
      </p:sp>
      <p:sp>
        <p:nvSpPr>
          <p:cNvPr id="538675" name="Rectangle 51"/>
          <p:cNvSpPr>
            <a:spLocks noChangeArrowheads="1"/>
          </p:cNvSpPr>
          <p:nvPr/>
        </p:nvSpPr>
        <p:spPr bwMode="auto">
          <a:xfrm>
            <a:off x="5429971" y="5188291"/>
            <a:ext cx="609600" cy="457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9</a:t>
            </a:r>
          </a:p>
        </p:txBody>
      </p:sp>
      <p:sp>
        <p:nvSpPr>
          <p:cNvPr id="538678" name="Line 54"/>
          <p:cNvSpPr>
            <a:spLocks noChangeShapeType="1"/>
          </p:cNvSpPr>
          <p:nvPr/>
        </p:nvSpPr>
        <p:spPr bwMode="auto">
          <a:xfrm>
            <a:off x="6108121" y="2246139"/>
            <a:ext cx="685800" cy="2362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23591" name="Rectangle 55"/>
          <p:cNvSpPr>
            <a:spLocks noChangeArrowheads="1"/>
          </p:cNvSpPr>
          <p:nvPr/>
        </p:nvSpPr>
        <p:spPr bwMode="auto">
          <a:xfrm>
            <a:off x="109538" y="115888"/>
            <a:ext cx="8769350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6.3.2 </a:t>
            </a:r>
            <a:r>
              <a:rPr lang="zh-CN" altLang="en-US" sz="3200" dirty="0">
                <a:solidFill>
                  <a:srgbClr val="0000FF"/>
                </a:solidFill>
                <a:cs typeface="Times New Roman" panose="02020603050405020304" pitchFamily="18" charset="0"/>
              </a:rPr>
              <a:t>指向数组元素的指针作为函数参数</a:t>
            </a:r>
          </a:p>
        </p:txBody>
      </p:sp>
      <p:sp>
        <p:nvSpPr>
          <p:cNvPr id="538688" name="Line 64"/>
          <p:cNvSpPr>
            <a:spLocks noChangeShapeType="1"/>
          </p:cNvSpPr>
          <p:nvPr/>
        </p:nvSpPr>
        <p:spPr bwMode="auto">
          <a:xfrm flipV="1">
            <a:off x="6186557" y="5397231"/>
            <a:ext cx="6073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48" name="Group 31"/>
          <p:cNvGrpSpPr>
            <a:grpSpLocks/>
          </p:cNvGrpSpPr>
          <p:nvPr/>
        </p:nvGrpSpPr>
        <p:grpSpPr bwMode="auto">
          <a:xfrm>
            <a:off x="6933712" y="5147836"/>
            <a:ext cx="1406723" cy="487098"/>
            <a:chOff x="3552" y="1465"/>
            <a:chExt cx="834" cy="263"/>
          </a:xfrm>
        </p:grpSpPr>
        <p:sp>
          <p:nvSpPr>
            <p:cNvPr id="23595" name="Rectangle 32"/>
            <p:cNvSpPr>
              <a:spLocks noChangeArrowheads="1"/>
            </p:cNvSpPr>
            <p:nvPr/>
          </p:nvSpPr>
          <p:spPr bwMode="auto">
            <a:xfrm>
              <a:off x="3552" y="1488"/>
              <a:ext cx="336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96" name="Text Box 33"/>
            <p:cNvSpPr txBox="1">
              <a:spLocks noChangeArrowheads="1"/>
            </p:cNvSpPr>
            <p:nvPr/>
          </p:nvSpPr>
          <p:spPr bwMode="auto">
            <a:xfrm>
              <a:off x="3906" y="1465"/>
              <a:ext cx="480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dirty="0"/>
                <a:t>max</a:t>
              </a:r>
            </a:p>
          </p:txBody>
        </p:sp>
      </p:grpSp>
      <p:sp>
        <p:nvSpPr>
          <p:cNvPr id="51" name="Rectangle 51"/>
          <p:cNvSpPr>
            <a:spLocks noChangeArrowheads="1"/>
          </p:cNvSpPr>
          <p:nvPr/>
        </p:nvSpPr>
        <p:spPr bwMode="auto">
          <a:xfrm>
            <a:off x="6906726" y="5184084"/>
            <a:ext cx="609600" cy="457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9</a:t>
            </a:r>
          </a:p>
        </p:txBody>
      </p:sp>
      <p:sp>
        <p:nvSpPr>
          <p:cNvPr id="38" name="Rectangle 26"/>
          <p:cNvSpPr>
            <a:spLocks noChangeArrowheads="1"/>
          </p:cNvSpPr>
          <p:nvPr/>
        </p:nvSpPr>
        <p:spPr bwMode="auto">
          <a:xfrm>
            <a:off x="5576858" y="1790790"/>
            <a:ext cx="8382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arr+2</a:t>
            </a:r>
          </a:p>
        </p:txBody>
      </p:sp>
      <p:sp>
        <p:nvSpPr>
          <p:cNvPr id="39" name="Rectangle 26"/>
          <p:cNvSpPr>
            <a:spLocks noChangeArrowheads="1"/>
          </p:cNvSpPr>
          <p:nvPr/>
        </p:nvSpPr>
        <p:spPr bwMode="auto">
          <a:xfrm>
            <a:off x="5576858" y="1784825"/>
            <a:ext cx="8382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arr+3</a:t>
            </a:r>
          </a:p>
        </p:txBody>
      </p:sp>
      <p:sp>
        <p:nvSpPr>
          <p:cNvPr id="40" name="Rectangle 26"/>
          <p:cNvSpPr>
            <a:spLocks noChangeArrowheads="1"/>
          </p:cNvSpPr>
          <p:nvPr/>
        </p:nvSpPr>
        <p:spPr bwMode="auto">
          <a:xfrm>
            <a:off x="5576542" y="1783237"/>
            <a:ext cx="8382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arr+4</a:t>
            </a:r>
          </a:p>
        </p:txBody>
      </p:sp>
      <p:sp>
        <p:nvSpPr>
          <p:cNvPr id="41" name="Rectangle 26"/>
          <p:cNvSpPr>
            <a:spLocks noChangeArrowheads="1"/>
          </p:cNvSpPr>
          <p:nvPr/>
        </p:nvSpPr>
        <p:spPr bwMode="auto">
          <a:xfrm>
            <a:off x="5574721" y="1783237"/>
            <a:ext cx="8382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arr+5</a:t>
            </a:r>
          </a:p>
        </p:txBody>
      </p:sp>
      <p:sp>
        <p:nvSpPr>
          <p:cNvPr id="42" name="Rectangle 26"/>
          <p:cNvSpPr>
            <a:spLocks noChangeArrowheads="1"/>
          </p:cNvSpPr>
          <p:nvPr/>
        </p:nvSpPr>
        <p:spPr bwMode="auto">
          <a:xfrm>
            <a:off x="5574721" y="1789733"/>
            <a:ext cx="8382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arr+6</a:t>
            </a:r>
          </a:p>
        </p:txBody>
      </p:sp>
      <p:sp>
        <p:nvSpPr>
          <p:cNvPr id="45" name="Rectangle 33"/>
          <p:cNvSpPr>
            <a:spLocks noChangeArrowheads="1"/>
          </p:cNvSpPr>
          <p:nvPr/>
        </p:nvSpPr>
        <p:spPr bwMode="auto">
          <a:xfrm>
            <a:off x="80667" y="498233"/>
            <a:ext cx="7747069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6.9 </a:t>
            </a:r>
            <a:r>
              <a:rPr lang="zh-CN" altLang="en-US" dirty="0"/>
              <a:t>求数组中最大元素</a:t>
            </a:r>
            <a:r>
              <a:rPr lang="en-US" altLang="zh-CN" dirty="0"/>
              <a:t>(</a:t>
            </a:r>
            <a:r>
              <a:rPr lang="zh-CN" altLang="en-US" dirty="0"/>
              <a:t>使用指针作函数参数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7374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3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3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3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386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3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386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386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3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386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5386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3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3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3" dur="500"/>
                                        <p:tgtEl>
                                          <p:spTgt spid="5386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6" dur="500"/>
                                        <p:tgtEl>
                                          <p:spTgt spid="538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9" dur="500"/>
                                        <p:tgtEl>
                                          <p:spTgt spid="538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2" dur="500"/>
                                        <p:tgtEl>
                                          <p:spTgt spid="5386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5" dur="500"/>
                                        <p:tgtEl>
                                          <p:spTgt spid="538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8" dur="500"/>
                                        <p:tgtEl>
                                          <p:spTgt spid="5386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1" dur="500"/>
                                        <p:tgtEl>
                                          <p:spTgt spid="5386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4" dur="500"/>
                                        <p:tgtEl>
                                          <p:spTgt spid="5386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7" dur="500"/>
                                        <p:tgtEl>
                                          <p:spTgt spid="5386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0" dur="500"/>
                                        <p:tgtEl>
                                          <p:spTgt spid="5386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3" dur="500"/>
                                        <p:tgtEl>
                                          <p:spTgt spid="5386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6" dur="500"/>
                                        <p:tgtEl>
                                          <p:spTgt spid="5386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9" dur="500"/>
                                        <p:tgtEl>
                                          <p:spTgt spid="5386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2" dur="500"/>
                                        <p:tgtEl>
                                          <p:spTgt spid="538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5" dur="500"/>
                                        <p:tgtEl>
                                          <p:spTgt spid="5386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8" dur="500"/>
                                        <p:tgtEl>
                                          <p:spTgt spid="5386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1" dur="500"/>
                                        <p:tgtEl>
                                          <p:spTgt spid="5386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45" grpId="0" autoUpdateAnimBg="0"/>
      <p:bldP spid="538661" grpId="0" autoUpdateAnimBg="0"/>
      <p:bldP spid="538672" grpId="0" autoUpdateAnimBg="0"/>
      <p:bldP spid="538672" grpId="1"/>
      <p:bldP spid="538674" grpId="0" animBg="1" autoUpdateAnimBg="0"/>
      <p:bldP spid="538674" grpId="1" animBg="1"/>
      <p:bldP spid="538675" grpId="0" animBg="1" autoUpdateAnimBg="0"/>
      <p:bldP spid="538675" grpId="1" animBg="1"/>
      <p:bldP spid="51" grpId="0" animBg="1" autoUpdateAnimBg="0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5011" name="Group 3">
            <a:extLst>
              <a:ext uri="{FF2B5EF4-FFF2-40B4-BE49-F238E27FC236}">
                <a16:creationId xmlns:a16="http://schemas.microsoft.com/office/drawing/2014/main" id="{56B4E217-9620-4129-AB2D-FA689AD05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04196"/>
              </p:ext>
            </p:extLst>
          </p:nvPr>
        </p:nvGraphicFramePr>
        <p:xfrm>
          <a:off x="1944688" y="2252663"/>
          <a:ext cx="719137" cy="2124075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8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55021" name="Group 13">
            <a:extLst>
              <a:ext uri="{FF2B5EF4-FFF2-40B4-BE49-F238E27FC236}">
                <a16:creationId xmlns:a16="http://schemas.microsoft.com/office/drawing/2014/main" id="{B5C43B4F-16CC-4C87-A13A-B0FFB40A4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557424"/>
              </p:ext>
            </p:extLst>
          </p:nvPr>
        </p:nvGraphicFramePr>
        <p:xfrm>
          <a:off x="3814763" y="2287588"/>
          <a:ext cx="4465637" cy="647700"/>
        </p:xfrm>
        <a:graphic>
          <a:graphicData uri="http://schemas.openxmlformats.org/drawingml/2006/table">
            <a:tbl>
              <a:tblPr/>
              <a:tblGrid>
                <a:gridCol w="1116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[3]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5033" name="Group 25">
            <a:extLst>
              <a:ext uri="{FF2B5EF4-FFF2-40B4-BE49-F238E27FC236}">
                <a16:creationId xmlns:a16="http://schemas.microsoft.com/office/drawing/2014/main" id="{401AA02B-75C5-40B4-805E-375502B52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405848"/>
              </p:ext>
            </p:extLst>
          </p:nvPr>
        </p:nvGraphicFramePr>
        <p:xfrm>
          <a:off x="3814763" y="3008313"/>
          <a:ext cx="4465637" cy="647700"/>
        </p:xfrm>
        <a:graphic>
          <a:graphicData uri="http://schemas.openxmlformats.org/drawingml/2006/table">
            <a:tbl>
              <a:tblPr/>
              <a:tblGrid>
                <a:gridCol w="1116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[3]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5045" name="Group 37">
            <a:extLst>
              <a:ext uri="{FF2B5EF4-FFF2-40B4-BE49-F238E27FC236}">
                <a16:creationId xmlns:a16="http://schemas.microsoft.com/office/drawing/2014/main" id="{D28F8D60-659B-4B22-9C73-AC339B59F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498447"/>
              </p:ext>
            </p:extLst>
          </p:nvPr>
        </p:nvGraphicFramePr>
        <p:xfrm>
          <a:off x="3814763" y="3729038"/>
          <a:ext cx="4465637" cy="647700"/>
        </p:xfrm>
        <a:graphic>
          <a:graphicData uri="http://schemas.openxmlformats.org/drawingml/2006/table">
            <a:tbl>
              <a:tblPr/>
              <a:tblGrid>
                <a:gridCol w="1116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[3]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5057" name="Text Box 49"/>
          <p:cNvSpPr txBox="1">
            <a:spLocks noChangeArrowheads="1"/>
          </p:cNvSpPr>
          <p:nvPr/>
        </p:nvSpPr>
        <p:spPr bwMode="auto">
          <a:xfrm>
            <a:off x="179388" y="765175"/>
            <a:ext cx="88217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0" lang="en-US" altLang="zh-CN" sz="2400" b="1">
                <a:latin typeface="Times New Roman" panose="02020603050405020304" pitchFamily="18" charset="0"/>
              </a:rPr>
              <a:t>int </a:t>
            </a:r>
            <a:r>
              <a:rPr lang="en-US" altLang="zh-CN" sz="2400" b="1">
                <a:latin typeface="Times New Roman" panose="02020603050405020304" pitchFamily="18" charset="0"/>
              </a:rPr>
              <a:t>a[3][4]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0" lang="zh-CN" altLang="en-US" sz="2400" b="1">
                <a:latin typeface="Times New Roman" panose="02020603050405020304" pitchFamily="18" charset="0"/>
              </a:rPr>
              <a:t>把二</a:t>
            </a:r>
            <a:r>
              <a:rPr lang="zh-CN" altLang="en-US" sz="2400" b="1">
                <a:latin typeface="Times New Roman" panose="02020603050405020304" pitchFamily="18" charset="0"/>
              </a:rPr>
              <a:t>维数组</a:t>
            </a:r>
            <a:r>
              <a:rPr lang="en-US" altLang="zh-CN" sz="2400" b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理解成一个一维数组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它有</a:t>
            </a:r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</a:rPr>
              <a:t>个元素</a:t>
            </a:r>
            <a:r>
              <a:rPr lang="en-US" altLang="zh-CN" sz="2400" b="1">
                <a:latin typeface="Times New Roman" panose="02020603050405020304" pitchFamily="18" charset="0"/>
              </a:rPr>
              <a:t>: a[0], a[1], a[2]</a:t>
            </a:r>
          </a:p>
        </p:txBody>
      </p:sp>
      <p:sp>
        <p:nvSpPr>
          <p:cNvPr id="555058" name="Text Box 50"/>
          <p:cNvSpPr txBox="1">
            <a:spLocks noChangeArrowheads="1"/>
          </p:cNvSpPr>
          <p:nvPr/>
        </p:nvSpPr>
        <p:spPr bwMode="auto">
          <a:xfrm>
            <a:off x="436563" y="4519613"/>
            <a:ext cx="853791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每一个元素又是一个一维数组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包含</a:t>
            </a: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</a:rPr>
              <a:t>个元素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如</a:t>
            </a:r>
            <a:r>
              <a:rPr lang="en-US" altLang="zh-CN" sz="2400" b="1">
                <a:latin typeface="Times New Roman" panose="02020603050405020304" pitchFamily="18" charset="0"/>
              </a:rPr>
              <a:t>a[0]</a:t>
            </a:r>
            <a:r>
              <a:rPr lang="zh-CN" altLang="en-US" sz="2400" b="1">
                <a:latin typeface="Times New Roman" panose="02020603050405020304" pitchFamily="18" charset="0"/>
              </a:rPr>
              <a:t>是一维数组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它有</a:t>
            </a: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</a:rPr>
              <a:t>个元素</a:t>
            </a:r>
            <a:r>
              <a:rPr lang="en-US" altLang="zh-CN" sz="2400" b="1">
                <a:latin typeface="Times New Roman" panose="02020603050405020304" pitchFamily="18" charset="0"/>
              </a:rPr>
              <a:t>: a[0][0], a[0][1], a[0][2], a[0][3]</a:t>
            </a:r>
          </a:p>
        </p:txBody>
      </p:sp>
      <p:sp>
        <p:nvSpPr>
          <p:cNvPr id="555059" name="Text Box 51"/>
          <p:cNvSpPr txBox="1">
            <a:spLocks noChangeArrowheads="1"/>
          </p:cNvSpPr>
          <p:nvPr/>
        </p:nvSpPr>
        <p:spPr bwMode="auto">
          <a:xfrm>
            <a:off x="179388" y="5419725"/>
            <a:ext cx="4537075" cy="45720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PS: a[0], a[1], a[2]</a:t>
            </a:r>
            <a:r>
              <a:rPr lang="zh-CN" altLang="en-US" sz="2400" b="1">
                <a:latin typeface="Times New Roman" panose="02020603050405020304" pitchFamily="18" charset="0"/>
              </a:rPr>
              <a:t>并不真的存在</a:t>
            </a:r>
          </a:p>
        </p:txBody>
      </p:sp>
      <p:sp>
        <p:nvSpPr>
          <p:cNvPr id="555060" name="Line 52"/>
          <p:cNvSpPr>
            <a:spLocks noChangeShapeType="1"/>
          </p:cNvSpPr>
          <p:nvPr/>
        </p:nvSpPr>
        <p:spPr bwMode="auto">
          <a:xfrm>
            <a:off x="2808288" y="2576513"/>
            <a:ext cx="792162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55061" name="Line 53"/>
          <p:cNvSpPr>
            <a:spLocks noChangeShapeType="1"/>
          </p:cNvSpPr>
          <p:nvPr/>
        </p:nvSpPr>
        <p:spPr bwMode="auto">
          <a:xfrm>
            <a:off x="2808288" y="3295650"/>
            <a:ext cx="792162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55062" name="Line 54"/>
          <p:cNvSpPr>
            <a:spLocks noChangeShapeType="1"/>
          </p:cNvSpPr>
          <p:nvPr/>
        </p:nvSpPr>
        <p:spPr bwMode="auto">
          <a:xfrm>
            <a:off x="2808288" y="4016375"/>
            <a:ext cx="792162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55063" name="AutoShape 55"/>
          <p:cNvSpPr>
            <a:spLocks noChangeArrowheads="1"/>
          </p:cNvSpPr>
          <p:nvPr/>
        </p:nvSpPr>
        <p:spPr bwMode="auto">
          <a:xfrm>
            <a:off x="179388" y="2108200"/>
            <a:ext cx="1476375" cy="503238"/>
          </a:xfrm>
          <a:prstGeom prst="wedgeRectCallout">
            <a:avLst>
              <a:gd name="adj1" fmla="val 65806"/>
              <a:gd name="adj2" fmla="val 46528"/>
            </a:avLst>
          </a:prstGeom>
          <a:solidFill>
            <a:srgbClr val="FFFFCC"/>
          </a:solidFill>
          <a:ln w="127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楷体" panose="02010609060101010101" pitchFamily="49" charset="-122"/>
              </a:rPr>
              <a:t>一维数组</a:t>
            </a:r>
            <a:r>
              <a:rPr lang="en-US" altLang="zh-CN" sz="2200" b="1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555064" name="AutoShape 56"/>
          <p:cNvSpPr>
            <a:spLocks noChangeArrowheads="1"/>
          </p:cNvSpPr>
          <p:nvPr/>
        </p:nvSpPr>
        <p:spPr bwMode="auto">
          <a:xfrm>
            <a:off x="2879725" y="1701800"/>
            <a:ext cx="1800225" cy="431800"/>
          </a:xfrm>
          <a:prstGeom prst="wedgeRectCallout">
            <a:avLst>
              <a:gd name="adj1" fmla="val -1764"/>
              <a:gd name="adj2" fmla="val 130884"/>
            </a:avLst>
          </a:prstGeom>
          <a:solidFill>
            <a:srgbClr val="FFFFCC"/>
          </a:solidFill>
          <a:ln w="127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楷体" panose="02010609060101010101" pitchFamily="49" charset="-122"/>
              </a:rPr>
              <a:t>一维数组</a:t>
            </a:r>
            <a:r>
              <a:rPr lang="en-US" altLang="zh-CN" sz="2200" b="1">
                <a:latin typeface="Times New Roman" panose="02020603050405020304" pitchFamily="18" charset="0"/>
                <a:ea typeface="楷体" panose="02010609060101010101" pitchFamily="49" charset="-122"/>
              </a:rPr>
              <a:t>a[0]</a:t>
            </a:r>
          </a:p>
        </p:txBody>
      </p:sp>
      <p:sp>
        <p:nvSpPr>
          <p:cNvPr id="5176" name="Text Box 58"/>
          <p:cNvSpPr txBox="1">
            <a:spLocks noChangeArrowheads="1"/>
          </p:cNvSpPr>
          <p:nvPr/>
        </p:nvSpPr>
        <p:spPr bwMode="auto">
          <a:xfrm>
            <a:off x="107950" y="115888"/>
            <a:ext cx="6148388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6.3.3 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二维数组与指针</a:t>
            </a:r>
          </a:p>
        </p:txBody>
      </p:sp>
    </p:spTree>
    <p:extLst>
      <p:ext uri="{BB962C8B-B14F-4D97-AF65-F5344CB8AC3E}">
        <p14:creationId xmlns:p14="http://schemas.microsoft.com/office/powerpoint/2010/main" val="154017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5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5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5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5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555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5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55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57" grpId="0"/>
      <p:bldP spid="555058" grpId="0"/>
      <p:bldP spid="555059" grpId="0" animBg="1"/>
      <p:bldP spid="555063" grpId="0" animBg="1"/>
      <p:bldP spid="55506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07950" y="115888"/>
            <a:ext cx="4300607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6.3.3 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二维数组与指针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15900" y="1019035"/>
            <a:ext cx="745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二维数组是由一维数组组成。</a:t>
            </a:r>
          </a:p>
        </p:txBody>
      </p:sp>
      <p:graphicFrame>
        <p:nvGraphicFramePr>
          <p:cNvPr id="557060" name="Group 4">
            <a:extLst>
              <a:ext uri="{FF2B5EF4-FFF2-40B4-BE49-F238E27FC236}">
                <a16:creationId xmlns:a16="http://schemas.microsoft.com/office/drawing/2014/main" id="{E678D7E3-3507-498F-9525-3B9CA9E86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246602"/>
              </p:ext>
            </p:extLst>
          </p:nvPr>
        </p:nvGraphicFramePr>
        <p:xfrm>
          <a:off x="2411413" y="2171560"/>
          <a:ext cx="719137" cy="2124075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8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57070" name="Group 14">
            <a:extLst>
              <a:ext uri="{FF2B5EF4-FFF2-40B4-BE49-F238E27FC236}">
                <a16:creationId xmlns:a16="http://schemas.microsoft.com/office/drawing/2014/main" id="{E08FDC6D-63E3-410A-8ABC-0ECD3CC79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170087"/>
              </p:ext>
            </p:extLst>
          </p:nvPr>
        </p:nvGraphicFramePr>
        <p:xfrm>
          <a:off x="3959225" y="2217598"/>
          <a:ext cx="4465638" cy="647700"/>
        </p:xfrm>
        <a:graphic>
          <a:graphicData uri="http://schemas.openxmlformats.org/drawingml/2006/table">
            <a:tbl>
              <a:tblPr/>
              <a:tblGrid>
                <a:gridCol w="111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[3]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082" name="Group 26">
            <a:extLst>
              <a:ext uri="{FF2B5EF4-FFF2-40B4-BE49-F238E27FC236}">
                <a16:creationId xmlns:a16="http://schemas.microsoft.com/office/drawing/2014/main" id="{E516303E-208C-485E-A65D-F40BBC470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521540"/>
              </p:ext>
            </p:extLst>
          </p:nvPr>
        </p:nvGraphicFramePr>
        <p:xfrm>
          <a:off x="3959225" y="2938323"/>
          <a:ext cx="4465638" cy="647700"/>
        </p:xfrm>
        <a:graphic>
          <a:graphicData uri="http://schemas.openxmlformats.org/drawingml/2006/table">
            <a:tbl>
              <a:tblPr/>
              <a:tblGrid>
                <a:gridCol w="111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[3]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094" name="Group 38">
            <a:extLst>
              <a:ext uri="{FF2B5EF4-FFF2-40B4-BE49-F238E27FC236}">
                <a16:creationId xmlns:a16="http://schemas.microsoft.com/office/drawing/2014/main" id="{30A61D1D-3BB6-4983-A420-B103BB3A2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51914"/>
              </p:ext>
            </p:extLst>
          </p:nvPr>
        </p:nvGraphicFramePr>
        <p:xfrm>
          <a:off x="3959225" y="3659048"/>
          <a:ext cx="4465638" cy="647700"/>
        </p:xfrm>
        <a:graphic>
          <a:graphicData uri="http://schemas.openxmlformats.org/drawingml/2006/table">
            <a:tbl>
              <a:tblPr/>
              <a:tblGrid>
                <a:gridCol w="111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[3]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18" name="Line 50"/>
          <p:cNvSpPr>
            <a:spLocks noChangeShapeType="1"/>
          </p:cNvSpPr>
          <p:nvPr/>
        </p:nvSpPr>
        <p:spPr bwMode="auto">
          <a:xfrm>
            <a:off x="3203575" y="2506523"/>
            <a:ext cx="720725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7219" name="Line 51"/>
          <p:cNvSpPr>
            <a:spLocks noChangeShapeType="1"/>
          </p:cNvSpPr>
          <p:nvPr/>
        </p:nvSpPr>
        <p:spPr bwMode="auto">
          <a:xfrm>
            <a:off x="3240088" y="3225660"/>
            <a:ext cx="684212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7220" name="Line 52"/>
          <p:cNvSpPr>
            <a:spLocks noChangeShapeType="1"/>
          </p:cNvSpPr>
          <p:nvPr/>
        </p:nvSpPr>
        <p:spPr bwMode="auto">
          <a:xfrm>
            <a:off x="3240088" y="3946385"/>
            <a:ext cx="719137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57109" name="AutoShape 53"/>
          <p:cNvSpPr>
            <a:spLocks noChangeArrowheads="1"/>
          </p:cNvSpPr>
          <p:nvPr/>
        </p:nvSpPr>
        <p:spPr bwMode="auto">
          <a:xfrm>
            <a:off x="323850" y="2038210"/>
            <a:ext cx="1476375" cy="503238"/>
          </a:xfrm>
          <a:prstGeom prst="wedgeRectCallout">
            <a:avLst>
              <a:gd name="adj1" fmla="val 68171"/>
              <a:gd name="adj2" fmla="val 161042"/>
            </a:avLst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楷体" panose="02010609060101010101" pitchFamily="49" charset="-122"/>
              </a:rPr>
              <a:t>一维数组</a:t>
            </a:r>
            <a:r>
              <a:rPr lang="en-US" altLang="zh-CN" sz="2200" b="1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557110" name="AutoShape 54"/>
          <p:cNvSpPr>
            <a:spLocks noChangeArrowheads="1"/>
          </p:cNvSpPr>
          <p:nvPr/>
        </p:nvSpPr>
        <p:spPr bwMode="auto">
          <a:xfrm>
            <a:off x="6911975" y="1452423"/>
            <a:ext cx="1800225" cy="431800"/>
          </a:xfrm>
          <a:prstGeom prst="wedgeRectCallout">
            <a:avLst>
              <a:gd name="adj1" fmla="val -84745"/>
              <a:gd name="adj2" fmla="val 125000"/>
            </a:avLst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楷体" panose="02010609060101010101" pitchFamily="49" charset="-122"/>
              </a:rPr>
              <a:t>一维数组</a:t>
            </a:r>
            <a:r>
              <a:rPr lang="en-US" altLang="zh-CN" sz="2200" b="1">
                <a:latin typeface="Times New Roman" panose="02020603050405020304" pitchFamily="18" charset="0"/>
                <a:ea typeface="楷体" panose="02010609060101010101" pitchFamily="49" charset="-122"/>
              </a:rPr>
              <a:t>a[0]</a:t>
            </a:r>
          </a:p>
        </p:txBody>
      </p:sp>
      <p:sp>
        <p:nvSpPr>
          <p:cNvPr id="557111" name="AutoShape 55"/>
          <p:cNvSpPr>
            <a:spLocks noChangeArrowheads="1"/>
          </p:cNvSpPr>
          <p:nvPr/>
        </p:nvSpPr>
        <p:spPr bwMode="auto">
          <a:xfrm>
            <a:off x="179388" y="3287573"/>
            <a:ext cx="1981200" cy="1081087"/>
          </a:xfrm>
          <a:prstGeom prst="cloudCallout">
            <a:avLst>
              <a:gd name="adj1" fmla="val -6731"/>
              <a:gd name="adj2" fmla="val -99194"/>
            </a:avLst>
          </a:prstGeom>
          <a:solidFill>
            <a:srgbClr val="FFFFCC"/>
          </a:solidFill>
          <a:ln w="12700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</a:rPr>
              <a:t>是否存在地址？</a:t>
            </a:r>
          </a:p>
        </p:txBody>
      </p:sp>
      <p:sp>
        <p:nvSpPr>
          <p:cNvPr id="557112" name="AutoShape 56"/>
          <p:cNvSpPr>
            <a:spLocks noChangeArrowheads="1"/>
          </p:cNvSpPr>
          <p:nvPr/>
        </p:nvSpPr>
        <p:spPr bwMode="auto">
          <a:xfrm>
            <a:off x="4356100" y="768210"/>
            <a:ext cx="1981200" cy="1081088"/>
          </a:xfrm>
          <a:prstGeom prst="cloudCallout">
            <a:avLst>
              <a:gd name="adj1" fmla="val 76602"/>
              <a:gd name="adj2" fmla="val 11231"/>
            </a:avLst>
          </a:prstGeom>
          <a:solidFill>
            <a:srgbClr val="FFFFCC"/>
          </a:solidFill>
          <a:ln w="12700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</a:rPr>
              <a:t>是否存在地址？</a:t>
            </a:r>
          </a:p>
        </p:txBody>
      </p:sp>
      <p:sp>
        <p:nvSpPr>
          <p:cNvPr id="557113" name="Text Box 57"/>
          <p:cNvSpPr txBox="1">
            <a:spLocks noChangeArrowheads="1"/>
          </p:cNvSpPr>
          <p:nvPr/>
        </p:nvSpPr>
        <p:spPr bwMode="auto">
          <a:xfrm>
            <a:off x="287338" y="4617898"/>
            <a:ext cx="82454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500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二维数组必然存在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两种</a:t>
            </a:r>
            <a:r>
              <a:rPr lang="zh-CN" altLang="en-US" sz="2400" b="1">
                <a:latin typeface="Times New Roman" panose="02020603050405020304" pitchFamily="18" charset="0"/>
              </a:rPr>
              <a:t>截然不同的地址：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一种是指向数组的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</a:rPr>
              <a:t>指向数组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的地址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， 即行地址</a:t>
            </a:r>
            <a:r>
              <a:rPr lang="zh-CN" altLang="en-US" sz="2400" b="1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一种是指向数组的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列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</a:rPr>
              <a:t>指向数组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a[0]</a:t>
            </a:r>
            <a:r>
              <a:rPr lang="zh-CN" altLang="en-US" sz="2400" b="1">
                <a:latin typeface="Times New Roman" panose="02020603050405020304" pitchFamily="18" charset="0"/>
              </a:rPr>
              <a:t>的地址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，即列地址</a:t>
            </a:r>
            <a:r>
              <a:rPr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557114" name="AutoShape 58"/>
          <p:cNvSpPr>
            <a:spLocks noChangeArrowheads="1"/>
          </p:cNvSpPr>
          <p:nvPr/>
        </p:nvSpPr>
        <p:spPr bwMode="auto">
          <a:xfrm>
            <a:off x="192088" y="3285985"/>
            <a:ext cx="1981200" cy="1081088"/>
          </a:xfrm>
          <a:prstGeom prst="cloudCallout">
            <a:avLst>
              <a:gd name="adj1" fmla="val -6171"/>
              <a:gd name="adj2" fmla="val -109176"/>
            </a:avLst>
          </a:prstGeom>
          <a:solidFill>
            <a:srgbClr val="FFFFCC"/>
          </a:solidFill>
          <a:ln w="12700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行地址</a:t>
            </a:r>
          </a:p>
        </p:txBody>
      </p:sp>
      <p:sp>
        <p:nvSpPr>
          <p:cNvPr id="557115" name="AutoShape 59"/>
          <p:cNvSpPr>
            <a:spLocks noChangeArrowheads="1"/>
          </p:cNvSpPr>
          <p:nvPr/>
        </p:nvSpPr>
        <p:spPr bwMode="auto">
          <a:xfrm>
            <a:off x="4319588" y="749160"/>
            <a:ext cx="1981200" cy="1081088"/>
          </a:xfrm>
          <a:prstGeom prst="cloudCallout">
            <a:avLst>
              <a:gd name="adj1" fmla="val 80769"/>
              <a:gd name="adj2" fmla="val 13144"/>
            </a:avLst>
          </a:prstGeom>
          <a:solidFill>
            <a:srgbClr val="FFFFCC"/>
          </a:solidFill>
          <a:ln w="12700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列地址</a:t>
            </a:r>
          </a:p>
        </p:txBody>
      </p:sp>
    </p:spTree>
    <p:extLst>
      <p:ext uri="{BB962C8B-B14F-4D97-AF65-F5344CB8AC3E}">
        <p14:creationId xmlns:p14="http://schemas.microsoft.com/office/powerpoint/2010/main" val="268562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7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57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57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109" grpId="0" animBg="1"/>
      <p:bldP spid="557110" grpId="0" animBg="1"/>
      <p:bldP spid="557111" grpId="0" animBg="1"/>
      <p:bldP spid="557112" grpId="0" animBg="1"/>
      <p:bldP spid="557114" grpId="0" animBg="1"/>
      <p:bldP spid="5571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07950" y="115888"/>
            <a:ext cx="55086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3333FF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二维数组的地址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行地址</a:t>
            </a:r>
          </a:p>
        </p:txBody>
      </p:sp>
      <p:graphicFrame>
        <p:nvGraphicFramePr>
          <p:cNvPr id="559107" name="Group 3">
            <a:extLst>
              <a:ext uri="{FF2B5EF4-FFF2-40B4-BE49-F238E27FC236}">
                <a16:creationId xmlns:a16="http://schemas.microsoft.com/office/drawing/2014/main" id="{3B715235-BC94-4BB4-B0E6-19EABA5EC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929585"/>
              </p:ext>
            </p:extLst>
          </p:nvPr>
        </p:nvGraphicFramePr>
        <p:xfrm>
          <a:off x="2997200" y="3016598"/>
          <a:ext cx="3662363" cy="1628776"/>
        </p:xfrm>
        <a:graphic>
          <a:graphicData uri="http://schemas.openxmlformats.org/drawingml/2006/table">
            <a:tbl>
              <a:tblPr/>
              <a:tblGrid>
                <a:gridCol w="3662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5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       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9117" name="Text Box 13"/>
          <p:cNvSpPr txBox="1">
            <a:spLocks noChangeArrowheads="1"/>
          </p:cNvSpPr>
          <p:nvPr/>
        </p:nvSpPr>
        <p:spPr bwMode="auto">
          <a:xfrm>
            <a:off x="179388" y="886173"/>
            <a:ext cx="5688012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>
                <a:srgbClr val="3333FF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二维数组名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二维数组的首地址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10000"/>
              </a:spcBef>
              <a:buClr>
                <a:srgbClr val="3333FF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</a:rPr>
              <a:t>也是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 sz="2400" b="1" dirty="0">
                <a:latin typeface="Times New Roman" panose="02020603050405020304" pitchFamily="18" charset="0"/>
              </a:rPr>
              <a:t>的首地址</a:t>
            </a:r>
            <a:r>
              <a:rPr lang="en-US" altLang="zh-CN" sz="2400" b="1" dirty="0">
                <a:latin typeface="Times New Roman" panose="02020603050405020304" pitchFamily="18" charset="0"/>
              </a:rPr>
              <a:t>, a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</a:rPr>
              <a:t> &amp;a[0]   </a:t>
            </a:r>
          </a:p>
        </p:txBody>
      </p:sp>
      <p:grpSp>
        <p:nvGrpSpPr>
          <p:cNvPr id="559118" name="Group 14"/>
          <p:cNvGrpSpPr>
            <a:grpSpLocks/>
          </p:cNvGrpSpPr>
          <p:nvPr/>
        </p:nvGrpSpPr>
        <p:grpSpPr bwMode="auto">
          <a:xfrm>
            <a:off x="1196975" y="3034060"/>
            <a:ext cx="1800225" cy="457200"/>
            <a:chOff x="1973" y="1395"/>
            <a:chExt cx="1134" cy="288"/>
          </a:xfrm>
        </p:grpSpPr>
        <p:sp>
          <p:nvSpPr>
            <p:cNvPr id="9241" name="Text Box 15"/>
            <p:cNvSpPr txBox="1">
              <a:spLocks noChangeArrowheads="1"/>
            </p:cNvSpPr>
            <p:nvPr/>
          </p:nvSpPr>
          <p:spPr bwMode="auto">
            <a:xfrm>
              <a:off x="1973" y="1395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a, &amp;a[0]</a:t>
              </a:r>
            </a:p>
          </p:txBody>
        </p:sp>
        <p:sp>
          <p:nvSpPr>
            <p:cNvPr id="9242" name="Line 16"/>
            <p:cNvSpPr>
              <a:spLocks noChangeShapeType="1"/>
            </p:cNvSpPr>
            <p:nvPr/>
          </p:nvSpPr>
          <p:spPr bwMode="auto">
            <a:xfrm>
              <a:off x="2744" y="1570"/>
              <a:ext cx="363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559121" name="Group 17"/>
          <p:cNvGrpSpPr>
            <a:grpSpLocks/>
          </p:cNvGrpSpPr>
          <p:nvPr/>
        </p:nvGrpSpPr>
        <p:grpSpPr bwMode="auto">
          <a:xfrm>
            <a:off x="846138" y="3575398"/>
            <a:ext cx="2151062" cy="457200"/>
            <a:chOff x="1576" y="2018"/>
            <a:chExt cx="1355" cy="288"/>
          </a:xfrm>
        </p:grpSpPr>
        <p:sp>
          <p:nvSpPr>
            <p:cNvPr id="9239" name="Text Box 18"/>
            <p:cNvSpPr txBox="1">
              <a:spLocks noChangeArrowheads="1"/>
            </p:cNvSpPr>
            <p:nvPr/>
          </p:nvSpPr>
          <p:spPr bwMode="auto">
            <a:xfrm>
              <a:off x="1576" y="2018"/>
              <a:ext cx="9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a+1, &amp;a[1]</a:t>
              </a:r>
            </a:p>
          </p:txBody>
        </p:sp>
        <p:sp>
          <p:nvSpPr>
            <p:cNvPr id="9240" name="Line 19"/>
            <p:cNvSpPr>
              <a:spLocks noChangeShapeType="1"/>
            </p:cNvSpPr>
            <p:nvPr/>
          </p:nvSpPr>
          <p:spPr bwMode="auto">
            <a:xfrm>
              <a:off x="2568" y="2188"/>
              <a:ext cx="363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559124" name="Group 20"/>
          <p:cNvGrpSpPr>
            <a:grpSpLocks/>
          </p:cNvGrpSpPr>
          <p:nvPr/>
        </p:nvGrpSpPr>
        <p:grpSpPr bwMode="auto">
          <a:xfrm>
            <a:off x="846138" y="4115148"/>
            <a:ext cx="2151062" cy="457200"/>
            <a:chOff x="1349" y="2699"/>
            <a:chExt cx="1355" cy="288"/>
          </a:xfrm>
        </p:grpSpPr>
        <p:sp>
          <p:nvSpPr>
            <p:cNvPr id="9237" name="Text Box 21"/>
            <p:cNvSpPr txBox="1">
              <a:spLocks noChangeArrowheads="1"/>
            </p:cNvSpPr>
            <p:nvPr/>
          </p:nvSpPr>
          <p:spPr bwMode="auto">
            <a:xfrm>
              <a:off x="1349" y="2699"/>
              <a:ext cx="9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a+2, &amp;a[2]</a:t>
              </a:r>
            </a:p>
          </p:txBody>
        </p:sp>
        <p:sp>
          <p:nvSpPr>
            <p:cNvPr id="9238" name="Line 22"/>
            <p:cNvSpPr>
              <a:spLocks noChangeShapeType="1"/>
            </p:cNvSpPr>
            <p:nvPr/>
          </p:nvSpPr>
          <p:spPr bwMode="auto">
            <a:xfrm>
              <a:off x="2341" y="2869"/>
              <a:ext cx="363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559127" name="Text Box 23"/>
          <p:cNvSpPr txBox="1">
            <a:spLocks noChangeArrowheads="1"/>
          </p:cNvSpPr>
          <p:nvPr/>
        </p:nvSpPr>
        <p:spPr bwMode="auto">
          <a:xfrm>
            <a:off x="430213" y="1760885"/>
            <a:ext cx="5176417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a+1</a:t>
            </a:r>
            <a:r>
              <a:rPr lang="zh-CN" altLang="en-US" sz="2400" b="1">
                <a:latin typeface="Times New Roman" panose="02020603050405020304" pitchFamily="18" charset="0"/>
              </a:rPr>
              <a:t>代表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 sz="2400" b="1">
                <a:latin typeface="Times New Roman" panose="02020603050405020304" pitchFamily="18" charset="0"/>
              </a:rPr>
              <a:t>的首地址</a:t>
            </a:r>
            <a:r>
              <a:rPr lang="en-US" altLang="zh-CN" sz="2400" b="1">
                <a:latin typeface="Times New Roman" panose="02020603050405020304" pitchFamily="18" charset="0"/>
              </a:rPr>
              <a:t>, a+1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&amp;a[1]</a:t>
            </a:r>
          </a:p>
          <a:p>
            <a:pPr eaLnBrk="1" hangingPunct="1"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a+2</a:t>
            </a:r>
            <a:r>
              <a:rPr lang="zh-CN" altLang="en-US" sz="2400" b="1">
                <a:latin typeface="Times New Roman" panose="02020603050405020304" pitchFamily="18" charset="0"/>
              </a:rPr>
              <a:t>代表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行</a:t>
            </a:r>
            <a:r>
              <a:rPr lang="zh-CN" altLang="en-US" sz="2400" b="1">
                <a:latin typeface="Times New Roman" panose="02020603050405020304" pitchFamily="18" charset="0"/>
              </a:rPr>
              <a:t>的首地址</a:t>
            </a:r>
            <a:r>
              <a:rPr lang="en-US" altLang="zh-CN" sz="2400" b="1">
                <a:latin typeface="Times New Roman" panose="02020603050405020304" pitchFamily="18" charset="0"/>
              </a:rPr>
              <a:t>, a+2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&amp;a[2]</a:t>
            </a:r>
          </a:p>
        </p:txBody>
      </p:sp>
      <p:sp>
        <p:nvSpPr>
          <p:cNvPr id="9234" name="Line 24"/>
          <p:cNvSpPr>
            <a:spLocks noChangeShapeType="1"/>
          </p:cNvSpPr>
          <p:nvPr/>
        </p:nvSpPr>
        <p:spPr bwMode="auto">
          <a:xfrm>
            <a:off x="3816350" y="2980085"/>
            <a:ext cx="0" cy="1655763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9235" name="Line 25"/>
          <p:cNvSpPr>
            <a:spLocks noChangeShapeType="1"/>
          </p:cNvSpPr>
          <p:nvPr/>
        </p:nvSpPr>
        <p:spPr bwMode="auto">
          <a:xfrm>
            <a:off x="4751388" y="3016598"/>
            <a:ext cx="0" cy="1655762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9236" name="Line 26"/>
          <p:cNvSpPr>
            <a:spLocks noChangeShapeType="1"/>
          </p:cNvSpPr>
          <p:nvPr/>
        </p:nvSpPr>
        <p:spPr bwMode="auto">
          <a:xfrm>
            <a:off x="5688013" y="3016598"/>
            <a:ext cx="0" cy="1655762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67521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59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59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5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559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5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0130" name="Group 2">
            <a:extLst>
              <a:ext uri="{FF2B5EF4-FFF2-40B4-BE49-F238E27FC236}">
                <a16:creationId xmlns:a16="http://schemas.microsoft.com/office/drawing/2014/main" id="{947C1DF7-8896-4F09-A9F2-FE449EBDB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133067"/>
              </p:ext>
            </p:extLst>
          </p:nvPr>
        </p:nvGraphicFramePr>
        <p:xfrm>
          <a:off x="1655763" y="2373309"/>
          <a:ext cx="719137" cy="2760661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91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3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1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60140" name="Group 12">
            <a:extLst>
              <a:ext uri="{FF2B5EF4-FFF2-40B4-BE49-F238E27FC236}">
                <a16:creationId xmlns:a16="http://schemas.microsoft.com/office/drawing/2014/main" id="{1B98A480-09DE-4698-B247-9584A765C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132499"/>
              </p:ext>
            </p:extLst>
          </p:nvPr>
        </p:nvGraphicFramePr>
        <p:xfrm>
          <a:off x="3384550" y="2446334"/>
          <a:ext cx="5219700" cy="647700"/>
        </p:xfrm>
        <a:graphic>
          <a:graphicData uri="http://schemas.openxmlformats.org/drawingml/2006/table">
            <a:tbl>
              <a:tblPr/>
              <a:tblGrid>
                <a:gridCol w="130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[3]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0152" name="Group 24">
            <a:extLst>
              <a:ext uri="{FF2B5EF4-FFF2-40B4-BE49-F238E27FC236}">
                <a16:creationId xmlns:a16="http://schemas.microsoft.com/office/drawing/2014/main" id="{411A4D10-3D99-4333-84FB-01E55A18B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923404"/>
              </p:ext>
            </p:extLst>
          </p:nvPr>
        </p:nvGraphicFramePr>
        <p:xfrm>
          <a:off x="3419475" y="3417884"/>
          <a:ext cx="5184775" cy="636587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6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[3]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0164" name="Group 36">
            <a:extLst>
              <a:ext uri="{FF2B5EF4-FFF2-40B4-BE49-F238E27FC236}">
                <a16:creationId xmlns:a16="http://schemas.microsoft.com/office/drawing/2014/main" id="{4DCEB907-EA8E-4AD8-9565-DDD08FFE2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654823"/>
              </p:ext>
            </p:extLst>
          </p:nvPr>
        </p:nvGraphicFramePr>
        <p:xfrm>
          <a:off x="3455988" y="4389434"/>
          <a:ext cx="5184775" cy="649287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2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[0]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[2]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</a:t>
                      </a:r>
                      <a:r>
                        <a:rPr kumimoji="1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[3]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0176" name="Line 48"/>
          <p:cNvSpPr>
            <a:spLocks noChangeShapeType="1"/>
          </p:cNvSpPr>
          <p:nvPr/>
        </p:nvSpPr>
        <p:spPr bwMode="auto">
          <a:xfrm>
            <a:off x="2447925" y="2806696"/>
            <a:ext cx="792163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60177" name="Line 49"/>
          <p:cNvSpPr>
            <a:spLocks noChangeShapeType="1"/>
          </p:cNvSpPr>
          <p:nvPr/>
        </p:nvSpPr>
        <p:spPr bwMode="auto">
          <a:xfrm>
            <a:off x="2447925" y="3778246"/>
            <a:ext cx="792163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60178" name="Line 50"/>
          <p:cNvSpPr>
            <a:spLocks noChangeShapeType="1"/>
          </p:cNvSpPr>
          <p:nvPr/>
        </p:nvSpPr>
        <p:spPr bwMode="auto">
          <a:xfrm>
            <a:off x="2447925" y="4714871"/>
            <a:ext cx="792163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grpSp>
        <p:nvGrpSpPr>
          <p:cNvPr id="560179" name="Group 51"/>
          <p:cNvGrpSpPr>
            <a:grpSpLocks/>
          </p:cNvGrpSpPr>
          <p:nvPr/>
        </p:nvGrpSpPr>
        <p:grpSpPr bwMode="auto">
          <a:xfrm>
            <a:off x="142875" y="2476496"/>
            <a:ext cx="1428750" cy="2670175"/>
            <a:chOff x="90" y="1204"/>
            <a:chExt cx="900" cy="1682"/>
          </a:xfrm>
        </p:grpSpPr>
        <p:grpSp>
          <p:nvGrpSpPr>
            <p:cNvPr id="11330" name="Group 52"/>
            <p:cNvGrpSpPr>
              <a:grpSpLocks/>
            </p:cNvGrpSpPr>
            <p:nvPr/>
          </p:nvGrpSpPr>
          <p:grpSpPr bwMode="auto">
            <a:xfrm>
              <a:off x="90" y="2406"/>
              <a:ext cx="877" cy="480"/>
              <a:chOff x="-227" y="2319"/>
              <a:chExt cx="877" cy="480"/>
            </a:xfrm>
          </p:grpSpPr>
          <p:sp>
            <p:nvSpPr>
              <p:cNvPr id="11337" name="Text Box 53"/>
              <p:cNvSpPr txBox="1">
                <a:spLocks noChangeArrowheads="1"/>
              </p:cNvSpPr>
              <p:nvPr/>
            </p:nvSpPr>
            <p:spPr bwMode="auto">
              <a:xfrm>
                <a:off x="-227" y="2319"/>
                <a:ext cx="567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zh-CN" sz="22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a+2 </a:t>
                </a:r>
              </a:p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zh-CN" sz="22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&amp;a[2]</a:t>
                </a:r>
              </a:p>
            </p:txBody>
          </p:sp>
          <p:sp>
            <p:nvSpPr>
              <p:cNvPr id="11338" name="Line 54"/>
              <p:cNvSpPr>
                <a:spLocks noChangeShapeType="1"/>
              </p:cNvSpPr>
              <p:nvPr/>
            </p:nvSpPr>
            <p:spPr bwMode="auto">
              <a:xfrm>
                <a:off x="340" y="2546"/>
                <a:ext cx="310" cy="0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  <p:grpSp>
          <p:nvGrpSpPr>
            <p:cNvPr id="11331" name="Group 55"/>
            <p:cNvGrpSpPr>
              <a:grpSpLocks/>
            </p:cNvGrpSpPr>
            <p:nvPr/>
          </p:nvGrpSpPr>
          <p:grpSpPr bwMode="auto">
            <a:xfrm>
              <a:off x="113" y="1820"/>
              <a:ext cx="877" cy="480"/>
              <a:chOff x="-227" y="2319"/>
              <a:chExt cx="877" cy="480"/>
            </a:xfrm>
          </p:grpSpPr>
          <p:sp>
            <p:nvSpPr>
              <p:cNvPr id="11335" name="Text Box 56"/>
              <p:cNvSpPr txBox="1">
                <a:spLocks noChangeArrowheads="1"/>
              </p:cNvSpPr>
              <p:nvPr/>
            </p:nvSpPr>
            <p:spPr bwMode="auto">
              <a:xfrm>
                <a:off x="-227" y="2319"/>
                <a:ext cx="567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zh-CN" sz="22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a+1 </a:t>
                </a:r>
              </a:p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zh-CN" sz="22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&amp;a[1]</a:t>
                </a:r>
              </a:p>
            </p:txBody>
          </p:sp>
          <p:sp>
            <p:nvSpPr>
              <p:cNvPr id="11336" name="Line 57"/>
              <p:cNvSpPr>
                <a:spLocks noChangeShapeType="1"/>
              </p:cNvSpPr>
              <p:nvPr/>
            </p:nvSpPr>
            <p:spPr bwMode="auto">
              <a:xfrm>
                <a:off x="340" y="2546"/>
                <a:ext cx="310" cy="0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  <p:grpSp>
          <p:nvGrpSpPr>
            <p:cNvPr id="11332" name="Group 58"/>
            <p:cNvGrpSpPr>
              <a:grpSpLocks/>
            </p:cNvGrpSpPr>
            <p:nvPr/>
          </p:nvGrpSpPr>
          <p:grpSpPr bwMode="auto">
            <a:xfrm>
              <a:off x="113" y="1204"/>
              <a:ext cx="877" cy="480"/>
              <a:chOff x="-227" y="2319"/>
              <a:chExt cx="877" cy="480"/>
            </a:xfrm>
          </p:grpSpPr>
          <p:sp>
            <p:nvSpPr>
              <p:cNvPr id="11333" name="Text Box 59"/>
              <p:cNvSpPr txBox="1">
                <a:spLocks noChangeArrowheads="1"/>
              </p:cNvSpPr>
              <p:nvPr/>
            </p:nvSpPr>
            <p:spPr bwMode="auto">
              <a:xfrm>
                <a:off x="-227" y="2319"/>
                <a:ext cx="567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zh-CN" sz="22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a </a:t>
                </a:r>
              </a:p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zh-CN" sz="22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&amp;a[0]</a:t>
                </a:r>
              </a:p>
            </p:txBody>
          </p:sp>
          <p:sp>
            <p:nvSpPr>
              <p:cNvPr id="11334" name="Line 60"/>
              <p:cNvSpPr>
                <a:spLocks noChangeShapeType="1"/>
              </p:cNvSpPr>
              <p:nvPr/>
            </p:nvSpPr>
            <p:spPr bwMode="auto">
              <a:xfrm>
                <a:off x="340" y="2546"/>
                <a:ext cx="310" cy="0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</p:grpSp>
      <p:sp>
        <p:nvSpPr>
          <p:cNvPr id="560189" name="AutoShape 61"/>
          <p:cNvSpPr>
            <a:spLocks noChangeArrowheads="1"/>
          </p:cNvSpPr>
          <p:nvPr/>
        </p:nvSpPr>
        <p:spPr bwMode="auto">
          <a:xfrm>
            <a:off x="503238" y="1798634"/>
            <a:ext cx="1044575" cy="503237"/>
          </a:xfrm>
          <a:prstGeom prst="wedgeRectCallout">
            <a:avLst>
              <a:gd name="adj1" fmla="val -39514"/>
              <a:gd name="adj2" fmla="val 98579"/>
            </a:avLst>
          </a:prstGeom>
          <a:solidFill>
            <a:srgbClr val="FFFFCC"/>
          </a:solidFill>
          <a:ln w="127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楷体" panose="02010609060101010101" pitchFamily="49" charset="-122"/>
              </a:rPr>
              <a:t>行地址</a:t>
            </a:r>
          </a:p>
        </p:txBody>
      </p:sp>
      <p:sp>
        <p:nvSpPr>
          <p:cNvPr id="560190" name="Text Box 62"/>
          <p:cNvSpPr txBox="1">
            <a:spLocks noChangeArrowheads="1"/>
          </p:cNvSpPr>
          <p:nvPr/>
        </p:nvSpPr>
        <p:spPr bwMode="auto">
          <a:xfrm>
            <a:off x="3378835" y="1563684"/>
            <a:ext cx="13131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a[0]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&amp;a[0][0]</a:t>
            </a:r>
          </a:p>
        </p:txBody>
      </p:sp>
      <p:grpSp>
        <p:nvGrpSpPr>
          <p:cNvPr id="560191" name="Group 63"/>
          <p:cNvGrpSpPr>
            <a:grpSpLocks/>
          </p:cNvGrpSpPr>
          <p:nvPr/>
        </p:nvGrpSpPr>
        <p:grpSpPr bwMode="auto">
          <a:xfrm>
            <a:off x="4668839" y="1550983"/>
            <a:ext cx="3910013" cy="860424"/>
            <a:chOff x="2941" y="621"/>
            <a:chExt cx="2463" cy="542"/>
          </a:xfrm>
        </p:grpSpPr>
        <p:sp>
          <p:nvSpPr>
            <p:cNvPr id="11327" name="Text Box 64"/>
            <p:cNvSpPr txBox="1">
              <a:spLocks noChangeArrowheads="1"/>
            </p:cNvSpPr>
            <p:nvPr/>
          </p:nvSpPr>
          <p:spPr bwMode="auto">
            <a:xfrm>
              <a:off x="2941" y="621"/>
              <a:ext cx="82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a[0]+1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&amp;a[0][1]</a:t>
              </a:r>
            </a:p>
          </p:txBody>
        </p:sp>
        <p:sp>
          <p:nvSpPr>
            <p:cNvPr id="11328" name="Text Box 65"/>
            <p:cNvSpPr txBox="1">
              <a:spLocks noChangeArrowheads="1"/>
            </p:cNvSpPr>
            <p:nvPr/>
          </p:nvSpPr>
          <p:spPr bwMode="auto">
            <a:xfrm>
              <a:off x="3783" y="640"/>
              <a:ext cx="82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a[0]+2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&amp;a[0][2]</a:t>
              </a:r>
            </a:p>
          </p:txBody>
        </p:sp>
        <p:sp>
          <p:nvSpPr>
            <p:cNvPr id="11329" name="Text Box 66"/>
            <p:cNvSpPr txBox="1">
              <a:spLocks noChangeArrowheads="1"/>
            </p:cNvSpPr>
            <p:nvPr/>
          </p:nvSpPr>
          <p:spPr bwMode="auto">
            <a:xfrm>
              <a:off x="4577" y="640"/>
              <a:ext cx="82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a[0]+3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&amp;a[0][3]</a:t>
              </a:r>
            </a:p>
          </p:txBody>
        </p:sp>
      </p:grpSp>
      <p:grpSp>
        <p:nvGrpSpPr>
          <p:cNvPr id="560195" name="Group 67"/>
          <p:cNvGrpSpPr>
            <a:grpSpLocks/>
          </p:cNvGrpSpPr>
          <p:nvPr/>
        </p:nvGrpSpPr>
        <p:grpSpPr bwMode="auto">
          <a:xfrm>
            <a:off x="3413125" y="5038724"/>
            <a:ext cx="5232401" cy="835026"/>
            <a:chOff x="2150" y="2818"/>
            <a:chExt cx="3296" cy="526"/>
          </a:xfrm>
        </p:grpSpPr>
        <p:sp>
          <p:nvSpPr>
            <p:cNvPr id="11323" name="Text Box 68"/>
            <p:cNvSpPr txBox="1">
              <a:spLocks noChangeArrowheads="1"/>
            </p:cNvSpPr>
            <p:nvPr/>
          </p:nvSpPr>
          <p:spPr bwMode="auto">
            <a:xfrm>
              <a:off x="2150" y="2818"/>
              <a:ext cx="82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a[2]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&amp;a[2][0]</a:t>
              </a:r>
            </a:p>
          </p:txBody>
        </p:sp>
        <p:sp>
          <p:nvSpPr>
            <p:cNvPr id="11324" name="Text Box 69"/>
            <p:cNvSpPr txBox="1">
              <a:spLocks noChangeArrowheads="1"/>
            </p:cNvSpPr>
            <p:nvPr/>
          </p:nvSpPr>
          <p:spPr bwMode="auto">
            <a:xfrm>
              <a:off x="2989" y="2821"/>
              <a:ext cx="82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a[2]+1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&amp;a[2][1]</a:t>
              </a:r>
            </a:p>
          </p:txBody>
        </p:sp>
        <p:sp>
          <p:nvSpPr>
            <p:cNvPr id="11325" name="Text Box 70"/>
            <p:cNvSpPr txBox="1">
              <a:spLocks noChangeArrowheads="1"/>
            </p:cNvSpPr>
            <p:nvPr/>
          </p:nvSpPr>
          <p:spPr bwMode="auto">
            <a:xfrm>
              <a:off x="3802" y="2818"/>
              <a:ext cx="82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a[2]+2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&amp;a[2][2]</a:t>
              </a:r>
            </a:p>
          </p:txBody>
        </p:sp>
        <p:sp>
          <p:nvSpPr>
            <p:cNvPr id="11326" name="Text Box 71"/>
            <p:cNvSpPr txBox="1">
              <a:spLocks noChangeArrowheads="1"/>
            </p:cNvSpPr>
            <p:nvPr/>
          </p:nvSpPr>
          <p:spPr bwMode="auto">
            <a:xfrm>
              <a:off x="4619" y="2818"/>
              <a:ext cx="82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a[2]+3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&amp;a[2][3]</a:t>
              </a:r>
            </a:p>
          </p:txBody>
        </p:sp>
      </p:grpSp>
      <p:sp>
        <p:nvSpPr>
          <p:cNvPr id="560200" name="AutoShape 72"/>
          <p:cNvSpPr>
            <a:spLocks noChangeArrowheads="1"/>
          </p:cNvSpPr>
          <p:nvPr/>
        </p:nvSpPr>
        <p:spPr bwMode="auto">
          <a:xfrm>
            <a:off x="2124075" y="1617659"/>
            <a:ext cx="1044575" cy="503237"/>
          </a:xfrm>
          <a:prstGeom prst="wedgeRectCallout">
            <a:avLst>
              <a:gd name="adj1" fmla="val 91491"/>
              <a:gd name="adj2" fmla="val 13407"/>
            </a:avLst>
          </a:prstGeom>
          <a:solidFill>
            <a:srgbClr val="FFFFCC"/>
          </a:solidFill>
          <a:ln w="127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200" b="1">
                <a:latin typeface="Times New Roman" panose="02020603050405020304" pitchFamily="18" charset="0"/>
                <a:ea typeface="楷体" panose="02010609060101010101" pitchFamily="49" charset="-122"/>
              </a:rPr>
              <a:t>列地址</a:t>
            </a:r>
          </a:p>
        </p:txBody>
      </p:sp>
      <p:sp>
        <p:nvSpPr>
          <p:cNvPr id="11321" name="Text Box 73"/>
          <p:cNvSpPr txBox="1">
            <a:spLocks noChangeArrowheads="1"/>
          </p:cNvSpPr>
          <p:nvPr/>
        </p:nvSpPr>
        <p:spPr bwMode="auto">
          <a:xfrm>
            <a:off x="107950" y="80963"/>
            <a:ext cx="61563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3333FF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二维数组的地址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列地址</a:t>
            </a:r>
          </a:p>
        </p:txBody>
      </p:sp>
      <p:sp>
        <p:nvSpPr>
          <p:cNvPr id="560202" name="Text Box 74"/>
          <p:cNvSpPr txBox="1">
            <a:spLocks noChangeArrowheads="1"/>
          </p:cNvSpPr>
          <p:nvPr/>
        </p:nvSpPr>
        <p:spPr bwMode="auto">
          <a:xfrm>
            <a:off x="115888" y="685796"/>
            <a:ext cx="8848725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>
                <a:srgbClr val="3333FF"/>
              </a:buClr>
              <a:buSzTx/>
              <a:buFont typeface="Wingdings" panose="05000000000000000000" pitchFamily="2" charset="2"/>
              <a:buChar char="l"/>
            </a:pPr>
            <a:r>
              <a:rPr kumimoji="0" lang="en-US" altLang="zh-CN" sz="2400" b="1" dirty="0">
                <a:latin typeface="Times New Roman" panose="02020603050405020304" pitchFamily="18" charset="0"/>
              </a:rPr>
              <a:t>a[</a:t>
            </a:r>
            <a:r>
              <a:rPr lang="en-US" altLang="zh-CN" sz="2400" b="1" dirty="0">
                <a:latin typeface="Times New Roman" panose="02020603050405020304" pitchFamily="18" charset="0"/>
              </a:rPr>
              <a:t>0], a[1], a[2]</a:t>
            </a:r>
            <a:r>
              <a:rPr lang="zh-CN" altLang="en-US" sz="2400" b="1" dirty="0">
                <a:latin typeface="Times New Roman" panose="02020603050405020304" pitchFamily="18" charset="0"/>
              </a:rPr>
              <a:t>是一维数组名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它们就代表了一维数组的首地址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spcBef>
                <a:spcPct val="10000"/>
              </a:spcBef>
              <a:buClr>
                <a:srgbClr val="3333FF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因此</a:t>
            </a:r>
            <a:r>
              <a:rPr lang="en-US" altLang="zh-CN" sz="2400" b="1" dirty="0">
                <a:latin typeface="Times New Roman" panose="02020603050405020304" pitchFamily="18" charset="0"/>
              </a:rPr>
              <a:t>a[0]</a:t>
            </a:r>
            <a:r>
              <a:rPr lang="zh-CN" altLang="en-US" sz="2400" b="1" dirty="0">
                <a:latin typeface="Times New Roman" panose="02020603050405020304" pitchFamily="18" charset="0"/>
              </a:rPr>
              <a:t>代表了第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行第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列元素的地址</a:t>
            </a:r>
            <a:r>
              <a:rPr lang="en-US" altLang="zh-CN" sz="2400" b="1" dirty="0">
                <a:latin typeface="Times New Roman" panose="02020603050405020304" pitchFamily="18" charset="0"/>
              </a:rPr>
              <a:t>,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即</a:t>
            </a:r>
            <a:r>
              <a:rPr lang="en-US" altLang="zh-CN" sz="2400" b="1" dirty="0">
                <a:latin typeface="Times New Roman" panose="02020603050405020304" pitchFamily="18" charset="0"/>
              </a:rPr>
              <a:t>a[0]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&amp;a[0][0], </a:t>
            </a:r>
          </a:p>
        </p:txBody>
      </p:sp>
    </p:spTree>
    <p:extLst>
      <p:ext uri="{BB962C8B-B14F-4D97-AF65-F5344CB8AC3E}">
        <p14:creationId xmlns:p14="http://schemas.microsoft.com/office/powerpoint/2010/main" val="72351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56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6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56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56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6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6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6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6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500"/>
                                        <p:tgtEl>
                                          <p:spTgt spid="56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89" grpId="0" animBg="1"/>
      <p:bldP spid="560190" grpId="0"/>
      <p:bldP spid="560200" grpId="0" animBg="1"/>
      <p:bldP spid="56020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76300"/>
            <a:ext cx="8497888" cy="4895850"/>
          </a:xfrm>
        </p:spPr>
        <p:txBody>
          <a:bodyPr/>
          <a:lstStyle/>
          <a:p>
            <a:pPr eaLnBrk="1" hangingPunct="1"/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行地址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-&gt;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列地址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 smtClean="0">
                <a:latin typeface="Times New Roman" panose="02020603050405020304" pitchFamily="18" charset="0"/>
              </a:rPr>
              <a:t>方法：加*号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 smtClean="0">
                <a:latin typeface="Times New Roman" panose="02020603050405020304" pitchFamily="18" charset="0"/>
              </a:rPr>
              <a:t>如 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a -&gt; *a,  (a+1) -&gt;*(a+1)</a:t>
            </a:r>
          </a:p>
          <a:p>
            <a:pPr eaLnBrk="1" hangingPunct="1"/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列地址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-&gt;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行地址</a:t>
            </a:r>
          </a:p>
          <a:p>
            <a:pPr eaLnBrk="1" hangingPunct="1"/>
            <a:r>
              <a:rPr lang="zh-CN" altLang="en-US" sz="2400" b="1" dirty="0" smtClean="0">
                <a:latin typeface="Times New Roman" panose="02020603050405020304" pitchFamily="18" charset="0"/>
              </a:rPr>
              <a:t>方法：去*号，或取地址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(&amp;)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 smtClean="0">
                <a:latin typeface="Times New Roman" panose="02020603050405020304" pitchFamily="18" charset="0"/>
              </a:rPr>
              <a:t>如 *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a-&gt;a, a[0]-&gt;&amp;a[0]</a:t>
            </a:r>
          </a:p>
          <a:p>
            <a:pPr lvl="1" eaLnBrk="1" hangingPunct="1">
              <a:buFontTx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</a:rPr>
              <a:t>a[0]-&gt;&amp;a[0]</a:t>
            </a:r>
          </a:p>
          <a:p>
            <a:pPr lvl="1" eaLnBrk="1" hangingPunct="1">
              <a:buFontTx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a[0]-&gt;&amp;(*a)</a:t>
            </a:r>
          </a:p>
          <a:p>
            <a:pPr lvl="1" eaLnBrk="1" hangingPunct="1">
              <a:buFontTx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sym typeface="Wingdings" panose="05000000000000000000" pitchFamily="2" charset="2"/>
              </a:rPr>
              <a:t>a[0]-&gt;a</a:t>
            </a:r>
            <a:endParaRPr lang="en-US" altLang="zh-CN" sz="2400" b="1" dirty="0" smtClean="0">
              <a:latin typeface="Times New Roman" panose="02020603050405020304" pitchFamily="18" charset="0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07950" y="80963"/>
            <a:ext cx="61563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-457200">
              <a:spcBef>
                <a:spcPct val="0"/>
              </a:spcBef>
              <a:buClr>
                <a:srgbClr val="3333FF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行地址列地址的转换</a:t>
            </a:r>
          </a:p>
        </p:txBody>
      </p:sp>
    </p:spTree>
    <p:extLst>
      <p:ext uri="{BB962C8B-B14F-4D97-AF65-F5344CB8AC3E}">
        <p14:creationId xmlns:p14="http://schemas.microsoft.com/office/powerpoint/2010/main" val="39344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1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1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1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1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1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1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1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61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61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ChangeArrowheads="1"/>
          </p:cNvSpPr>
          <p:nvPr/>
        </p:nvSpPr>
        <p:spPr bwMode="auto">
          <a:xfrm>
            <a:off x="3384550" y="1087438"/>
            <a:ext cx="3779838" cy="46831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71437" y="44450"/>
            <a:ext cx="501297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-457200">
              <a:spcBef>
                <a:spcPct val="0"/>
              </a:spcBef>
              <a:buClr>
                <a:srgbClr val="3333FF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二维数组的地址</a:t>
            </a:r>
          </a:p>
        </p:txBody>
      </p:sp>
      <p:graphicFrame>
        <p:nvGraphicFramePr>
          <p:cNvPr id="562236" name="Group 60">
            <a:extLst>
              <a:ext uri="{FF2B5EF4-FFF2-40B4-BE49-F238E27FC236}">
                <a16:creationId xmlns:a16="http://schemas.microsoft.com/office/drawing/2014/main" id="{2089EB66-3CAE-4CEE-901D-328A2AD85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201876"/>
              </p:ext>
            </p:extLst>
          </p:nvPr>
        </p:nvGraphicFramePr>
        <p:xfrm>
          <a:off x="4633913" y="3571875"/>
          <a:ext cx="4122737" cy="1655763"/>
        </p:xfrm>
        <a:graphic>
          <a:graphicData uri="http://schemas.openxmlformats.org/drawingml/2006/table">
            <a:tbl>
              <a:tblPr/>
              <a:tblGrid>
                <a:gridCol w="10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a[0][3]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a[1][3]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a[2][3]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362" name="Group 26"/>
          <p:cNvGrpSpPr>
            <a:grpSpLocks/>
          </p:cNvGrpSpPr>
          <p:nvPr/>
        </p:nvGrpSpPr>
        <p:grpSpPr bwMode="auto">
          <a:xfrm>
            <a:off x="2482850" y="3643313"/>
            <a:ext cx="2151063" cy="1538287"/>
            <a:chOff x="533" y="1536"/>
            <a:chExt cx="1355" cy="969"/>
          </a:xfrm>
        </p:grpSpPr>
        <p:grpSp>
          <p:nvGrpSpPr>
            <p:cNvPr id="14386" name="Group 27"/>
            <p:cNvGrpSpPr>
              <a:grpSpLocks/>
            </p:cNvGrpSpPr>
            <p:nvPr/>
          </p:nvGrpSpPr>
          <p:grpSpPr bwMode="auto">
            <a:xfrm>
              <a:off x="754" y="1536"/>
              <a:ext cx="1134" cy="288"/>
              <a:chOff x="1973" y="1395"/>
              <a:chExt cx="1134" cy="288"/>
            </a:xfrm>
          </p:grpSpPr>
          <p:sp>
            <p:nvSpPr>
              <p:cNvPr id="14393" name="Text Box 28"/>
              <p:cNvSpPr txBox="1">
                <a:spLocks noChangeArrowheads="1"/>
              </p:cNvSpPr>
              <p:nvPr/>
            </p:nvSpPr>
            <p:spPr bwMode="auto">
              <a:xfrm>
                <a:off x="1973" y="1395"/>
                <a:ext cx="7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a, &amp;a[0]</a:t>
                </a:r>
              </a:p>
            </p:txBody>
          </p:sp>
          <p:sp>
            <p:nvSpPr>
              <p:cNvPr id="14394" name="Line 29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  <p:grpSp>
          <p:nvGrpSpPr>
            <p:cNvPr id="14387" name="Group 30"/>
            <p:cNvGrpSpPr>
              <a:grpSpLocks/>
            </p:cNvGrpSpPr>
            <p:nvPr/>
          </p:nvGrpSpPr>
          <p:grpSpPr bwMode="auto">
            <a:xfrm>
              <a:off x="533" y="1877"/>
              <a:ext cx="1355" cy="288"/>
              <a:chOff x="1576" y="2018"/>
              <a:chExt cx="1355" cy="288"/>
            </a:xfrm>
          </p:grpSpPr>
          <p:sp>
            <p:nvSpPr>
              <p:cNvPr id="14391" name="Text Box 31"/>
              <p:cNvSpPr txBox="1">
                <a:spLocks noChangeArrowheads="1"/>
              </p:cNvSpPr>
              <p:nvPr/>
            </p:nvSpPr>
            <p:spPr bwMode="auto">
              <a:xfrm>
                <a:off x="1576" y="2018"/>
                <a:ext cx="9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a+1, &amp;a[1]</a:t>
                </a:r>
              </a:p>
            </p:txBody>
          </p:sp>
          <p:sp>
            <p:nvSpPr>
              <p:cNvPr id="14392" name="Line 32"/>
              <p:cNvSpPr>
                <a:spLocks noChangeShapeType="1"/>
              </p:cNvSpPr>
              <p:nvPr/>
            </p:nvSpPr>
            <p:spPr bwMode="auto">
              <a:xfrm>
                <a:off x="2568" y="2188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  <p:grpSp>
          <p:nvGrpSpPr>
            <p:cNvPr id="14388" name="Group 33"/>
            <p:cNvGrpSpPr>
              <a:grpSpLocks/>
            </p:cNvGrpSpPr>
            <p:nvPr/>
          </p:nvGrpSpPr>
          <p:grpSpPr bwMode="auto">
            <a:xfrm>
              <a:off x="533" y="2217"/>
              <a:ext cx="1355" cy="288"/>
              <a:chOff x="1349" y="2699"/>
              <a:chExt cx="1355" cy="288"/>
            </a:xfrm>
          </p:grpSpPr>
          <p:sp>
            <p:nvSpPr>
              <p:cNvPr id="14389" name="Text Box 34"/>
              <p:cNvSpPr txBox="1">
                <a:spLocks noChangeArrowheads="1"/>
              </p:cNvSpPr>
              <p:nvPr/>
            </p:nvSpPr>
            <p:spPr bwMode="auto">
              <a:xfrm>
                <a:off x="1349" y="2699"/>
                <a:ext cx="9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a+2, &amp;a[2]</a:t>
                </a:r>
              </a:p>
            </p:txBody>
          </p:sp>
          <p:sp>
            <p:nvSpPr>
              <p:cNvPr id="14390" name="Line 35"/>
              <p:cNvSpPr>
                <a:spLocks noChangeShapeType="1"/>
              </p:cNvSpPr>
              <p:nvPr/>
            </p:nvSpPr>
            <p:spPr bwMode="auto">
              <a:xfrm>
                <a:off x="2341" y="2869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</p:grpSp>
      <p:grpSp>
        <p:nvGrpSpPr>
          <p:cNvPr id="14363" name="Group 36"/>
          <p:cNvGrpSpPr>
            <a:grpSpLocks/>
          </p:cNvGrpSpPr>
          <p:nvPr/>
        </p:nvGrpSpPr>
        <p:grpSpPr bwMode="auto">
          <a:xfrm>
            <a:off x="4546601" y="2427288"/>
            <a:ext cx="1312863" cy="1169987"/>
            <a:chOff x="1515" y="1621"/>
            <a:chExt cx="827" cy="737"/>
          </a:xfrm>
        </p:grpSpPr>
        <p:sp>
          <p:nvSpPr>
            <p:cNvPr id="14384" name="Text Box 37"/>
            <p:cNvSpPr txBox="1">
              <a:spLocks noChangeArrowheads="1"/>
            </p:cNvSpPr>
            <p:nvPr/>
          </p:nvSpPr>
          <p:spPr bwMode="auto">
            <a:xfrm>
              <a:off x="1515" y="1621"/>
              <a:ext cx="82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a[0]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&amp;a[0][0]</a:t>
              </a:r>
            </a:p>
          </p:txBody>
        </p:sp>
        <p:sp>
          <p:nvSpPr>
            <p:cNvPr id="14385" name="Line 38"/>
            <p:cNvSpPr>
              <a:spLocks noChangeShapeType="1"/>
            </p:cNvSpPr>
            <p:nvPr/>
          </p:nvSpPr>
          <p:spPr bwMode="auto">
            <a:xfrm>
              <a:off x="1916" y="2103"/>
              <a:ext cx="0" cy="25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14364" name="Group 39"/>
          <p:cNvGrpSpPr>
            <a:grpSpLocks/>
          </p:cNvGrpSpPr>
          <p:nvPr/>
        </p:nvGrpSpPr>
        <p:grpSpPr bwMode="auto">
          <a:xfrm>
            <a:off x="7553327" y="4905377"/>
            <a:ext cx="1312863" cy="1089026"/>
            <a:chOff x="3415" y="3407"/>
            <a:chExt cx="827" cy="686"/>
          </a:xfrm>
        </p:grpSpPr>
        <p:sp>
          <p:nvSpPr>
            <p:cNvPr id="14382" name="Text Box 40"/>
            <p:cNvSpPr txBox="1">
              <a:spLocks noChangeArrowheads="1"/>
            </p:cNvSpPr>
            <p:nvPr/>
          </p:nvSpPr>
          <p:spPr bwMode="auto">
            <a:xfrm>
              <a:off x="3415" y="3570"/>
              <a:ext cx="82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a[2]+3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&amp;a[2][3]</a:t>
              </a:r>
            </a:p>
          </p:txBody>
        </p:sp>
        <p:sp>
          <p:nvSpPr>
            <p:cNvPr id="14383" name="Line 41"/>
            <p:cNvSpPr>
              <a:spLocks noChangeShapeType="1"/>
            </p:cNvSpPr>
            <p:nvPr/>
          </p:nvSpPr>
          <p:spPr bwMode="auto">
            <a:xfrm flipV="1">
              <a:off x="3844" y="3407"/>
              <a:ext cx="0" cy="2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562218" name="Text Box 42"/>
          <p:cNvSpPr txBox="1">
            <a:spLocks noChangeArrowheads="1"/>
          </p:cNvSpPr>
          <p:nvPr/>
        </p:nvSpPr>
        <p:spPr bwMode="auto">
          <a:xfrm>
            <a:off x="71438" y="1052513"/>
            <a:ext cx="2278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因</a:t>
            </a:r>
            <a:r>
              <a:rPr lang="en-US" altLang="zh-CN" sz="2400" b="1">
                <a:latin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  <a:sym typeface="Wingdings" panose="05000000000000000000" pitchFamily="2" charset="2"/>
              </a:rPr>
              <a:t> &amp;a[0]</a:t>
            </a:r>
            <a:r>
              <a:rPr lang="zh-CN" altLang="en-US" sz="2400" b="1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</a:p>
        </p:txBody>
      </p:sp>
      <p:sp>
        <p:nvSpPr>
          <p:cNvPr id="562219" name="Text Box 43"/>
          <p:cNvSpPr txBox="1">
            <a:spLocks noChangeArrowheads="1"/>
          </p:cNvSpPr>
          <p:nvPr/>
        </p:nvSpPr>
        <p:spPr bwMode="auto">
          <a:xfrm>
            <a:off x="1871663" y="1087438"/>
            <a:ext cx="2765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所以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latin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en-US" altLang="zh-CN" sz="2400" b="1">
                <a:latin typeface="Times New Roman" panose="02020603050405020304" pitchFamily="18" charset="0"/>
                <a:sym typeface="Wingdings" panose="05000000000000000000" pitchFamily="2" charset="2"/>
              </a:rPr>
              <a:t>(&amp;a[0])</a:t>
            </a:r>
          </a:p>
        </p:txBody>
      </p:sp>
      <p:sp>
        <p:nvSpPr>
          <p:cNvPr id="562220" name="Text Box 44"/>
          <p:cNvSpPr txBox="1">
            <a:spLocks noChangeArrowheads="1"/>
          </p:cNvSpPr>
          <p:nvPr/>
        </p:nvSpPr>
        <p:spPr bwMode="auto">
          <a:xfrm>
            <a:off x="4498975" y="1087438"/>
            <a:ext cx="265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sz="2400" b="1">
                <a:latin typeface="Times New Roman" panose="02020603050405020304" pitchFamily="18" charset="0"/>
                <a:sym typeface="Wingdings" panose="05000000000000000000" pitchFamily="2" charset="2"/>
              </a:rPr>
              <a:t>a[0]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  <a:sym typeface="Wingdings" panose="05000000000000000000" pitchFamily="2" charset="2"/>
              </a:rPr>
              <a:t> &amp;a[0][0]</a:t>
            </a:r>
          </a:p>
        </p:txBody>
      </p:sp>
      <p:sp>
        <p:nvSpPr>
          <p:cNvPr id="562221" name="Text Box 45"/>
          <p:cNvSpPr txBox="1">
            <a:spLocks noChangeArrowheads="1"/>
          </p:cNvSpPr>
          <p:nvPr/>
        </p:nvSpPr>
        <p:spPr bwMode="auto">
          <a:xfrm>
            <a:off x="611188" y="1916113"/>
            <a:ext cx="3595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表示元素</a:t>
            </a:r>
            <a:r>
              <a:rPr lang="en-US" altLang="zh-CN" sz="2400" b="1">
                <a:latin typeface="Times New Roman" panose="02020603050405020304" pitchFamily="18" charset="0"/>
              </a:rPr>
              <a:t>a[0][0]</a:t>
            </a:r>
            <a:r>
              <a:rPr lang="zh-CN" altLang="en-US" sz="2400" b="1">
                <a:latin typeface="Times New Roman" panose="02020603050405020304" pitchFamily="18" charset="0"/>
              </a:rPr>
              <a:t>的地址</a:t>
            </a:r>
          </a:p>
        </p:txBody>
      </p:sp>
      <p:sp>
        <p:nvSpPr>
          <p:cNvPr id="562222" name="Text Box 46"/>
          <p:cNvSpPr txBox="1">
            <a:spLocks noChangeArrowheads="1"/>
          </p:cNvSpPr>
          <p:nvPr/>
        </p:nvSpPr>
        <p:spPr bwMode="auto">
          <a:xfrm>
            <a:off x="4973638" y="20605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62223" name="Text Box 47"/>
          <p:cNvSpPr txBox="1">
            <a:spLocks noChangeArrowheads="1"/>
          </p:cNvSpPr>
          <p:nvPr/>
        </p:nvSpPr>
        <p:spPr bwMode="auto">
          <a:xfrm>
            <a:off x="250825" y="2359025"/>
            <a:ext cx="3932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a+1</a:t>
            </a:r>
            <a:r>
              <a:rPr lang="zh-CN" altLang="en-US" sz="2400" b="1">
                <a:latin typeface="Times New Roman" panose="02020603050405020304" pitchFamily="18" charset="0"/>
              </a:rPr>
              <a:t>表示元素</a:t>
            </a:r>
            <a:r>
              <a:rPr lang="en-US" altLang="zh-CN" sz="2400" b="1">
                <a:latin typeface="Times New Roman" panose="02020603050405020304" pitchFamily="18" charset="0"/>
              </a:rPr>
              <a:t>a[0][1]</a:t>
            </a:r>
            <a:r>
              <a:rPr lang="zh-CN" altLang="en-US" sz="2400" b="1">
                <a:latin typeface="Times New Roman" panose="02020603050405020304" pitchFamily="18" charset="0"/>
              </a:rPr>
              <a:t>的地址</a:t>
            </a:r>
          </a:p>
        </p:txBody>
      </p:sp>
      <p:sp>
        <p:nvSpPr>
          <p:cNvPr id="562224" name="Text Box 48"/>
          <p:cNvSpPr txBox="1">
            <a:spLocks noChangeArrowheads="1"/>
          </p:cNvSpPr>
          <p:nvPr/>
        </p:nvSpPr>
        <p:spPr bwMode="auto">
          <a:xfrm>
            <a:off x="34925" y="2744788"/>
            <a:ext cx="4141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(a+1)</a:t>
            </a:r>
            <a:r>
              <a:rPr lang="zh-CN" altLang="en-US" sz="2400" b="1">
                <a:latin typeface="Times New Roman" panose="02020603050405020304" pitchFamily="18" charset="0"/>
              </a:rPr>
              <a:t>表示元素</a:t>
            </a:r>
            <a:r>
              <a:rPr lang="en-US" altLang="zh-CN" sz="2400" b="1">
                <a:latin typeface="Times New Roman" panose="02020603050405020304" pitchFamily="18" charset="0"/>
              </a:rPr>
              <a:t>a[1][0]</a:t>
            </a:r>
            <a:r>
              <a:rPr lang="zh-CN" altLang="en-US" sz="2400" b="1">
                <a:latin typeface="Times New Roman" panose="02020603050405020304" pitchFamily="18" charset="0"/>
              </a:rPr>
              <a:t>的地址</a:t>
            </a:r>
          </a:p>
        </p:txBody>
      </p:sp>
      <p:sp>
        <p:nvSpPr>
          <p:cNvPr id="562225" name="Text Box 49"/>
          <p:cNvSpPr txBox="1">
            <a:spLocks noChangeArrowheads="1"/>
          </p:cNvSpPr>
          <p:nvPr/>
        </p:nvSpPr>
        <p:spPr bwMode="auto">
          <a:xfrm>
            <a:off x="34925" y="3211513"/>
            <a:ext cx="447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(a+2)+3</a:t>
            </a:r>
            <a:r>
              <a:rPr lang="zh-CN" altLang="en-US" sz="2400" b="1">
                <a:latin typeface="Times New Roman" panose="02020603050405020304" pitchFamily="18" charset="0"/>
              </a:rPr>
              <a:t>表示元素</a:t>
            </a:r>
            <a:r>
              <a:rPr lang="en-US" altLang="zh-CN" sz="2400" b="1">
                <a:latin typeface="Times New Roman" panose="02020603050405020304" pitchFamily="18" charset="0"/>
              </a:rPr>
              <a:t>a[2][3]</a:t>
            </a:r>
            <a:r>
              <a:rPr lang="zh-CN" altLang="en-US" sz="2400" b="1">
                <a:latin typeface="Times New Roman" panose="02020603050405020304" pitchFamily="18" charset="0"/>
              </a:rPr>
              <a:t>的地址</a:t>
            </a:r>
          </a:p>
        </p:txBody>
      </p:sp>
      <p:sp>
        <p:nvSpPr>
          <p:cNvPr id="562226" name="Text Box 50"/>
          <p:cNvSpPr txBox="1">
            <a:spLocks noChangeArrowheads="1"/>
          </p:cNvSpPr>
          <p:nvPr/>
        </p:nvSpPr>
        <p:spPr bwMode="auto">
          <a:xfrm>
            <a:off x="7524750" y="5913438"/>
            <a:ext cx="1343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(a+2)+3</a:t>
            </a:r>
          </a:p>
        </p:txBody>
      </p:sp>
      <p:grpSp>
        <p:nvGrpSpPr>
          <p:cNvPr id="562227" name="Group 51"/>
          <p:cNvGrpSpPr>
            <a:grpSpLocks/>
          </p:cNvGrpSpPr>
          <p:nvPr/>
        </p:nvGrpSpPr>
        <p:grpSpPr bwMode="auto">
          <a:xfrm>
            <a:off x="3203575" y="4437062"/>
            <a:ext cx="1655763" cy="2006826"/>
            <a:chOff x="2041" y="2659"/>
            <a:chExt cx="952" cy="1242"/>
          </a:xfrm>
        </p:grpSpPr>
        <p:sp>
          <p:nvSpPr>
            <p:cNvPr id="14380" name="Text Box 52"/>
            <p:cNvSpPr txBox="1">
              <a:spLocks noChangeArrowheads="1"/>
            </p:cNvSpPr>
            <p:nvPr/>
          </p:nvSpPr>
          <p:spPr bwMode="auto">
            <a:xfrm>
              <a:off x="2041" y="3158"/>
              <a:ext cx="755" cy="7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(a+1)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a[1]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&amp;a[1][0]</a:t>
              </a:r>
            </a:p>
          </p:txBody>
        </p:sp>
        <p:sp>
          <p:nvSpPr>
            <p:cNvPr id="14381" name="Line 53"/>
            <p:cNvSpPr>
              <a:spLocks noChangeShapeType="1"/>
            </p:cNvSpPr>
            <p:nvPr/>
          </p:nvSpPr>
          <p:spPr bwMode="auto">
            <a:xfrm flipV="1">
              <a:off x="2653" y="2659"/>
              <a:ext cx="340" cy="5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562230" name="Group 54"/>
          <p:cNvGrpSpPr>
            <a:grpSpLocks/>
          </p:cNvGrpSpPr>
          <p:nvPr/>
        </p:nvGrpSpPr>
        <p:grpSpPr bwMode="auto">
          <a:xfrm>
            <a:off x="5816602" y="2024063"/>
            <a:ext cx="1312863" cy="1584325"/>
            <a:chOff x="3761" y="1026"/>
            <a:chExt cx="827" cy="998"/>
          </a:xfrm>
        </p:grpSpPr>
        <p:sp>
          <p:nvSpPr>
            <p:cNvPr id="14378" name="Text Box 55"/>
            <p:cNvSpPr txBox="1">
              <a:spLocks noChangeArrowheads="1"/>
            </p:cNvSpPr>
            <p:nvPr/>
          </p:nvSpPr>
          <p:spPr bwMode="auto">
            <a:xfrm>
              <a:off x="3761" y="1026"/>
              <a:ext cx="827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a+1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a[0]+1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&amp;a[0][1]</a:t>
              </a:r>
            </a:p>
          </p:txBody>
        </p:sp>
        <p:sp>
          <p:nvSpPr>
            <p:cNvPr id="14379" name="Line 56"/>
            <p:cNvSpPr>
              <a:spLocks noChangeShapeType="1"/>
            </p:cNvSpPr>
            <p:nvPr/>
          </p:nvSpPr>
          <p:spPr bwMode="auto">
            <a:xfrm>
              <a:off x="4082" y="1774"/>
              <a:ext cx="0" cy="25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562233" name="Text Box 57"/>
          <p:cNvSpPr txBox="1">
            <a:spLocks noChangeArrowheads="1"/>
          </p:cNvSpPr>
          <p:nvPr/>
        </p:nvSpPr>
        <p:spPr bwMode="auto">
          <a:xfrm>
            <a:off x="107950" y="1519238"/>
            <a:ext cx="3995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"/>
              </a:spcAft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即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: *a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a[0]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&amp;a[0][0]</a:t>
            </a:r>
          </a:p>
        </p:txBody>
      </p:sp>
      <p:sp>
        <p:nvSpPr>
          <p:cNvPr id="562234" name="Text Box 58"/>
          <p:cNvSpPr txBox="1">
            <a:spLocks noChangeArrowheads="1"/>
          </p:cNvSpPr>
          <p:nvPr/>
        </p:nvSpPr>
        <p:spPr bwMode="auto">
          <a:xfrm>
            <a:off x="287338" y="549275"/>
            <a:ext cx="6913562" cy="46166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思考：*</a:t>
            </a:r>
            <a:r>
              <a:rPr lang="en-US" altLang="zh-CN" sz="2400" b="1" dirty="0">
                <a:latin typeface="Times New Roman" panose="02020603050405020304" pitchFamily="18" charset="0"/>
              </a:rPr>
              <a:t>a,*a+1,*(a+1),*(a+2)+3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表示什么？</a:t>
            </a:r>
          </a:p>
        </p:txBody>
      </p:sp>
    </p:spTree>
    <p:extLst>
      <p:ext uri="{BB962C8B-B14F-4D97-AF65-F5344CB8AC3E}">
        <p14:creationId xmlns:p14="http://schemas.microsoft.com/office/powerpoint/2010/main" val="406454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56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56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1000"/>
                                        <p:tgtEl>
                                          <p:spTgt spid="5622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1000"/>
                                        <p:tgtEl>
                                          <p:spTgt spid="5622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000"/>
                                        <p:tgtEl>
                                          <p:spTgt spid="5622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2000"/>
                                        <p:tgtEl>
                                          <p:spTgt spid="56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1000"/>
                                        <p:tgtEl>
                                          <p:spTgt spid="56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1" dur="500"/>
                                        <p:tgtEl>
                                          <p:spTgt spid="562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2" dur="500"/>
                                        <p:tgtEl>
                                          <p:spTgt spid="5622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500"/>
                                        <p:tgtEl>
                                          <p:spTgt spid="5622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78" grpId="0" animBg="1"/>
      <p:bldP spid="562218" grpId="0"/>
      <p:bldP spid="562219" grpId="0"/>
      <p:bldP spid="562220" grpId="0"/>
      <p:bldP spid="562221" grpId="0"/>
      <p:bldP spid="562222" grpId="0"/>
      <p:bldP spid="562223" grpId="0"/>
      <p:bldP spid="562224" grpId="0"/>
      <p:bldP spid="562225" grpId="0"/>
      <p:bldP spid="562226" grpId="0"/>
      <p:bldP spid="562233" grpId="0"/>
      <p:bldP spid="56223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07950" y="115888"/>
            <a:ext cx="741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-457200">
              <a:spcBef>
                <a:spcPct val="0"/>
              </a:spcBef>
              <a:buClr>
                <a:srgbClr val="3333FF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</a:rPr>
              <a:t>思考</a:t>
            </a:r>
            <a:endParaRPr lang="zh-CN" altLang="en-US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84138" y="765175"/>
            <a:ext cx="8497887" cy="54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int a[3][3] = {1,2,3,4,5,6,7,8,9};</a:t>
            </a:r>
          </a:p>
        </p:txBody>
      </p:sp>
      <p:sp>
        <p:nvSpPr>
          <p:cNvPr id="563204" name="Rectangle 4"/>
          <p:cNvSpPr>
            <a:spLocks noChangeArrowheads="1"/>
          </p:cNvSpPr>
          <p:nvPr/>
        </p:nvSpPr>
        <p:spPr bwMode="auto">
          <a:xfrm>
            <a:off x="119063" y="1416050"/>
            <a:ext cx="3397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1.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的值是否相同？</a:t>
            </a:r>
          </a:p>
        </p:txBody>
      </p:sp>
      <p:sp>
        <p:nvSpPr>
          <p:cNvPr id="563205" name="Rectangle 5"/>
          <p:cNvSpPr>
            <a:spLocks noChangeArrowheads="1"/>
          </p:cNvSpPr>
          <p:nvPr/>
        </p:nvSpPr>
        <p:spPr bwMode="auto">
          <a:xfrm>
            <a:off x="3419475" y="142875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相同</a:t>
            </a:r>
          </a:p>
        </p:txBody>
      </p:sp>
      <p:sp>
        <p:nvSpPr>
          <p:cNvPr id="563206" name="Rectangle 6"/>
          <p:cNvSpPr>
            <a:spLocks noChangeArrowheads="1"/>
          </p:cNvSpPr>
          <p:nvPr/>
        </p:nvSpPr>
        <p:spPr bwMode="auto">
          <a:xfrm>
            <a:off x="107950" y="2093913"/>
            <a:ext cx="4251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2.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a+1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(a+1)</a:t>
            </a:r>
            <a:r>
              <a:rPr lang="zh-CN" altLang="en-US" sz="2400" b="1">
                <a:latin typeface="Times New Roman" panose="02020603050405020304" pitchFamily="18" charset="0"/>
              </a:rPr>
              <a:t>的值是否相同？</a:t>
            </a:r>
          </a:p>
        </p:txBody>
      </p:sp>
      <p:sp>
        <p:nvSpPr>
          <p:cNvPr id="563207" name="Rectangle 7"/>
          <p:cNvSpPr>
            <a:spLocks noChangeArrowheads="1"/>
          </p:cNvSpPr>
          <p:nvPr/>
        </p:nvSpPr>
        <p:spPr bwMode="auto">
          <a:xfrm>
            <a:off x="4252913" y="210185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相同</a:t>
            </a:r>
          </a:p>
        </p:txBody>
      </p:sp>
      <p:sp>
        <p:nvSpPr>
          <p:cNvPr id="563208" name="Rectangle 8"/>
          <p:cNvSpPr>
            <a:spLocks noChangeArrowheads="1"/>
          </p:cNvSpPr>
          <p:nvPr/>
        </p:nvSpPr>
        <p:spPr bwMode="auto">
          <a:xfrm>
            <a:off x="119063" y="2787650"/>
            <a:ext cx="510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3.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(a+1)+1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(a+1)+1</a:t>
            </a:r>
            <a:r>
              <a:rPr lang="zh-CN" altLang="en-US" sz="2400" b="1">
                <a:latin typeface="Times New Roman" panose="02020603050405020304" pitchFamily="18" charset="0"/>
              </a:rPr>
              <a:t>的值是否相同？</a:t>
            </a:r>
          </a:p>
        </p:txBody>
      </p:sp>
      <p:sp>
        <p:nvSpPr>
          <p:cNvPr id="563209" name="Rectangle 9"/>
          <p:cNvSpPr>
            <a:spLocks noChangeArrowheads="1"/>
          </p:cNvSpPr>
          <p:nvPr/>
        </p:nvSpPr>
        <p:spPr bwMode="auto">
          <a:xfrm>
            <a:off x="119063" y="3502025"/>
            <a:ext cx="2114550" cy="457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(a+1)+1 </a:t>
            </a:r>
            <a:r>
              <a:rPr lang="en-US" altLang="zh-CN" sz="2400" b="1">
                <a:latin typeface="Times New Roman" panose="02020603050405020304" pitchFamily="18" charset="0"/>
                <a:sym typeface="Wingdings" panose="05000000000000000000" pitchFamily="2" charset="2"/>
              </a:rPr>
              <a:t>= a+2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63210" name="Rectangle 10"/>
          <p:cNvSpPr>
            <a:spLocks noChangeArrowheads="1"/>
          </p:cNvSpPr>
          <p:nvPr/>
        </p:nvSpPr>
        <p:spPr bwMode="auto">
          <a:xfrm>
            <a:off x="122238" y="3960813"/>
            <a:ext cx="3868737" cy="457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第</a:t>
            </a: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行的首地址，即</a:t>
            </a:r>
            <a:r>
              <a:rPr lang="en-US" altLang="zh-CN" sz="2400" b="1">
                <a:latin typeface="Times New Roman" panose="02020603050405020304" pitchFamily="18" charset="0"/>
              </a:rPr>
              <a:t>&amp;a[2]</a:t>
            </a:r>
          </a:p>
        </p:txBody>
      </p:sp>
      <p:sp>
        <p:nvSpPr>
          <p:cNvPr id="563211" name="Rectangle 11"/>
          <p:cNvSpPr>
            <a:spLocks noChangeArrowheads="1"/>
          </p:cNvSpPr>
          <p:nvPr/>
        </p:nvSpPr>
        <p:spPr bwMode="auto">
          <a:xfrm>
            <a:off x="107950" y="4618038"/>
            <a:ext cx="2697163" cy="457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latin typeface="Times New Roman" panose="02020603050405020304" pitchFamily="18" charset="0"/>
              </a:rPr>
              <a:t>(a+1)+1</a:t>
            </a:r>
            <a:r>
              <a:rPr lang="en-US" altLang="zh-CN" sz="2400" b="1">
                <a:latin typeface="Times New Roman" panose="02020603050405020304" pitchFamily="18" charset="0"/>
                <a:sym typeface="Wingdings" panose="05000000000000000000" pitchFamily="2" charset="2"/>
              </a:rPr>
              <a:t> = a[1]+1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63212" name="Rectangle 12"/>
          <p:cNvSpPr>
            <a:spLocks noChangeArrowheads="1"/>
          </p:cNvSpPr>
          <p:nvPr/>
        </p:nvSpPr>
        <p:spPr bwMode="auto">
          <a:xfrm>
            <a:off x="101600" y="5033963"/>
            <a:ext cx="4948238" cy="457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第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行第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列的首地址，即</a:t>
            </a:r>
            <a:r>
              <a:rPr lang="en-US" altLang="zh-CN" sz="2400" b="1">
                <a:latin typeface="Times New Roman" panose="02020603050405020304" pitchFamily="18" charset="0"/>
              </a:rPr>
              <a:t>&amp;a[1][1]</a:t>
            </a:r>
          </a:p>
        </p:txBody>
      </p:sp>
      <p:sp>
        <p:nvSpPr>
          <p:cNvPr id="563213" name="AutoShape 13"/>
          <p:cNvSpPr>
            <a:spLocks noChangeArrowheads="1"/>
          </p:cNvSpPr>
          <p:nvPr/>
        </p:nvSpPr>
        <p:spPr bwMode="auto">
          <a:xfrm>
            <a:off x="5140325" y="4832350"/>
            <a:ext cx="3924300" cy="1476375"/>
          </a:xfrm>
          <a:prstGeom prst="cloudCallout">
            <a:avLst>
              <a:gd name="adj1" fmla="val -116060"/>
              <a:gd name="adj2" fmla="val -153981"/>
            </a:avLst>
          </a:prstGeom>
          <a:solidFill>
            <a:srgbClr val="FFFFCC"/>
          </a:solidFill>
          <a:ln w="12700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为什么同样是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+1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，结果却不同？</a:t>
            </a:r>
          </a:p>
        </p:txBody>
      </p:sp>
      <p:graphicFrame>
        <p:nvGraphicFramePr>
          <p:cNvPr id="14" name="Group 72">
            <a:extLst>
              <a:ext uri="{FF2B5EF4-FFF2-40B4-BE49-F238E27FC236}">
                <a16:creationId xmlns:a16="http://schemas.microsoft.com/office/drawing/2014/main" id="{D5BE6A76-102F-44ED-981D-0DC3A1C8D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05961"/>
              </p:ext>
            </p:extLst>
          </p:nvPr>
        </p:nvGraphicFramePr>
        <p:xfrm>
          <a:off x="7013575" y="520700"/>
          <a:ext cx="914400" cy="41322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1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2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3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4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5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6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7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8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ulimChe" pitchFamily="49" charset="-127"/>
                          <a:ea typeface="GulimChe" pitchFamily="49" charset="-127"/>
                        </a:rPr>
                        <a:t>9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ulimChe" pitchFamily="49" charset="-127"/>
                        <a:ea typeface="GulimChe" pitchFamily="49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6134100" y="484188"/>
            <a:ext cx="2971800" cy="4164012"/>
            <a:chOff x="6133376" y="483772"/>
            <a:chExt cx="2971800" cy="4164012"/>
          </a:xfrm>
        </p:grpSpPr>
        <p:sp>
          <p:nvSpPr>
            <p:cNvPr id="15409" name="Text Box 37"/>
            <p:cNvSpPr txBox="1">
              <a:spLocks noChangeArrowheads="1"/>
            </p:cNvSpPr>
            <p:nvPr/>
          </p:nvSpPr>
          <p:spPr bwMode="auto">
            <a:xfrm>
              <a:off x="7885976" y="483772"/>
              <a:ext cx="1219200" cy="413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5000"/>
                </a:lnSpc>
                <a:buSzTx/>
                <a:buFontTx/>
                <a:buNone/>
              </a:pPr>
              <a:r>
                <a:rPr kumimoji="0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a[0][0]</a:t>
              </a:r>
            </a:p>
            <a:p>
              <a:pPr algn="ctr">
                <a:lnSpc>
                  <a:spcPct val="105000"/>
                </a:lnSpc>
                <a:buSzTx/>
                <a:buFontTx/>
                <a:buNone/>
              </a:pPr>
              <a:r>
                <a:rPr kumimoji="0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a[0][1]</a:t>
              </a:r>
            </a:p>
            <a:p>
              <a:pPr algn="ctr">
                <a:lnSpc>
                  <a:spcPct val="105000"/>
                </a:lnSpc>
                <a:buSzTx/>
                <a:buFontTx/>
                <a:buNone/>
              </a:pPr>
              <a:r>
                <a:rPr kumimoji="0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a[0][2]</a:t>
              </a:r>
            </a:p>
            <a:p>
              <a:pPr algn="ctr">
                <a:lnSpc>
                  <a:spcPct val="105000"/>
                </a:lnSpc>
                <a:buSzTx/>
                <a:buFontTx/>
                <a:buNone/>
              </a:pPr>
              <a:r>
                <a:rPr kumimoji="0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a[1][0]</a:t>
              </a:r>
            </a:p>
            <a:p>
              <a:pPr algn="ctr">
                <a:lnSpc>
                  <a:spcPct val="105000"/>
                </a:lnSpc>
                <a:buSzTx/>
                <a:buFontTx/>
                <a:buNone/>
              </a:pPr>
              <a:r>
                <a:rPr kumimoji="0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a[1][1]</a:t>
              </a:r>
            </a:p>
            <a:p>
              <a:pPr algn="ctr">
                <a:lnSpc>
                  <a:spcPct val="105000"/>
                </a:lnSpc>
                <a:buSzTx/>
                <a:buFontTx/>
                <a:buNone/>
              </a:pPr>
              <a:r>
                <a:rPr kumimoji="0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a[1][2]</a:t>
              </a:r>
            </a:p>
            <a:p>
              <a:pPr algn="ctr">
                <a:lnSpc>
                  <a:spcPct val="105000"/>
                </a:lnSpc>
                <a:buSzTx/>
                <a:buFontTx/>
                <a:buNone/>
              </a:pPr>
              <a:r>
                <a:rPr kumimoji="0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a[2][0]</a:t>
              </a:r>
            </a:p>
            <a:p>
              <a:pPr algn="ctr">
                <a:lnSpc>
                  <a:spcPct val="105000"/>
                </a:lnSpc>
                <a:buSzTx/>
                <a:buFontTx/>
                <a:buNone/>
              </a:pPr>
              <a:r>
                <a:rPr kumimoji="0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a[2][1]</a:t>
              </a:r>
            </a:p>
            <a:p>
              <a:pPr algn="ctr">
                <a:lnSpc>
                  <a:spcPct val="105000"/>
                </a:lnSpc>
                <a:buSzTx/>
                <a:buFontTx/>
                <a:buNone/>
              </a:pPr>
              <a:r>
                <a:rPr kumimoji="0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a[2][2]</a:t>
              </a:r>
            </a:p>
          </p:txBody>
        </p:sp>
        <p:sp>
          <p:nvSpPr>
            <p:cNvPr id="15410" name="Text Box 38"/>
            <p:cNvSpPr txBox="1">
              <a:spLocks noChangeArrowheads="1"/>
            </p:cNvSpPr>
            <p:nvPr/>
          </p:nvSpPr>
          <p:spPr bwMode="auto">
            <a:xfrm>
              <a:off x="6133376" y="513934"/>
              <a:ext cx="838200" cy="413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buSzTx/>
                <a:buFontTx/>
                <a:buNone/>
              </a:pP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1010</a:t>
              </a:r>
            </a:p>
            <a:p>
              <a:pPr algn="ctr" eaLnBrk="1" hangingPunct="1">
                <a:lnSpc>
                  <a:spcPct val="105000"/>
                </a:lnSpc>
                <a:buSzTx/>
                <a:buFontTx/>
                <a:buNone/>
              </a:pP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101</a:t>
              </a: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4</a:t>
              </a:r>
            </a:p>
            <a:p>
              <a:pPr algn="ctr" eaLnBrk="1" hangingPunct="1">
                <a:lnSpc>
                  <a:spcPct val="105000"/>
                </a:lnSpc>
                <a:buSzTx/>
                <a:buFontTx/>
                <a:buNone/>
              </a:pP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101</a:t>
              </a: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8</a:t>
              </a:r>
            </a:p>
            <a:p>
              <a:pPr algn="ctr" eaLnBrk="1" hangingPunct="1">
                <a:lnSpc>
                  <a:spcPct val="105000"/>
                </a:lnSpc>
                <a:buSzTx/>
                <a:buFontTx/>
                <a:buNone/>
              </a:pP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22</a:t>
              </a:r>
            </a:p>
            <a:p>
              <a:pPr algn="ctr" eaLnBrk="1" hangingPunct="1">
                <a:lnSpc>
                  <a:spcPct val="105000"/>
                </a:lnSpc>
                <a:buSzTx/>
                <a:buFontTx/>
                <a:buNone/>
              </a:pP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26</a:t>
              </a:r>
            </a:p>
            <a:p>
              <a:pPr algn="ctr" eaLnBrk="1" hangingPunct="1">
                <a:lnSpc>
                  <a:spcPct val="105000"/>
                </a:lnSpc>
                <a:buSzTx/>
                <a:buFontTx/>
                <a:buNone/>
              </a:pP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30</a:t>
              </a:r>
            </a:p>
            <a:p>
              <a:pPr algn="ctr" eaLnBrk="1" hangingPunct="1">
                <a:lnSpc>
                  <a:spcPct val="105000"/>
                </a:lnSpc>
                <a:buSzTx/>
                <a:buFontTx/>
                <a:buNone/>
              </a:pP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34</a:t>
              </a:r>
            </a:p>
            <a:p>
              <a:pPr algn="ctr" eaLnBrk="1" hangingPunct="1">
                <a:lnSpc>
                  <a:spcPct val="105000"/>
                </a:lnSpc>
                <a:buSzTx/>
                <a:buFontTx/>
                <a:buNone/>
              </a:pP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38</a:t>
              </a:r>
            </a:p>
            <a:p>
              <a:pPr algn="ctr" eaLnBrk="1" hangingPunct="1">
                <a:lnSpc>
                  <a:spcPct val="105000"/>
                </a:lnSpc>
                <a:buSzTx/>
                <a:buFontTx/>
                <a:buNone/>
              </a:pPr>
              <a:r>
                <a:rPr lang="zh-CN" altLang="en-US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400" b="1">
                  <a:solidFill>
                    <a:srgbClr val="006600"/>
                  </a:solidFill>
                  <a:latin typeface="Times New Roman" panose="02020603050405020304" pitchFamily="18" charset="0"/>
                </a:rPr>
                <a:t>42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5405438" y="520700"/>
            <a:ext cx="795337" cy="461963"/>
            <a:chOff x="5404805" y="520284"/>
            <a:chExt cx="795612" cy="461665"/>
          </a:xfrm>
        </p:grpSpPr>
        <p:sp>
          <p:nvSpPr>
            <p:cNvPr id="15407" name="矩形 1"/>
            <p:cNvSpPr>
              <a:spLocks noChangeArrowheads="1"/>
            </p:cNvSpPr>
            <p:nvPr/>
          </p:nvSpPr>
          <p:spPr bwMode="auto">
            <a:xfrm>
              <a:off x="5404805" y="52028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cxnSp>
          <p:nvCxnSpPr>
            <p:cNvPr id="15408" name="直接箭头连接符 3"/>
            <p:cNvCxnSpPr>
              <a:cxnSpLocks noChangeShapeType="1"/>
            </p:cNvCxnSpPr>
            <p:nvPr/>
          </p:nvCxnSpPr>
          <p:spPr bwMode="auto">
            <a:xfrm>
              <a:off x="5704323" y="769588"/>
              <a:ext cx="496094" cy="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5121275" y="1852613"/>
            <a:ext cx="1065213" cy="461962"/>
            <a:chOff x="5121955" y="1853123"/>
            <a:chExt cx="1064694" cy="461665"/>
          </a:xfrm>
        </p:grpSpPr>
        <p:sp>
          <p:nvSpPr>
            <p:cNvPr id="15405" name="矩形 19"/>
            <p:cNvSpPr>
              <a:spLocks noChangeArrowheads="1"/>
            </p:cNvSpPr>
            <p:nvPr/>
          </p:nvSpPr>
          <p:spPr bwMode="auto">
            <a:xfrm>
              <a:off x="5121955" y="1853123"/>
              <a:ext cx="6671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a+1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cxnSp>
          <p:nvCxnSpPr>
            <p:cNvPr id="15406" name="直接箭头连接符 20"/>
            <p:cNvCxnSpPr>
              <a:cxnSpLocks noChangeShapeType="1"/>
            </p:cNvCxnSpPr>
            <p:nvPr/>
          </p:nvCxnSpPr>
          <p:spPr bwMode="auto">
            <a:xfrm>
              <a:off x="5690555" y="2102427"/>
              <a:ext cx="496094" cy="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5076825" y="3228975"/>
            <a:ext cx="1109663" cy="461963"/>
            <a:chOff x="5076189" y="3228979"/>
            <a:chExt cx="1110460" cy="461665"/>
          </a:xfrm>
        </p:grpSpPr>
        <p:sp>
          <p:nvSpPr>
            <p:cNvPr id="15403" name="矩形 21"/>
            <p:cNvSpPr>
              <a:spLocks noChangeArrowheads="1"/>
            </p:cNvSpPr>
            <p:nvPr/>
          </p:nvSpPr>
          <p:spPr bwMode="auto">
            <a:xfrm>
              <a:off x="5076189" y="3228979"/>
              <a:ext cx="6671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a+2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cxnSp>
          <p:nvCxnSpPr>
            <p:cNvPr id="15404" name="直接箭头连接符 22"/>
            <p:cNvCxnSpPr>
              <a:cxnSpLocks noChangeShapeType="1"/>
            </p:cNvCxnSpPr>
            <p:nvPr/>
          </p:nvCxnSpPr>
          <p:spPr bwMode="auto">
            <a:xfrm>
              <a:off x="5690555" y="3505065"/>
              <a:ext cx="496094" cy="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4397375" y="2405063"/>
            <a:ext cx="1760538" cy="460375"/>
            <a:chOff x="4396901" y="2404418"/>
            <a:chExt cx="1761173" cy="461665"/>
          </a:xfrm>
        </p:grpSpPr>
        <p:sp>
          <p:nvSpPr>
            <p:cNvPr id="15401" name="矩形 5"/>
            <p:cNvSpPr>
              <a:spLocks noChangeArrowheads="1"/>
            </p:cNvSpPr>
            <p:nvPr/>
          </p:nvSpPr>
          <p:spPr bwMode="auto">
            <a:xfrm>
              <a:off x="4396901" y="2404418"/>
              <a:ext cx="13548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(a+1)+1</a:t>
              </a:r>
              <a:endPara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15402" name="直接箭头连接符 25"/>
            <p:cNvCxnSpPr>
              <a:cxnSpLocks noChangeShapeType="1"/>
            </p:cNvCxnSpPr>
            <p:nvPr/>
          </p:nvCxnSpPr>
          <p:spPr bwMode="auto">
            <a:xfrm>
              <a:off x="5661980" y="2625725"/>
              <a:ext cx="496094" cy="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91784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6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6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6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6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63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6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6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6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6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563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04" grpId="0"/>
      <p:bldP spid="563205" grpId="0"/>
      <p:bldP spid="563206" grpId="0"/>
      <p:bldP spid="563207" grpId="0"/>
      <p:bldP spid="563208" grpId="0"/>
      <p:bldP spid="563209" grpId="0" animBg="1"/>
      <p:bldP spid="563210" grpId="0" animBg="1"/>
      <p:bldP spid="563211" grpId="0" animBg="1"/>
      <p:bldP spid="563212" grpId="0" animBg="1"/>
      <p:bldP spid="5632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07950" y="115888"/>
            <a:ext cx="89918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-457200">
              <a:spcBef>
                <a:spcPct val="0"/>
              </a:spcBef>
              <a:buClr>
                <a:srgbClr val="3333FF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</a:rPr>
              <a:t>小结</a:t>
            </a:r>
            <a:endParaRPr lang="zh-CN" altLang="en-US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142875" y="832747"/>
            <a:ext cx="5285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3333FF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二维数组名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代表二维数组的首地址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即</a:t>
            </a:r>
            <a:r>
              <a:rPr lang="en-US" altLang="zh-CN" sz="2400" b="1" dirty="0"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</a:rPr>
              <a:t>第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行的地址为   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&amp;a[0]</a:t>
            </a:r>
          </a:p>
        </p:txBody>
      </p:sp>
      <p:sp>
        <p:nvSpPr>
          <p:cNvPr id="565252" name="Text Box 4"/>
          <p:cNvSpPr txBox="1">
            <a:spLocks noChangeArrowheads="1"/>
          </p:cNvSpPr>
          <p:nvPr/>
        </p:nvSpPr>
        <p:spPr bwMode="auto">
          <a:xfrm>
            <a:off x="844550" y="1547122"/>
            <a:ext cx="399821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第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行的地址为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a+1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&amp;a[1]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Wingdings" panose="05000000000000000000" pitchFamily="2" charset="2"/>
              </a:rPr>
              <a:t>第</a:t>
            </a:r>
            <a:r>
              <a:rPr lang="en-US" altLang="zh-CN" sz="2400" b="1"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sym typeface="Wingdings" panose="05000000000000000000" pitchFamily="2" charset="2"/>
              </a:rPr>
              <a:t>行的地址为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a+2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&amp;a[2]</a:t>
            </a:r>
          </a:p>
        </p:txBody>
      </p:sp>
      <p:sp>
        <p:nvSpPr>
          <p:cNvPr id="565253" name="Text Box 5"/>
          <p:cNvSpPr txBox="1">
            <a:spLocks noChangeArrowheads="1"/>
          </p:cNvSpPr>
          <p:nvPr/>
        </p:nvSpPr>
        <p:spPr bwMode="auto">
          <a:xfrm>
            <a:off x="142875" y="2355159"/>
            <a:ext cx="478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3333FF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400" b="1">
                <a:latin typeface="Times New Roman" panose="02020603050405020304" pitchFamily="18" charset="0"/>
              </a:rPr>
              <a:t>二维数组的列地址即元素的地址</a:t>
            </a:r>
          </a:p>
        </p:txBody>
      </p:sp>
      <p:graphicFrame>
        <p:nvGraphicFramePr>
          <p:cNvPr id="565254" name="Group 6">
            <a:extLst>
              <a:ext uri="{FF2B5EF4-FFF2-40B4-BE49-F238E27FC236}">
                <a16:creationId xmlns:a16="http://schemas.microsoft.com/office/drawing/2014/main" id="{C55F2652-1B17-4DD3-8AA6-3034A7F6C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521278"/>
              </p:ext>
            </p:extLst>
          </p:nvPr>
        </p:nvGraphicFramePr>
        <p:xfrm>
          <a:off x="468313" y="2850459"/>
          <a:ext cx="1116012" cy="2743200"/>
        </p:xfrm>
        <a:graphic>
          <a:graphicData uri="http://schemas.openxmlformats.org/drawingml/2006/table">
            <a:tbl>
              <a:tblPr/>
              <a:tblGrid>
                <a:gridCol w="1116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元素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0][0]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a[0][1]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a[1][0]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a[1][2]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a[2][3]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65270" name="Group 22">
            <a:extLst>
              <a:ext uri="{FF2B5EF4-FFF2-40B4-BE49-F238E27FC236}">
                <a16:creationId xmlns:a16="http://schemas.microsoft.com/office/drawing/2014/main" id="{8D4064DB-A3BB-4742-A43A-F7B1DC2A9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139447"/>
              </p:ext>
            </p:extLst>
          </p:nvPr>
        </p:nvGraphicFramePr>
        <p:xfrm>
          <a:off x="1584325" y="2847284"/>
          <a:ext cx="1439863" cy="274320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地址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&amp;a[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0][0]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&amp;a[0][1]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&amp;a[1][0]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&amp;a[1][2]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&amp;a[2][3]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65286" name="Group 38">
            <a:extLst>
              <a:ext uri="{FF2B5EF4-FFF2-40B4-BE49-F238E27FC236}">
                <a16:creationId xmlns:a16="http://schemas.microsoft.com/office/drawing/2014/main" id="{A580ABC0-3C70-4CD0-9C5A-CBF5DB2EA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527410"/>
              </p:ext>
            </p:extLst>
          </p:nvPr>
        </p:nvGraphicFramePr>
        <p:xfrm>
          <a:off x="4535488" y="2850459"/>
          <a:ext cx="1116012" cy="2743200"/>
        </p:xfrm>
        <a:graphic>
          <a:graphicData uri="http://schemas.openxmlformats.org/drawingml/2006/table">
            <a:tbl>
              <a:tblPr/>
              <a:tblGrid>
                <a:gridCol w="1116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地址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a[0]+1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a[1]+2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a[2]+3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65302" name="Group 54">
            <a:extLst>
              <a:ext uri="{FF2B5EF4-FFF2-40B4-BE49-F238E27FC236}">
                <a16:creationId xmlns:a16="http://schemas.microsoft.com/office/drawing/2014/main" id="{0416FAF4-CFCF-4649-9A07-E162990E5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613004"/>
              </p:ext>
            </p:extLst>
          </p:nvPr>
        </p:nvGraphicFramePr>
        <p:xfrm>
          <a:off x="7416800" y="2847284"/>
          <a:ext cx="1404938" cy="2743200"/>
        </p:xfrm>
        <a:graphic>
          <a:graphicData uri="http://schemas.openxmlformats.org/drawingml/2006/table">
            <a:tbl>
              <a:tblPr/>
              <a:tblGrid>
                <a:gridCol w="1404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地址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a+1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(a+1)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(a+1)+2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(a+2)+3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65318" name="Group 70">
            <a:extLst>
              <a:ext uri="{FF2B5EF4-FFF2-40B4-BE49-F238E27FC236}">
                <a16:creationId xmlns:a16="http://schemas.microsoft.com/office/drawing/2014/main" id="{84C3AC49-6E17-4874-B6CB-78F5B250B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664136"/>
              </p:ext>
            </p:extLst>
          </p:nvPr>
        </p:nvGraphicFramePr>
        <p:xfrm>
          <a:off x="3024188" y="2847284"/>
          <a:ext cx="1512887" cy="2743200"/>
        </p:xfrm>
        <a:graphic>
          <a:graphicData uri="http://schemas.openxmlformats.org/drawingml/2006/table">
            <a:tbl>
              <a:tblPr/>
              <a:tblGrid>
                <a:gridCol w="1512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元素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(a[0]+1)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(a[1]+2)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(a[2]+3)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65334" name="Group 86">
            <a:extLst>
              <a:ext uri="{FF2B5EF4-FFF2-40B4-BE49-F238E27FC236}">
                <a16:creationId xmlns:a16="http://schemas.microsoft.com/office/drawing/2014/main" id="{1EAD6614-4527-40D0-97A2-FAFCDCD45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76689"/>
              </p:ext>
            </p:extLst>
          </p:nvPr>
        </p:nvGraphicFramePr>
        <p:xfrm>
          <a:off x="5651500" y="2850459"/>
          <a:ext cx="1763713" cy="2743200"/>
        </p:xfrm>
        <a:graphic>
          <a:graphicData uri="http://schemas.openxmlformats.org/drawingml/2006/table">
            <a:tbl>
              <a:tblPr/>
              <a:tblGrid>
                <a:gridCol w="1763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元素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(*a+1)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(*(a+1))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(*(a+1)+2)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anose="02010609060101010101" pitchFamily="49" charset="-122"/>
                        </a:rPr>
                        <a:t>(*(a+2)+3)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72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6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6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6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6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6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6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51" grpId="0"/>
      <p:bldP spid="565252" grpId="0"/>
      <p:bldP spid="56525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86" name="AutoShape 14"/>
          <p:cNvSpPr>
            <a:spLocks noChangeArrowheads="1"/>
          </p:cNvSpPr>
          <p:nvPr/>
        </p:nvSpPr>
        <p:spPr bwMode="auto">
          <a:xfrm>
            <a:off x="3106738" y="1960563"/>
            <a:ext cx="1778000" cy="611187"/>
          </a:xfrm>
          <a:prstGeom prst="wedgeRoundRectCallout">
            <a:avLst>
              <a:gd name="adj1" fmla="val -87796"/>
              <a:gd name="adj2" fmla="val 210565"/>
              <a:gd name="adj3" fmla="val 16667"/>
            </a:avLst>
          </a:prstGeom>
          <a:solidFill>
            <a:srgbClr val="FFFFCC"/>
          </a:solidFill>
          <a:ln w="127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a+12?</a:t>
            </a: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5099050" y="1965325"/>
            <a:ext cx="1778000" cy="611188"/>
          </a:xfrm>
          <a:prstGeom prst="wedgeRoundRectCallout">
            <a:avLst>
              <a:gd name="adj1" fmla="val -142338"/>
              <a:gd name="adj2" fmla="val 212074"/>
              <a:gd name="adj3" fmla="val 16667"/>
            </a:avLst>
          </a:prstGeom>
          <a:solidFill>
            <a:srgbClr val="FFFFCC"/>
          </a:solidFill>
          <a:ln w="127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" panose="02010609060101010101" pitchFamily="49" charset="-122"/>
              </a:rPr>
              <a:t>*</a:t>
            </a: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a+12?</a:t>
            </a:r>
          </a:p>
        </p:txBody>
      </p:sp>
      <p:sp>
        <p:nvSpPr>
          <p:cNvPr id="18436" name="Text Box 2"/>
          <p:cNvSpPr txBox="1">
            <a:spLocks noChangeArrowheads="1"/>
          </p:cNvSpPr>
          <p:nvPr/>
        </p:nvSpPr>
        <p:spPr bwMode="auto">
          <a:xfrm>
            <a:off x="107950" y="115888"/>
            <a:ext cx="46799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6.3.3 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二维数组与指针</a:t>
            </a:r>
          </a:p>
        </p:txBody>
      </p:sp>
      <p:sp>
        <p:nvSpPr>
          <p:cNvPr id="566275" name="Text Box 3"/>
          <p:cNvSpPr txBox="1">
            <a:spLocks noChangeArrowheads="1"/>
          </p:cNvSpPr>
          <p:nvPr/>
        </p:nvSpPr>
        <p:spPr bwMode="auto">
          <a:xfrm>
            <a:off x="215900" y="620713"/>
            <a:ext cx="4787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、指向数组元素的指针变量</a:t>
            </a:r>
          </a:p>
        </p:txBody>
      </p:sp>
      <p:sp>
        <p:nvSpPr>
          <p:cNvPr id="566276" name="Text Box 4"/>
          <p:cNvSpPr txBox="1">
            <a:spLocks noChangeArrowheads="1"/>
          </p:cNvSpPr>
          <p:nvPr/>
        </p:nvSpPr>
        <p:spPr bwMode="auto">
          <a:xfrm>
            <a:off x="179388" y="1135063"/>
            <a:ext cx="6156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 dirty="0" smtClean="0">
                <a:latin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6.13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latin typeface="Times New Roman" panose="02020603050405020304" pitchFamily="18" charset="0"/>
              </a:rPr>
              <a:t>用</a:t>
            </a:r>
            <a:r>
              <a:rPr lang="zh-CN" altLang="en-US" sz="2400" b="1" dirty="0">
                <a:latin typeface="Times New Roman" panose="02020603050405020304" pitchFamily="18" charset="0"/>
              </a:rPr>
              <a:t>指针变量输出二维数组中的元素</a:t>
            </a:r>
          </a:p>
        </p:txBody>
      </p:sp>
      <p:sp>
        <p:nvSpPr>
          <p:cNvPr id="566277" name="Text Box 5"/>
          <p:cNvSpPr txBox="1">
            <a:spLocks noChangeArrowheads="1"/>
          </p:cNvSpPr>
          <p:nvPr/>
        </p:nvSpPr>
        <p:spPr bwMode="auto">
          <a:xfrm>
            <a:off x="215900" y="1520825"/>
            <a:ext cx="7381875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#include&lt;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stdio.h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&gt;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main( )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{ 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a[3][4]={{1,3,5,7},{2,4,6,8},{9,10,11,12}};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int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*p;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for(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p=a[0];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p&lt;a[0]+12;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p++)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{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("%4d",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*p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);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if (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(p-a[0])%4==3</a:t>
            </a:r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("\n");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}</a:t>
            </a:r>
          </a:p>
          <a:p>
            <a:pPr eaLnBrk="1" hangingPunct="1">
              <a:lnSpc>
                <a:spcPts val="2863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} </a:t>
            </a:r>
          </a:p>
        </p:txBody>
      </p:sp>
      <p:sp>
        <p:nvSpPr>
          <p:cNvPr id="566278" name="Text Box 6"/>
          <p:cNvSpPr txBox="1">
            <a:spLocks noChangeArrowheads="1"/>
          </p:cNvSpPr>
          <p:nvPr/>
        </p:nvSpPr>
        <p:spPr bwMode="auto">
          <a:xfrm>
            <a:off x="6054725" y="3368675"/>
            <a:ext cx="2447925" cy="193992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" panose="02010609060101010101" pitchFamily="49" charset="-122"/>
              </a:rPr>
              <a:t>思考：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p=a;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p=&amp;a[0][0];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p=*a;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p=*a[0];</a:t>
            </a:r>
          </a:p>
        </p:txBody>
      </p:sp>
      <p:grpSp>
        <p:nvGrpSpPr>
          <p:cNvPr id="566279" name="Group 7"/>
          <p:cNvGrpSpPr>
            <a:grpSpLocks/>
          </p:cNvGrpSpPr>
          <p:nvPr/>
        </p:nvGrpSpPr>
        <p:grpSpPr bwMode="auto">
          <a:xfrm>
            <a:off x="1619250" y="3489325"/>
            <a:ext cx="4352925" cy="168275"/>
            <a:chOff x="1247" y="2047"/>
            <a:chExt cx="2381" cy="136"/>
          </a:xfrm>
        </p:grpSpPr>
        <p:sp>
          <p:nvSpPr>
            <p:cNvPr id="18448" name="Line 8"/>
            <p:cNvSpPr>
              <a:spLocks noChangeShapeType="1"/>
            </p:cNvSpPr>
            <p:nvPr/>
          </p:nvSpPr>
          <p:spPr bwMode="auto">
            <a:xfrm flipV="1">
              <a:off x="1247" y="2047"/>
              <a:ext cx="0" cy="136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8449" name="Line 9"/>
            <p:cNvSpPr>
              <a:spLocks noChangeShapeType="1"/>
            </p:cNvSpPr>
            <p:nvPr/>
          </p:nvSpPr>
          <p:spPr bwMode="auto">
            <a:xfrm>
              <a:off x="1247" y="2069"/>
              <a:ext cx="2381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566282" name="Text Box 10"/>
          <p:cNvSpPr txBox="1">
            <a:spLocks noChangeArrowheads="1"/>
          </p:cNvSpPr>
          <p:nvPr/>
        </p:nvSpPr>
        <p:spPr bwMode="auto">
          <a:xfrm>
            <a:off x="7732713" y="4083050"/>
            <a:ext cx="4937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对</a:t>
            </a:r>
          </a:p>
        </p:txBody>
      </p:sp>
      <p:sp>
        <p:nvSpPr>
          <p:cNvPr id="566283" name="Text Box 11"/>
          <p:cNvSpPr txBox="1">
            <a:spLocks noChangeArrowheads="1"/>
          </p:cNvSpPr>
          <p:nvPr/>
        </p:nvSpPr>
        <p:spPr bwMode="auto">
          <a:xfrm>
            <a:off x="6967538" y="4478338"/>
            <a:ext cx="4937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对</a:t>
            </a:r>
          </a:p>
        </p:txBody>
      </p:sp>
      <p:sp>
        <p:nvSpPr>
          <p:cNvPr id="566284" name="Text Box 12"/>
          <p:cNvSpPr txBox="1">
            <a:spLocks noChangeArrowheads="1"/>
          </p:cNvSpPr>
          <p:nvPr/>
        </p:nvSpPr>
        <p:spPr bwMode="auto">
          <a:xfrm>
            <a:off x="6877050" y="3770313"/>
            <a:ext cx="49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错</a:t>
            </a:r>
          </a:p>
        </p:txBody>
      </p:sp>
      <p:sp>
        <p:nvSpPr>
          <p:cNvPr id="566285" name="Text Box 13"/>
          <p:cNvSpPr txBox="1">
            <a:spLocks noChangeArrowheads="1"/>
          </p:cNvSpPr>
          <p:nvPr/>
        </p:nvSpPr>
        <p:spPr bwMode="auto">
          <a:xfrm>
            <a:off x="7319963" y="4851400"/>
            <a:ext cx="49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错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394200" y="2003425"/>
            <a:ext cx="49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错</a:t>
            </a: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6448425" y="1997075"/>
            <a:ext cx="4937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对</a:t>
            </a:r>
          </a:p>
        </p:txBody>
      </p:sp>
    </p:spTree>
    <p:extLst>
      <p:ext uri="{BB962C8B-B14F-4D97-AF65-F5344CB8AC3E}">
        <p14:creationId xmlns:p14="http://schemas.microsoft.com/office/powerpoint/2010/main" val="410499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66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6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66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66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6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62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66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66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66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662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662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662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1000"/>
                                        <p:tgtEl>
                                          <p:spTgt spid="56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6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56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86" grpId="0" animBg="1"/>
      <p:bldP spid="16" grpId="0" animBg="1"/>
      <p:bldP spid="566275" grpId="0"/>
      <p:bldP spid="566276" grpId="0"/>
      <p:bldP spid="566278" grpId="0" animBg="1"/>
      <p:bldP spid="566282" grpId="0"/>
      <p:bldP spid="566283" grpId="0"/>
      <p:bldP spid="566284" grpId="0"/>
      <p:bldP spid="566285" grpId="0"/>
      <p:bldP spid="15" grpId="0"/>
      <p:bldP spid="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07950" y="115888"/>
            <a:ext cx="74231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6.3.3 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二维数组与指针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44463" y="763588"/>
            <a:ext cx="8567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、行指针变量 </a:t>
            </a:r>
            <a:r>
              <a:rPr lang="en-US" altLang="zh-CN" sz="2400" b="1" dirty="0">
                <a:latin typeface="Times New Roman" panose="02020603050405020304" pitchFamily="18" charset="0"/>
              </a:rPr>
              <a:t>( </a:t>
            </a:r>
            <a:r>
              <a:rPr lang="zh-CN" altLang="en-US" sz="2400" b="1" dirty="0">
                <a:latin typeface="Times New Roman" panose="02020603050405020304" pitchFamily="18" charset="0"/>
              </a:rPr>
              <a:t>指向一个一维数组的指针变量 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67300" name="Text Box 4"/>
          <p:cNvSpPr txBox="1">
            <a:spLocks noChangeArrowheads="1"/>
          </p:cNvSpPr>
          <p:nvPr/>
        </p:nvSpPr>
        <p:spPr bwMode="auto">
          <a:xfrm>
            <a:off x="144463" y="1303338"/>
            <a:ext cx="8135937" cy="457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" panose="02010609060101010101" pitchFamily="49" charset="-122"/>
              </a:rPr>
              <a:t>定义格式：类型名 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ea typeface="楷体" panose="02010609060101010101" pitchFamily="49" charset="-122"/>
              </a:rPr>
              <a:t>*指针变量名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[</a:t>
            </a:r>
            <a:r>
              <a:rPr lang="zh-CN" altLang="en-US" sz="2400" b="1">
                <a:latin typeface="Times New Roman" panose="02020603050405020304" pitchFamily="18" charset="0"/>
                <a:ea typeface="楷体" panose="02010609060101010101" pitchFamily="49" charset="-122"/>
              </a:rPr>
              <a:t>数组长度</a:t>
            </a: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]</a:t>
            </a:r>
            <a:r>
              <a:rPr lang="zh-CN" altLang="en-US" sz="2400" b="1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</a:p>
        </p:txBody>
      </p:sp>
      <p:sp>
        <p:nvSpPr>
          <p:cNvPr id="567301" name="AutoShape 5"/>
          <p:cNvSpPr>
            <a:spLocks noChangeArrowheads="1"/>
          </p:cNvSpPr>
          <p:nvPr/>
        </p:nvSpPr>
        <p:spPr bwMode="auto">
          <a:xfrm>
            <a:off x="2663825" y="2239963"/>
            <a:ext cx="6083300" cy="504825"/>
          </a:xfrm>
          <a:prstGeom prst="wedgeRectCallout">
            <a:avLst>
              <a:gd name="adj1" fmla="val -58245"/>
              <a:gd name="adj2" fmla="val -97171"/>
            </a:avLst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zh-CN" altLang="en-US" sz="2400" b="1">
                <a:latin typeface="Times New Roman" panose="02020603050405020304" pitchFamily="18" charset="0"/>
                <a:ea typeface="楷体" panose="02010609060101010101" pitchFamily="49" charset="-122"/>
              </a:rPr>
              <a:t>指向一个包含有</a:t>
            </a: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  <a:ea typeface="楷体" panose="02010609060101010101" pitchFamily="49" charset="-122"/>
              </a:rPr>
              <a:t>个整型数据的一维数组</a:t>
            </a:r>
          </a:p>
        </p:txBody>
      </p:sp>
      <p:sp>
        <p:nvSpPr>
          <p:cNvPr id="567302" name="Text Box 6"/>
          <p:cNvSpPr txBox="1">
            <a:spLocks noChangeArrowheads="1"/>
          </p:cNvSpPr>
          <p:nvPr/>
        </p:nvSpPr>
        <p:spPr bwMode="auto">
          <a:xfrm>
            <a:off x="1331913" y="2786063"/>
            <a:ext cx="18208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int a[3][4]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int  (*p)[4];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p=a;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67303" name="Text Box 7"/>
          <p:cNvSpPr txBox="1">
            <a:spLocks noChangeArrowheads="1"/>
          </p:cNvSpPr>
          <p:nvPr/>
        </p:nvSpPr>
        <p:spPr bwMode="auto">
          <a:xfrm>
            <a:off x="1924050" y="5089525"/>
            <a:ext cx="1820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int a[4];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67304" name="Text Box 8"/>
          <p:cNvSpPr txBox="1">
            <a:spLocks noChangeArrowheads="1"/>
          </p:cNvSpPr>
          <p:nvPr/>
        </p:nvSpPr>
        <p:spPr bwMode="auto">
          <a:xfrm>
            <a:off x="179388" y="1879600"/>
            <a:ext cx="5795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如 </a:t>
            </a:r>
            <a:r>
              <a:rPr lang="en-US" altLang="zh-CN" sz="2400" b="1">
                <a:latin typeface="Times New Roman" panose="02020603050405020304" pitchFamily="18" charset="0"/>
              </a:rPr>
              <a:t>int (*p)[4];</a:t>
            </a:r>
          </a:p>
        </p:txBody>
      </p:sp>
      <p:sp>
        <p:nvSpPr>
          <p:cNvPr id="567305" name="Text Box 9"/>
          <p:cNvSpPr txBox="1">
            <a:spLocks noChangeArrowheads="1"/>
          </p:cNvSpPr>
          <p:nvPr/>
        </p:nvSpPr>
        <p:spPr bwMode="auto">
          <a:xfrm>
            <a:off x="217488" y="2779713"/>
            <a:ext cx="2195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用法：</a:t>
            </a:r>
          </a:p>
        </p:txBody>
      </p:sp>
      <p:sp>
        <p:nvSpPr>
          <p:cNvPr id="567306" name="Text Box 10"/>
          <p:cNvSpPr txBox="1">
            <a:spLocks noChangeArrowheads="1"/>
          </p:cNvSpPr>
          <p:nvPr/>
        </p:nvSpPr>
        <p:spPr bwMode="auto">
          <a:xfrm>
            <a:off x="252413" y="4224338"/>
            <a:ext cx="2195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如何理解：</a:t>
            </a:r>
          </a:p>
        </p:txBody>
      </p:sp>
      <p:sp>
        <p:nvSpPr>
          <p:cNvPr id="567307" name="Rectangle 11"/>
          <p:cNvSpPr>
            <a:spLocks noChangeArrowheads="1"/>
          </p:cNvSpPr>
          <p:nvPr/>
        </p:nvSpPr>
        <p:spPr bwMode="auto">
          <a:xfrm>
            <a:off x="1871663" y="4165600"/>
            <a:ext cx="1192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int *p;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67308" name="Text Box 12"/>
          <p:cNvSpPr txBox="1">
            <a:spLocks noChangeArrowheads="1"/>
          </p:cNvSpPr>
          <p:nvPr/>
        </p:nvSpPr>
        <p:spPr bwMode="auto">
          <a:xfrm>
            <a:off x="2771775" y="4657725"/>
            <a:ext cx="1295400" cy="45720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*</a:t>
            </a:r>
            <a:r>
              <a:rPr lang="en-US" altLang="zh-CN" sz="2400" b="1">
                <a:latin typeface="Times New Roman" panose="02020603050405020304" pitchFamily="18" charset="0"/>
              </a:rPr>
              <a:t>p</a:t>
            </a:r>
            <a:r>
              <a:rPr lang="zh-CN" altLang="en-US" sz="2400" b="1">
                <a:latin typeface="Times New Roman" panose="02020603050405020304" pitchFamily="18" charset="0"/>
              </a:rPr>
              <a:t>替代</a:t>
            </a:r>
            <a:r>
              <a:rPr lang="en-US" altLang="zh-CN" sz="24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567309" name="Line 13"/>
          <p:cNvSpPr>
            <a:spLocks noChangeShapeType="1"/>
          </p:cNvSpPr>
          <p:nvPr/>
        </p:nvSpPr>
        <p:spPr bwMode="auto">
          <a:xfrm>
            <a:off x="2628900" y="4633913"/>
            <a:ext cx="0" cy="563562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67310" name="Line 14"/>
          <p:cNvSpPr>
            <a:spLocks noChangeShapeType="1"/>
          </p:cNvSpPr>
          <p:nvPr/>
        </p:nvSpPr>
        <p:spPr bwMode="auto">
          <a:xfrm>
            <a:off x="4140200" y="4837113"/>
            <a:ext cx="720725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567311" name="Rectangle 15"/>
          <p:cNvSpPr>
            <a:spLocks noChangeArrowheads="1"/>
          </p:cNvSpPr>
          <p:nvPr/>
        </p:nvSpPr>
        <p:spPr bwMode="auto">
          <a:xfrm>
            <a:off x="5005388" y="4584700"/>
            <a:ext cx="167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int 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(*p)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[4];</a:t>
            </a:r>
          </a:p>
        </p:txBody>
      </p:sp>
    </p:spTree>
    <p:extLst>
      <p:ext uri="{BB962C8B-B14F-4D97-AF65-F5344CB8AC3E}">
        <p14:creationId xmlns:p14="http://schemas.microsoft.com/office/powerpoint/2010/main" val="175847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6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56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6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6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67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6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6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00" grpId="0" animBg="1"/>
      <p:bldP spid="567301" grpId="0" animBg="1"/>
      <p:bldP spid="567302" grpId="0"/>
      <p:bldP spid="567303" grpId="0"/>
      <p:bldP spid="567304" grpId="0"/>
      <p:bldP spid="567305" grpId="0"/>
      <p:bldP spid="567306" grpId="0"/>
      <p:bldP spid="567307" grpId="0"/>
      <p:bldP spid="567308" grpId="0" animBg="1"/>
      <p:bldP spid="5673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07950" y="115888"/>
            <a:ext cx="46799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6.3.3 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二维数组与指针</a:t>
            </a:r>
          </a:p>
        </p:txBody>
      </p:sp>
      <p:sp>
        <p:nvSpPr>
          <p:cNvPr id="20483" name="Text Box 30"/>
          <p:cNvSpPr txBox="1">
            <a:spLocks noChangeArrowheads="1"/>
          </p:cNvSpPr>
          <p:nvPr/>
        </p:nvSpPr>
        <p:spPr bwMode="auto">
          <a:xfrm>
            <a:off x="180975" y="776079"/>
            <a:ext cx="7667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注意：</a:t>
            </a:r>
          </a:p>
        </p:txBody>
      </p:sp>
      <p:sp>
        <p:nvSpPr>
          <p:cNvPr id="568351" name="Rectangle 31"/>
          <p:cNvSpPr>
            <a:spLocks noChangeArrowheads="1"/>
          </p:cNvSpPr>
          <p:nvPr/>
        </p:nvSpPr>
        <p:spPr bwMode="auto">
          <a:xfrm>
            <a:off x="249238" y="1255504"/>
            <a:ext cx="5070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1. </a:t>
            </a:r>
            <a:r>
              <a:rPr lang="zh-CN" altLang="en-US" sz="2400" b="1">
                <a:latin typeface="Times New Roman" panose="02020603050405020304" pitchFamily="18" charset="0"/>
              </a:rPr>
              <a:t>括号不能省略，不能写成</a:t>
            </a:r>
            <a:r>
              <a:rPr lang="en-US" altLang="zh-CN" sz="2400" b="1">
                <a:latin typeface="Times New Roman" panose="02020603050405020304" pitchFamily="18" charset="0"/>
              </a:rPr>
              <a:t>int *p[4];</a:t>
            </a:r>
          </a:p>
        </p:txBody>
      </p:sp>
      <p:sp>
        <p:nvSpPr>
          <p:cNvPr id="568352" name="Rectangle 32"/>
          <p:cNvSpPr>
            <a:spLocks noChangeArrowheads="1"/>
          </p:cNvSpPr>
          <p:nvPr/>
        </p:nvSpPr>
        <p:spPr bwMode="auto">
          <a:xfrm>
            <a:off x="274638" y="1784142"/>
            <a:ext cx="6923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2. </a:t>
            </a:r>
            <a:r>
              <a:rPr lang="zh-CN" altLang="en-US" sz="2400" b="1">
                <a:latin typeface="Times New Roman" panose="02020603050405020304" pitchFamily="18" charset="0"/>
              </a:rPr>
              <a:t>中括号中的数字必须跟二维数组第二维大小相同</a:t>
            </a:r>
          </a:p>
        </p:txBody>
      </p:sp>
      <p:sp>
        <p:nvSpPr>
          <p:cNvPr id="568353" name="Rectangle 33"/>
          <p:cNvSpPr>
            <a:spLocks noChangeArrowheads="1"/>
          </p:cNvSpPr>
          <p:nvPr/>
        </p:nvSpPr>
        <p:spPr bwMode="auto">
          <a:xfrm>
            <a:off x="323850" y="2252454"/>
            <a:ext cx="4572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如：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int a[2][3];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int (*p)[4];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p=a; </a:t>
            </a:r>
          </a:p>
        </p:txBody>
      </p:sp>
      <p:grpSp>
        <p:nvGrpSpPr>
          <p:cNvPr id="568354" name="Group 34"/>
          <p:cNvGrpSpPr>
            <a:grpSpLocks/>
          </p:cNvGrpSpPr>
          <p:nvPr/>
        </p:nvGrpSpPr>
        <p:grpSpPr bwMode="auto">
          <a:xfrm>
            <a:off x="2519363" y="2936667"/>
            <a:ext cx="360362" cy="396875"/>
            <a:chOff x="5012" y="731"/>
            <a:chExt cx="227" cy="250"/>
          </a:xfrm>
        </p:grpSpPr>
        <p:sp>
          <p:nvSpPr>
            <p:cNvPr id="20488" name="Line 35"/>
            <p:cNvSpPr>
              <a:spLocks noChangeShapeType="1"/>
            </p:cNvSpPr>
            <p:nvPr/>
          </p:nvSpPr>
          <p:spPr bwMode="auto">
            <a:xfrm flipH="1">
              <a:off x="5012" y="731"/>
              <a:ext cx="227" cy="25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0489" name="Line 36"/>
            <p:cNvSpPr>
              <a:spLocks noChangeShapeType="1"/>
            </p:cNvSpPr>
            <p:nvPr/>
          </p:nvSpPr>
          <p:spPr bwMode="auto">
            <a:xfrm>
              <a:off x="5012" y="731"/>
              <a:ext cx="227" cy="25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220959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51" grpId="0"/>
      <p:bldP spid="568352" grpId="0"/>
      <p:bldP spid="56835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07950" y="115888"/>
            <a:ext cx="46799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6.3.3 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二维数组与指针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42875" y="717342"/>
            <a:ext cx="73485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 dirty="0" smtClean="0">
                <a:latin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6.14 </a:t>
            </a:r>
            <a:r>
              <a:rPr lang="zh-CN" altLang="en-US" sz="2400" b="1" dirty="0" smtClean="0">
                <a:latin typeface="Times New Roman" panose="02020603050405020304" pitchFamily="18" charset="0"/>
              </a:rPr>
              <a:t>利用</a:t>
            </a:r>
            <a:r>
              <a:rPr lang="zh-CN" altLang="en-US" sz="2400" b="1" dirty="0">
                <a:latin typeface="Times New Roman" panose="02020603050405020304" pitchFamily="18" charset="0"/>
              </a:rPr>
              <a:t>行指针输出二维数组中的元素</a:t>
            </a:r>
          </a:p>
        </p:txBody>
      </p:sp>
      <p:sp>
        <p:nvSpPr>
          <p:cNvPr id="569348" name="Text Box 4"/>
          <p:cNvSpPr txBox="1">
            <a:spLocks noChangeArrowheads="1"/>
          </p:cNvSpPr>
          <p:nvPr/>
        </p:nvSpPr>
        <p:spPr bwMode="auto">
          <a:xfrm>
            <a:off x="179388" y="1103104"/>
            <a:ext cx="8604250" cy="493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#include&lt;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stdio.h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&gt;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main( )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{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a[3][4]={{1,3,5,7},{2,4,6,8},{9,10,11,12}};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int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(*p)[4],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, j;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p=a;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for(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=0;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&lt;3;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++)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{  for( j=0; j&lt;4;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j++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("%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2d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",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*(*(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p+i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)+j)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);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printf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("\n");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}</a:t>
            </a:r>
          </a:p>
          <a:p>
            <a:pPr eaLnBrk="1" hangingPunct="1">
              <a:spcBef>
                <a:spcPct val="1000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} </a:t>
            </a:r>
          </a:p>
        </p:txBody>
      </p:sp>
      <p:sp>
        <p:nvSpPr>
          <p:cNvPr id="569349" name="AutoShape 5"/>
          <p:cNvSpPr>
            <a:spLocks noChangeArrowheads="1"/>
          </p:cNvSpPr>
          <p:nvPr/>
        </p:nvSpPr>
        <p:spPr bwMode="auto">
          <a:xfrm>
            <a:off x="3165475" y="2857292"/>
            <a:ext cx="1944688" cy="576262"/>
          </a:xfrm>
          <a:prstGeom prst="wedgeRoundRectCallout">
            <a:avLst>
              <a:gd name="adj1" fmla="val -138898"/>
              <a:gd name="adj2" fmla="val 50630"/>
              <a:gd name="adj3" fmla="val 16667"/>
            </a:avLst>
          </a:prstGeom>
          <a:solidFill>
            <a:srgbClr val="FFFFCC"/>
          </a:solidFill>
          <a:ln w="127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" panose="02010609060101010101" pitchFamily="49" charset="-122"/>
              </a:rPr>
              <a:t>使用数组名</a:t>
            </a:r>
          </a:p>
        </p:txBody>
      </p:sp>
      <p:sp>
        <p:nvSpPr>
          <p:cNvPr id="569350" name="AutoShape 6"/>
          <p:cNvSpPr>
            <a:spLocks noChangeArrowheads="1"/>
          </p:cNvSpPr>
          <p:nvPr/>
        </p:nvSpPr>
        <p:spPr bwMode="auto">
          <a:xfrm>
            <a:off x="5883275" y="3433554"/>
            <a:ext cx="1944688" cy="525463"/>
          </a:xfrm>
          <a:prstGeom prst="wedgeRoundRectCallout">
            <a:avLst>
              <a:gd name="adj1" fmla="val -112046"/>
              <a:gd name="adj2" fmla="val 123394"/>
              <a:gd name="adj3" fmla="val 16667"/>
            </a:avLst>
          </a:prstGeom>
          <a:solidFill>
            <a:srgbClr val="FFFFCC"/>
          </a:solidFill>
          <a:ln w="127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" panose="02010609060101010101" pitchFamily="49" charset="-122"/>
              </a:rPr>
              <a:t>a[i][j]</a:t>
            </a:r>
            <a:r>
              <a:rPr lang="zh-CN" altLang="en-US" sz="2400" b="1">
                <a:latin typeface="Times New Roman" panose="02020603050405020304" pitchFamily="18" charset="0"/>
                <a:ea typeface="楷体" panose="02010609060101010101" pitchFamily="49" charset="-122"/>
              </a:rPr>
              <a:t>的值</a:t>
            </a:r>
          </a:p>
        </p:txBody>
      </p:sp>
    </p:spTree>
    <p:extLst>
      <p:ext uri="{BB962C8B-B14F-4D97-AF65-F5344CB8AC3E}">
        <p14:creationId xmlns:p14="http://schemas.microsoft.com/office/powerpoint/2010/main" val="258439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69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69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69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69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69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69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9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9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69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693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693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6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6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49" grpId="0" animBg="1"/>
      <p:bldP spid="56935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5" name="Text Box 3">
            <a:extLst>
              <a:ext uri="{FF2B5EF4-FFF2-40B4-BE49-F238E27FC236}">
                <a16:creationId xmlns:a16="http://schemas.microsoft.com/office/drawing/2014/main" id="{1D68BEA8-E76E-4467-9A86-65C974769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7" y="781602"/>
            <a:ext cx="5618163" cy="2679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一、存储字符串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"China"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  <a:buFontTx/>
              <a:buAutoNum type="arabicPeriod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利用字符数组存储字符串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char a[6] = "China";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定义字符指针变量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指向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字符串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   *p = "China"; </a:t>
            </a:r>
          </a:p>
        </p:txBody>
      </p:sp>
      <p:sp>
        <p:nvSpPr>
          <p:cNvPr id="576516" name="Text Box 4"/>
          <p:cNvSpPr txBox="1">
            <a:spLocks noChangeArrowheads="1"/>
          </p:cNvSpPr>
          <p:nvPr/>
        </p:nvSpPr>
        <p:spPr bwMode="auto">
          <a:xfrm>
            <a:off x="153987" y="3816350"/>
            <a:ext cx="6096000" cy="123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注意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赋值只是把字符串的首地址赋给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 ,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而不是把字符串赋给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p, p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是一个指针变量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它不能存放一个字符串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只能存放一个地址</a:t>
            </a:r>
          </a:p>
        </p:txBody>
      </p:sp>
      <p:graphicFrame>
        <p:nvGraphicFramePr>
          <p:cNvPr id="576517" name="Group 5">
            <a:extLst>
              <a:ext uri="{FF2B5EF4-FFF2-40B4-BE49-F238E27FC236}">
                <a16:creationId xmlns:a16="http://schemas.microsoft.com/office/drawing/2014/main" id="{1F482AAC-BBC8-4CB6-A4B2-79F91DBCF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207937"/>
              </p:ext>
            </p:extLst>
          </p:nvPr>
        </p:nvGraphicFramePr>
        <p:xfrm>
          <a:off x="7219950" y="3292475"/>
          <a:ext cx="838200" cy="2946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6533" name="Text Box 21"/>
          <p:cNvSpPr txBox="1">
            <a:spLocks noChangeArrowheads="1"/>
          </p:cNvSpPr>
          <p:nvPr/>
        </p:nvSpPr>
        <p:spPr bwMode="auto">
          <a:xfrm>
            <a:off x="8058150" y="3421063"/>
            <a:ext cx="83820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2460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2461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2462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2463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2464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2465</a:t>
            </a:r>
          </a:p>
        </p:txBody>
      </p:sp>
      <p:grpSp>
        <p:nvGrpSpPr>
          <p:cNvPr id="576534" name="Group 22"/>
          <p:cNvGrpSpPr>
            <a:grpSpLocks/>
          </p:cNvGrpSpPr>
          <p:nvPr/>
        </p:nvGrpSpPr>
        <p:grpSpPr bwMode="auto">
          <a:xfrm>
            <a:off x="5619750" y="3282950"/>
            <a:ext cx="1143000" cy="533400"/>
            <a:chOff x="3552" y="1824"/>
            <a:chExt cx="720" cy="336"/>
          </a:xfrm>
        </p:grpSpPr>
        <p:sp>
          <p:nvSpPr>
            <p:cNvPr id="5162" name="Rectangle 23"/>
            <p:cNvSpPr>
              <a:spLocks noChangeArrowheads="1"/>
            </p:cNvSpPr>
            <p:nvPr/>
          </p:nvSpPr>
          <p:spPr bwMode="auto">
            <a:xfrm>
              <a:off x="3744" y="1824"/>
              <a:ext cx="528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2460</a:t>
              </a:r>
            </a:p>
          </p:txBody>
        </p:sp>
        <p:sp>
          <p:nvSpPr>
            <p:cNvPr id="5163" name="Text Box 24"/>
            <p:cNvSpPr txBox="1">
              <a:spLocks noChangeArrowheads="1"/>
            </p:cNvSpPr>
            <p:nvPr/>
          </p:nvSpPr>
          <p:spPr bwMode="auto">
            <a:xfrm>
              <a:off x="3552" y="1824"/>
              <a:ext cx="19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576537" name="Line 25"/>
          <p:cNvSpPr>
            <a:spLocks noChangeShapeType="1"/>
          </p:cNvSpPr>
          <p:nvPr/>
        </p:nvSpPr>
        <p:spPr bwMode="auto">
          <a:xfrm>
            <a:off x="6762750" y="351155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/>
          </a:p>
        </p:txBody>
      </p:sp>
      <p:sp>
        <p:nvSpPr>
          <p:cNvPr id="5143" name="Rectangle 27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指针与字符串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Group 5">
            <a:extLst>
              <a:ext uri="{FF2B5EF4-FFF2-40B4-BE49-F238E27FC236}">
                <a16:creationId xmlns:a16="http://schemas.microsoft.com/office/drawing/2014/main" id="{29D22D68-D316-4D0C-BBE0-23E8B7748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544995"/>
              </p:ext>
            </p:extLst>
          </p:nvPr>
        </p:nvGraphicFramePr>
        <p:xfrm>
          <a:off x="7219950" y="144463"/>
          <a:ext cx="838200" cy="2946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Box 21"/>
          <p:cNvSpPr txBox="1">
            <a:spLocks noChangeArrowheads="1"/>
          </p:cNvSpPr>
          <p:nvPr/>
        </p:nvSpPr>
        <p:spPr bwMode="auto">
          <a:xfrm>
            <a:off x="6448425" y="242888"/>
            <a:ext cx="83820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a[0]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a[1]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a[2]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a[3]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a[4]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a[5]</a:t>
            </a: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8067675" y="265113"/>
            <a:ext cx="83820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2000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2001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2002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2003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2004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2005</a:t>
            </a:r>
          </a:p>
        </p:txBody>
      </p:sp>
    </p:spTree>
    <p:extLst>
      <p:ext uri="{BB962C8B-B14F-4D97-AF65-F5344CB8AC3E}">
        <p14:creationId xmlns:p14="http://schemas.microsoft.com/office/powerpoint/2010/main" val="270879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7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7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7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6" grpId="0" autoUpdateAnimBg="0"/>
      <p:bldP spid="576533" grpId="0" autoUpdateAnimBg="0"/>
      <p:bldP spid="13" grpId="0" autoUpdateAnimBg="0"/>
      <p:bldP spid="1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Text Box 2">
            <a:extLst>
              <a:ext uri="{FF2B5EF4-FFF2-40B4-BE49-F238E27FC236}">
                <a16:creationId xmlns:a16="http://schemas.microsoft.com/office/drawing/2014/main" id="{E73476FB-AD09-47C8-A831-C304B8074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0" y="716543"/>
            <a:ext cx="5354775" cy="4161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ts val="3200"/>
              </a:lnSpc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二、输出字符串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    </a:t>
            </a:r>
          </a:p>
          <a:p>
            <a:pPr marL="457200" indent="-457200" eaLnBrk="1" hangingPunct="1">
              <a:lnSpc>
                <a:spcPts val="32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对于字符数组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  <a:p>
            <a:pPr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%s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\n" ,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;</a:t>
            </a:r>
          </a:p>
          <a:p>
            <a:pPr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对于指向字符串的字符指针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</a:p>
          <a:p>
            <a:pPr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%s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\n" ,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;</a:t>
            </a:r>
          </a:p>
          <a:p>
            <a:pPr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输出字符串时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先输出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指向的第一个字符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然后系统自动使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指向下一个字符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再输出该字符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直到遇到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'\0'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为止。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也可以用循环逐个输出字符串中的字符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577539" name="Group 3">
            <a:extLst>
              <a:ext uri="{FF2B5EF4-FFF2-40B4-BE49-F238E27FC236}">
                <a16:creationId xmlns:a16="http://schemas.microsoft.com/office/drawing/2014/main" id="{FDF6971A-8BBA-4C3A-96B3-A1A2E19D5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752339"/>
              </p:ext>
            </p:extLst>
          </p:nvPr>
        </p:nvGraphicFramePr>
        <p:xfrm>
          <a:off x="7219950" y="3249613"/>
          <a:ext cx="838200" cy="2946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8058150" y="3378200"/>
            <a:ext cx="83820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2461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2462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2463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2464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2465</a:t>
            </a:r>
          </a:p>
        </p:txBody>
      </p:sp>
      <p:grpSp>
        <p:nvGrpSpPr>
          <p:cNvPr id="7188" name="Group 20"/>
          <p:cNvGrpSpPr>
            <a:grpSpLocks/>
          </p:cNvGrpSpPr>
          <p:nvPr/>
        </p:nvGrpSpPr>
        <p:grpSpPr bwMode="auto">
          <a:xfrm>
            <a:off x="5619750" y="3240088"/>
            <a:ext cx="1143000" cy="533400"/>
            <a:chOff x="3552" y="1824"/>
            <a:chExt cx="720" cy="336"/>
          </a:xfrm>
        </p:grpSpPr>
        <p:sp>
          <p:nvSpPr>
            <p:cNvPr id="7220" name="Rectangle 21"/>
            <p:cNvSpPr>
              <a:spLocks noChangeArrowheads="1"/>
            </p:cNvSpPr>
            <p:nvPr/>
          </p:nvSpPr>
          <p:spPr bwMode="auto">
            <a:xfrm>
              <a:off x="3744" y="1824"/>
              <a:ext cx="528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2460</a:t>
              </a:r>
            </a:p>
          </p:txBody>
        </p:sp>
        <p:sp>
          <p:nvSpPr>
            <p:cNvPr id="7221" name="Text Box 22"/>
            <p:cNvSpPr txBox="1">
              <a:spLocks noChangeArrowheads="1"/>
            </p:cNvSpPr>
            <p:nvPr/>
          </p:nvSpPr>
          <p:spPr bwMode="auto">
            <a:xfrm>
              <a:off x="3552" y="1824"/>
              <a:ext cx="19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577559" name="Line 23"/>
          <p:cNvSpPr>
            <a:spLocks noChangeShapeType="1"/>
          </p:cNvSpPr>
          <p:nvPr/>
        </p:nvSpPr>
        <p:spPr bwMode="auto">
          <a:xfrm>
            <a:off x="6762750" y="3468688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7560" name="Line 24"/>
          <p:cNvSpPr>
            <a:spLocks noChangeShapeType="1"/>
          </p:cNvSpPr>
          <p:nvPr/>
        </p:nvSpPr>
        <p:spPr bwMode="auto">
          <a:xfrm>
            <a:off x="6762750" y="3544888"/>
            <a:ext cx="4572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7561" name="Line 25"/>
          <p:cNvSpPr>
            <a:spLocks noChangeShapeType="1"/>
          </p:cNvSpPr>
          <p:nvPr/>
        </p:nvSpPr>
        <p:spPr bwMode="auto">
          <a:xfrm>
            <a:off x="6762750" y="3621088"/>
            <a:ext cx="457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7562" name="Line 26"/>
          <p:cNvSpPr>
            <a:spLocks noChangeShapeType="1"/>
          </p:cNvSpPr>
          <p:nvPr/>
        </p:nvSpPr>
        <p:spPr bwMode="auto">
          <a:xfrm>
            <a:off x="6686550" y="3773488"/>
            <a:ext cx="533400" cy="1219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7563" name="Line 27"/>
          <p:cNvSpPr>
            <a:spLocks noChangeShapeType="1"/>
          </p:cNvSpPr>
          <p:nvPr/>
        </p:nvSpPr>
        <p:spPr bwMode="auto">
          <a:xfrm>
            <a:off x="6610350" y="3773488"/>
            <a:ext cx="60960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7564" name="Line 28"/>
          <p:cNvSpPr>
            <a:spLocks noChangeShapeType="1"/>
          </p:cNvSpPr>
          <p:nvPr/>
        </p:nvSpPr>
        <p:spPr bwMode="auto">
          <a:xfrm>
            <a:off x="6457950" y="3773488"/>
            <a:ext cx="762000" cy="220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7565" name="Rectangle 29"/>
          <p:cNvSpPr>
            <a:spLocks noChangeArrowheads="1"/>
          </p:cNvSpPr>
          <p:nvPr/>
        </p:nvSpPr>
        <p:spPr bwMode="auto">
          <a:xfrm>
            <a:off x="5924550" y="3240088"/>
            <a:ext cx="838200" cy="5334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2461</a:t>
            </a:r>
          </a:p>
        </p:txBody>
      </p:sp>
      <p:sp>
        <p:nvSpPr>
          <p:cNvPr id="577566" name="Rectangle 30"/>
          <p:cNvSpPr>
            <a:spLocks noChangeArrowheads="1"/>
          </p:cNvSpPr>
          <p:nvPr/>
        </p:nvSpPr>
        <p:spPr bwMode="auto">
          <a:xfrm>
            <a:off x="5924550" y="3240088"/>
            <a:ext cx="838200" cy="5334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2462</a:t>
            </a:r>
          </a:p>
        </p:txBody>
      </p:sp>
      <p:sp>
        <p:nvSpPr>
          <p:cNvPr id="577567" name="Rectangle 31"/>
          <p:cNvSpPr>
            <a:spLocks noChangeArrowheads="1"/>
          </p:cNvSpPr>
          <p:nvPr/>
        </p:nvSpPr>
        <p:spPr bwMode="auto">
          <a:xfrm>
            <a:off x="5924550" y="3240088"/>
            <a:ext cx="838200" cy="5334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2463</a:t>
            </a:r>
          </a:p>
        </p:txBody>
      </p:sp>
      <p:sp>
        <p:nvSpPr>
          <p:cNvPr id="577568" name="Rectangle 32"/>
          <p:cNvSpPr>
            <a:spLocks noChangeArrowheads="1"/>
          </p:cNvSpPr>
          <p:nvPr/>
        </p:nvSpPr>
        <p:spPr bwMode="auto">
          <a:xfrm>
            <a:off x="5924550" y="3240088"/>
            <a:ext cx="838200" cy="5334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2464</a:t>
            </a:r>
          </a:p>
        </p:txBody>
      </p:sp>
      <p:sp>
        <p:nvSpPr>
          <p:cNvPr id="577569" name="Rectangle 33"/>
          <p:cNvSpPr>
            <a:spLocks noChangeArrowheads="1"/>
          </p:cNvSpPr>
          <p:nvPr/>
        </p:nvSpPr>
        <p:spPr bwMode="auto">
          <a:xfrm>
            <a:off x="5924550" y="3240088"/>
            <a:ext cx="838200" cy="5334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2465</a:t>
            </a:r>
          </a:p>
        </p:txBody>
      </p:sp>
      <p:sp>
        <p:nvSpPr>
          <p:cNvPr id="7200" name="Rectangle 36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指针与字符串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Group 5">
            <a:extLst>
              <a:ext uri="{FF2B5EF4-FFF2-40B4-BE49-F238E27FC236}">
                <a16:creationId xmlns:a16="http://schemas.microsoft.com/office/drawing/2014/main" id="{91109AA3-E130-4176-BC4D-221240047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357430"/>
              </p:ext>
            </p:extLst>
          </p:nvPr>
        </p:nvGraphicFramePr>
        <p:xfrm>
          <a:off x="7219950" y="144463"/>
          <a:ext cx="838200" cy="2946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17" name="Text Box 21"/>
          <p:cNvSpPr txBox="1">
            <a:spLocks noChangeArrowheads="1"/>
          </p:cNvSpPr>
          <p:nvPr/>
        </p:nvSpPr>
        <p:spPr bwMode="auto">
          <a:xfrm>
            <a:off x="6526213" y="242888"/>
            <a:ext cx="83820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a[0]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a[1]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a[2]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a[3]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a[4]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a[5]</a:t>
            </a:r>
          </a:p>
        </p:txBody>
      </p:sp>
      <p:sp>
        <p:nvSpPr>
          <p:cNvPr id="7218" name="Text Box 21"/>
          <p:cNvSpPr txBox="1">
            <a:spLocks noChangeArrowheads="1"/>
          </p:cNvSpPr>
          <p:nvPr/>
        </p:nvSpPr>
        <p:spPr bwMode="auto">
          <a:xfrm>
            <a:off x="8058150" y="273050"/>
            <a:ext cx="83820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2001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2002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2003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2004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2005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F7C503-2853-4F55-A7D9-4A8072EBBB7B}"/>
              </a:ext>
            </a:extLst>
          </p:cNvPr>
          <p:cNvSpPr/>
          <p:nvPr/>
        </p:nvSpPr>
        <p:spPr>
          <a:xfrm>
            <a:off x="1257300" y="4722813"/>
            <a:ext cx="3517900" cy="16954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ts val="25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*p!='\0'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%c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*p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defRPr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p++; </a:t>
            </a:r>
          </a:p>
          <a:p>
            <a:pPr eaLnBrk="1" hangingPunct="1">
              <a:lnSpc>
                <a:spcPts val="25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71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7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7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7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7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7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7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5775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775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775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775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775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7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65" grpId="0" animBg="1" autoUpdateAnimBg="0"/>
      <p:bldP spid="577566" grpId="0" animBg="1" autoUpdateAnimBg="0"/>
      <p:bldP spid="577567" grpId="0" animBg="1" autoUpdateAnimBg="0"/>
      <p:bldP spid="577568" grpId="0" animBg="1" autoUpdateAnimBg="0"/>
      <p:bldP spid="577569" grpId="0" animBg="1" autoUpdateAnimBg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80975" y="2831142"/>
            <a:ext cx="7848600" cy="1424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虽然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都能代表字符串的首地址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是数组名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是一个指针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a++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的写法是错的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p++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的写法是对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的。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Rectangle 13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指针与字符串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97AD7619-5948-4955-A6F6-77D9A7216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933450"/>
            <a:ext cx="7848600" cy="79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三、 字符数组与字符指针变量的区别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a[ ]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="China" ;    char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*p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="China" ; </a:t>
            </a:r>
          </a:p>
        </p:txBody>
      </p:sp>
      <p:sp>
        <p:nvSpPr>
          <p:cNvPr id="15" name="Text Box 35">
            <a:extLst>
              <a:ext uri="{FF2B5EF4-FFF2-40B4-BE49-F238E27FC236}">
                <a16:creationId xmlns:a16="http://schemas.microsoft.com/office/drawing/2014/main" id="{F309B364-B3B5-4C74-A58F-96069F7FA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917700"/>
            <a:ext cx="7991475" cy="800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存储方式不同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存放的是字符串中的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字符和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'\0'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p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存放的是字符串的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首地址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0975" y="4289585"/>
            <a:ext cx="7848600" cy="980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SzTx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a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是数组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其中每个元素是变量，存储的字符串</a:t>
            </a:r>
            <a:r>
              <a:rPr lang="zh-CN" altLang="en-US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可以改变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为指针变量，但其指向的是字符串常量，</a:t>
            </a:r>
            <a:r>
              <a:rPr lang="zh-CN" altLang="en-US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不可改变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337" y="5373737"/>
            <a:ext cx="15660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[0] = 'c';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41487" y="5373737"/>
            <a:ext cx="15660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[0] = 'c';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Group 20"/>
          <p:cNvGrpSpPr>
            <a:grpSpLocks/>
          </p:cNvGrpSpPr>
          <p:nvPr/>
        </p:nvGrpSpPr>
        <p:grpSpPr bwMode="auto">
          <a:xfrm>
            <a:off x="6576123" y="5429002"/>
            <a:ext cx="376238" cy="406400"/>
            <a:chOff x="4206" y="1289"/>
            <a:chExt cx="237" cy="256"/>
          </a:xfrm>
        </p:grpSpPr>
        <p:sp>
          <p:nvSpPr>
            <p:cNvPr id="10" name="Line 18"/>
            <p:cNvSpPr>
              <a:spLocks noChangeShapeType="1"/>
            </p:cNvSpPr>
            <p:nvPr/>
          </p:nvSpPr>
          <p:spPr bwMode="auto">
            <a:xfrm>
              <a:off x="4242" y="1289"/>
              <a:ext cx="192" cy="25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Line 19"/>
            <p:cNvSpPr>
              <a:spLocks noChangeShapeType="1"/>
            </p:cNvSpPr>
            <p:nvPr/>
          </p:nvSpPr>
          <p:spPr bwMode="auto">
            <a:xfrm flipV="1">
              <a:off x="4206" y="1289"/>
              <a:ext cx="237" cy="24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2544588" y="5589339"/>
            <a:ext cx="538162" cy="246063"/>
            <a:chOff x="1883" y="1262"/>
            <a:chExt cx="339" cy="155"/>
          </a:xfrm>
        </p:grpSpPr>
        <p:sp>
          <p:nvSpPr>
            <p:cNvPr id="13" name="Line 30"/>
            <p:cNvSpPr>
              <a:spLocks noChangeShapeType="1"/>
            </p:cNvSpPr>
            <p:nvPr/>
          </p:nvSpPr>
          <p:spPr bwMode="auto">
            <a:xfrm>
              <a:off x="1883" y="1280"/>
              <a:ext cx="64" cy="1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31"/>
            <p:cNvSpPr>
              <a:spLocks noChangeShapeType="1"/>
            </p:cNvSpPr>
            <p:nvPr/>
          </p:nvSpPr>
          <p:spPr bwMode="auto">
            <a:xfrm flipV="1">
              <a:off x="1947" y="1262"/>
              <a:ext cx="275" cy="1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209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15" grpId="0" autoUpdateAnimBg="0"/>
      <p:bldP spid="6" grpId="0"/>
      <p:bldP spid="2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43" name="Text Box 11"/>
          <p:cNvSpPr txBox="1">
            <a:spLocks noChangeArrowheads="1"/>
          </p:cNvSpPr>
          <p:nvPr/>
        </p:nvSpPr>
        <p:spPr bwMode="auto">
          <a:xfrm>
            <a:off x="209550" y="3665538"/>
            <a:ext cx="7391400" cy="79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SzTx/>
              <a:buFontTx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定义数组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系统会给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分配一片连续的存储单元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定义指针变量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分配一个存储单元</a:t>
            </a:r>
          </a:p>
        </p:txBody>
      </p:sp>
      <p:sp>
        <p:nvSpPr>
          <p:cNvPr id="10243" name="Rectangle 12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指针与字符串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1647" name="Rectangle 15">
            <a:extLst>
              <a:ext uri="{FF2B5EF4-FFF2-40B4-BE49-F238E27FC236}">
                <a16:creationId xmlns:a16="http://schemas.microsoft.com/office/drawing/2014/main" id="{3C4E49DF-36D4-483D-B829-893419A16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408" y="4657725"/>
            <a:ext cx="22557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scanf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("%s",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1648" name="Rectangle 16">
            <a:extLst>
              <a:ext uri="{FF2B5EF4-FFF2-40B4-BE49-F238E27FC236}">
                <a16:creationId xmlns:a16="http://schemas.microsoft.com/office/drawing/2014/main" id="{0758CCB7-E1C4-44B0-848F-B0360A7B2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36" y="4662488"/>
            <a:ext cx="22733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scanf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("%s",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81652" name="Group 20"/>
          <p:cNvGrpSpPr>
            <a:grpSpLocks/>
          </p:cNvGrpSpPr>
          <p:nvPr/>
        </p:nvGrpSpPr>
        <p:grpSpPr bwMode="auto">
          <a:xfrm>
            <a:off x="6410325" y="4772025"/>
            <a:ext cx="376238" cy="406400"/>
            <a:chOff x="4206" y="1289"/>
            <a:chExt cx="237" cy="256"/>
          </a:xfrm>
        </p:grpSpPr>
        <p:sp>
          <p:nvSpPr>
            <p:cNvPr id="10270" name="Line 18"/>
            <p:cNvSpPr>
              <a:spLocks noChangeShapeType="1"/>
            </p:cNvSpPr>
            <p:nvPr/>
          </p:nvSpPr>
          <p:spPr bwMode="auto">
            <a:xfrm>
              <a:off x="4242" y="1289"/>
              <a:ext cx="192" cy="25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71" name="Line 19"/>
            <p:cNvSpPr>
              <a:spLocks noChangeShapeType="1"/>
            </p:cNvSpPr>
            <p:nvPr/>
          </p:nvSpPr>
          <p:spPr bwMode="auto">
            <a:xfrm flipV="1">
              <a:off x="4206" y="1289"/>
              <a:ext cx="237" cy="24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81654" name="Rectangle 22">
            <a:extLst>
              <a:ext uri="{FF2B5EF4-FFF2-40B4-BE49-F238E27FC236}">
                <a16:creationId xmlns:a16="http://schemas.microsoft.com/office/drawing/2014/main" id="{1E32E1A9-19F6-4708-BF9A-5296030FC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70" y="5256213"/>
            <a:ext cx="2506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strcpy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asdf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1655" name="Rectangle 23">
            <a:extLst>
              <a:ext uri="{FF2B5EF4-FFF2-40B4-BE49-F238E27FC236}">
                <a16:creationId xmlns:a16="http://schemas.microsoft.com/office/drawing/2014/main" id="{4E9D7D64-63A8-4C79-B3F3-7EBDB98CB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896" y="5284788"/>
            <a:ext cx="25242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strcpy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asdf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81656" name="Group 24"/>
          <p:cNvGrpSpPr>
            <a:grpSpLocks/>
          </p:cNvGrpSpPr>
          <p:nvPr/>
        </p:nvGrpSpPr>
        <p:grpSpPr bwMode="auto">
          <a:xfrm>
            <a:off x="6438900" y="5438775"/>
            <a:ext cx="376238" cy="406400"/>
            <a:chOff x="4206" y="1289"/>
            <a:chExt cx="237" cy="256"/>
          </a:xfrm>
        </p:grpSpPr>
        <p:sp>
          <p:nvSpPr>
            <p:cNvPr id="10268" name="Line 25"/>
            <p:cNvSpPr>
              <a:spLocks noChangeShapeType="1"/>
            </p:cNvSpPr>
            <p:nvPr/>
          </p:nvSpPr>
          <p:spPr bwMode="auto">
            <a:xfrm>
              <a:off x="4242" y="1289"/>
              <a:ext cx="192" cy="25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69" name="Line 26"/>
            <p:cNvSpPr>
              <a:spLocks noChangeShapeType="1"/>
            </p:cNvSpPr>
            <p:nvPr/>
          </p:nvSpPr>
          <p:spPr bwMode="auto">
            <a:xfrm flipV="1">
              <a:off x="4206" y="1289"/>
              <a:ext cx="237" cy="24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1664" name="Group 32"/>
          <p:cNvGrpSpPr>
            <a:grpSpLocks/>
          </p:cNvGrpSpPr>
          <p:nvPr/>
        </p:nvGrpSpPr>
        <p:grpSpPr bwMode="auto">
          <a:xfrm>
            <a:off x="2700338" y="4864100"/>
            <a:ext cx="538162" cy="246063"/>
            <a:chOff x="1883" y="1262"/>
            <a:chExt cx="339" cy="155"/>
          </a:xfrm>
        </p:grpSpPr>
        <p:sp>
          <p:nvSpPr>
            <p:cNvPr id="10266" name="Line 30"/>
            <p:cNvSpPr>
              <a:spLocks noChangeShapeType="1"/>
            </p:cNvSpPr>
            <p:nvPr/>
          </p:nvSpPr>
          <p:spPr bwMode="auto">
            <a:xfrm>
              <a:off x="1883" y="1280"/>
              <a:ext cx="64" cy="1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67" name="Line 31"/>
            <p:cNvSpPr>
              <a:spLocks noChangeShapeType="1"/>
            </p:cNvSpPr>
            <p:nvPr/>
          </p:nvSpPr>
          <p:spPr bwMode="auto">
            <a:xfrm flipV="1">
              <a:off x="1947" y="1262"/>
              <a:ext cx="275" cy="1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1665" name="Group 33"/>
          <p:cNvGrpSpPr>
            <a:grpSpLocks/>
          </p:cNvGrpSpPr>
          <p:nvPr/>
        </p:nvGrpSpPr>
        <p:grpSpPr bwMode="auto">
          <a:xfrm>
            <a:off x="2779713" y="5526088"/>
            <a:ext cx="538162" cy="246062"/>
            <a:chOff x="1883" y="1262"/>
            <a:chExt cx="339" cy="155"/>
          </a:xfrm>
        </p:grpSpPr>
        <p:sp>
          <p:nvSpPr>
            <p:cNvPr id="10264" name="Line 34"/>
            <p:cNvSpPr>
              <a:spLocks noChangeShapeType="1"/>
            </p:cNvSpPr>
            <p:nvPr/>
          </p:nvSpPr>
          <p:spPr bwMode="auto">
            <a:xfrm>
              <a:off x="1883" y="1280"/>
              <a:ext cx="64" cy="1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65" name="Line 35"/>
            <p:cNvSpPr>
              <a:spLocks noChangeShapeType="1"/>
            </p:cNvSpPr>
            <p:nvPr/>
          </p:nvSpPr>
          <p:spPr bwMode="auto">
            <a:xfrm flipV="1">
              <a:off x="1947" y="1262"/>
              <a:ext cx="275" cy="1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81668" name="AutoShape 36"/>
          <p:cNvSpPr>
            <a:spLocks noChangeArrowheads="1"/>
          </p:cNvSpPr>
          <p:nvPr/>
        </p:nvSpPr>
        <p:spPr bwMode="auto">
          <a:xfrm>
            <a:off x="7286625" y="4003675"/>
            <a:ext cx="1778000" cy="2012950"/>
          </a:xfrm>
          <a:prstGeom prst="wedgeRoundRectCallout">
            <a:avLst>
              <a:gd name="adj1" fmla="val -75843"/>
              <a:gd name="adj2" fmla="val 13523"/>
              <a:gd name="adj3" fmla="val 16667"/>
            </a:avLst>
          </a:prstGeom>
          <a:solidFill>
            <a:srgbClr val="FFFFCC"/>
          </a:solidFill>
          <a:ln w="127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所指向的内存空间并没有分配，无法存储数据。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FB25E4B7-4196-489C-9CC8-22C813F99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225" y="2152650"/>
            <a:ext cx="3581400" cy="79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   *p1, *p2 = "abcd";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p1 = "China" ;        </a:t>
            </a: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A0DD9EE9-3F37-4E87-9A43-1D971F922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152650"/>
            <a:ext cx="4191000" cy="1239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   a[12] , 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 ] = "good" ;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a[12] = "China" ;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= "China" ;          </a:t>
            </a:r>
          </a:p>
        </p:txBody>
      </p:sp>
      <p:grpSp>
        <p:nvGrpSpPr>
          <p:cNvPr id="10255" name="Group 5"/>
          <p:cNvGrpSpPr>
            <a:grpSpLocks/>
          </p:cNvGrpSpPr>
          <p:nvPr/>
        </p:nvGrpSpPr>
        <p:grpSpPr bwMode="auto">
          <a:xfrm>
            <a:off x="250825" y="838200"/>
            <a:ext cx="7086600" cy="1239838"/>
            <a:chOff x="672" y="912"/>
            <a:chExt cx="4464" cy="781"/>
          </a:xfrm>
        </p:grpSpPr>
        <p:sp>
          <p:nvSpPr>
            <p:cNvPr id="10262" name="Text Box 6"/>
            <p:cNvSpPr txBox="1">
              <a:spLocks noChangeArrowheads="1"/>
            </p:cNvSpPr>
            <p:nvPr/>
          </p:nvSpPr>
          <p:spPr bwMode="auto">
            <a:xfrm>
              <a:off x="672" y="912"/>
              <a:ext cx="2304" cy="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赋值方式不同</a:t>
              </a: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可以进行初始化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 </a:t>
              </a: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但不能使用赋值语句      </a:t>
              </a:r>
              <a:endPara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63" name="Text Box 7"/>
            <p:cNvSpPr txBox="1">
              <a:spLocks noChangeArrowheads="1"/>
            </p:cNvSpPr>
            <p:nvPr/>
          </p:nvSpPr>
          <p:spPr bwMode="auto">
            <a:xfrm>
              <a:off x="3408" y="1139"/>
              <a:ext cx="1728" cy="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既可以初始化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也可以赋值</a:t>
              </a:r>
            </a:p>
          </p:txBody>
        </p:sp>
      </p:grpSp>
      <p:grpSp>
        <p:nvGrpSpPr>
          <p:cNvPr id="26" name="Group 8"/>
          <p:cNvGrpSpPr>
            <a:grpSpLocks/>
          </p:cNvGrpSpPr>
          <p:nvPr/>
        </p:nvGrpSpPr>
        <p:grpSpPr bwMode="auto">
          <a:xfrm>
            <a:off x="2613025" y="2686050"/>
            <a:ext cx="990600" cy="685800"/>
            <a:chOff x="2160" y="2016"/>
            <a:chExt cx="624" cy="432"/>
          </a:xfrm>
        </p:grpSpPr>
        <p:sp>
          <p:nvSpPr>
            <p:cNvPr id="10260" name="AutoShape 9"/>
            <p:cNvSpPr>
              <a:spLocks/>
            </p:cNvSpPr>
            <p:nvPr/>
          </p:nvSpPr>
          <p:spPr bwMode="auto">
            <a:xfrm>
              <a:off x="2160" y="2016"/>
              <a:ext cx="144" cy="432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61" name="Text Box 10"/>
            <p:cNvSpPr txBox="1">
              <a:spLocks noChangeArrowheads="1"/>
            </p:cNvSpPr>
            <p:nvPr/>
          </p:nvSpPr>
          <p:spPr bwMode="auto">
            <a:xfrm>
              <a:off x="2352" y="2112"/>
              <a:ext cx="43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错</a:t>
              </a:r>
            </a:p>
          </p:txBody>
        </p:sp>
      </p:grpSp>
      <p:sp>
        <p:nvSpPr>
          <p:cNvPr id="29" name="Rectangle 14">
            <a:extLst>
              <a:ext uri="{FF2B5EF4-FFF2-40B4-BE49-F238E27FC236}">
                <a16:creationId xmlns:a16="http://schemas.microsoft.com/office/drawing/2014/main" id="{CE787B7B-BA91-4699-86FC-83FFF15A8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5627" y="2867025"/>
            <a:ext cx="19094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 = "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asdf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 ;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61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8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8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8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8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8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8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8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58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43" grpId="0" autoUpdateAnimBg="0"/>
      <p:bldP spid="581647" grpId="0"/>
      <p:bldP spid="581648" grpId="0"/>
      <p:bldP spid="581654" grpId="0"/>
      <p:bldP spid="581655" grpId="0"/>
      <p:bldP spid="581668" grpId="0" animBg="1"/>
      <p:bldP spid="21" grpId="0" autoUpdateAnimBg="0"/>
      <p:bldP spid="22" grpId="0" autoUpdateAnimBg="0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2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指针与字符串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1" name="Text Box 11"/>
          <p:cNvSpPr txBox="1">
            <a:spLocks noChangeArrowheads="1"/>
          </p:cNvSpPr>
          <p:nvPr/>
        </p:nvSpPr>
        <p:spPr bwMode="auto">
          <a:xfrm>
            <a:off x="180975" y="820738"/>
            <a:ext cx="7391400" cy="356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例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编写函数实现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功能，即字符串复制</a:t>
            </a:r>
          </a:p>
        </p:txBody>
      </p: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4841AD97-8F2C-4928-B7F0-5F403623B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1632"/>
              </p:ext>
            </p:extLst>
          </p:nvPr>
        </p:nvGraphicFramePr>
        <p:xfrm>
          <a:off x="6318250" y="2020888"/>
          <a:ext cx="533400" cy="3232151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136683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993466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Group 15">
            <a:extLst>
              <a:ext uri="{FF2B5EF4-FFF2-40B4-BE49-F238E27FC236}">
                <a16:creationId xmlns:a16="http://schemas.microsoft.com/office/drawing/2014/main" id="{8D96389C-5E26-426D-B552-F13A6A78B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638217"/>
              </p:ext>
            </p:extLst>
          </p:nvPr>
        </p:nvGraphicFramePr>
        <p:xfrm>
          <a:off x="8299450" y="2020888"/>
          <a:ext cx="533400" cy="32004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g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Text Box 31"/>
          <p:cNvSpPr txBox="1">
            <a:spLocks noChangeArrowheads="1"/>
          </p:cNvSpPr>
          <p:nvPr/>
        </p:nvSpPr>
        <p:spPr bwMode="auto">
          <a:xfrm>
            <a:off x="6046788" y="1912938"/>
            <a:ext cx="33564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5" name="Text Box 32"/>
          <p:cNvSpPr txBox="1">
            <a:spLocks noChangeArrowheads="1"/>
          </p:cNvSpPr>
          <p:nvPr/>
        </p:nvSpPr>
        <p:spPr bwMode="auto">
          <a:xfrm>
            <a:off x="8027988" y="1912938"/>
            <a:ext cx="3810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grpSp>
        <p:nvGrpSpPr>
          <p:cNvPr id="46" name="Group 33"/>
          <p:cNvGrpSpPr>
            <a:grpSpLocks/>
          </p:cNvGrpSpPr>
          <p:nvPr/>
        </p:nvGrpSpPr>
        <p:grpSpPr bwMode="auto">
          <a:xfrm>
            <a:off x="4489450" y="2020888"/>
            <a:ext cx="1371600" cy="463550"/>
            <a:chOff x="2880" y="1008"/>
            <a:chExt cx="864" cy="292"/>
          </a:xfrm>
        </p:grpSpPr>
        <p:sp>
          <p:nvSpPr>
            <p:cNvPr id="12353" name="Text Box 34"/>
            <p:cNvSpPr txBox="1">
              <a:spLocks noChangeArrowheads="1"/>
            </p:cNvSpPr>
            <p:nvPr/>
          </p:nvSpPr>
          <p:spPr bwMode="auto">
            <a:xfrm>
              <a:off x="2880" y="1008"/>
              <a:ext cx="52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from</a:t>
              </a:r>
            </a:p>
          </p:txBody>
        </p:sp>
        <p:sp>
          <p:nvSpPr>
            <p:cNvPr id="12354" name="Rectangle 35"/>
            <p:cNvSpPr>
              <a:spLocks noChangeArrowheads="1"/>
            </p:cNvSpPr>
            <p:nvPr/>
          </p:nvSpPr>
          <p:spPr bwMode="auto">
            <a:xfrm>
              <a:off x="3408" y="1008"/>
              <a:ext cx="336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49" name="Group 36"/>
          <p:cNvGrpSpPr>
            <a:grpSpLocks/>
          </p:cNvGrpSpPr>
          <p:nvPr/>
        </p:nvGrpSpPr>
        <p:grpSpPr bwMode="auto">
          <a:xfrm>
            <a:off x="7004050" y="2097088"/>
            <a:ext cx="990600" cy="463550"/>
            <a:chOff x="4464" y="1056"/>
            <a:chExt cx="624" cy="292"/>
          </a:xfrm>
        </p:grpSpPr>
        <p:sp>
          <p:nvSpPr>
            <p:cNvPr id="12351" name="Text Box 37"/>
            <p:cNvSpPr txBox="1">
              <a:spLocks noChangeArrowheads="1"/>
            </p:cNvSpPr>
            <p:nvPr/>
          </p:nvSpPr>
          <p:spPr bwMode="auto">
            <a:xfrm>
              <a:off x="4464" y="1056"/>
              <a:ext cx="28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</a:p>
          </p:txBody>
        </p:sp>
        <p:sp>
          <p:nvSpPr>
            <p:cNvPr id="12352" name="Rectangle 38"/>
            <p:cNvSpPr>
              <a:spLocks noChangeArrowheads="1"/>
            </p:cNvSpPr>
            <p:nvPr/>
          </p:nvSpPr>
          <p:spPr bwMode="auto">
            <a:xfrm>
              <a:off x="4752" y="1056"/>
              <a:ext cx="336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52" name="Line 39"/>
          <p:cNvSpPr>
            <a:spLocks noChangeShapeType="1"/>
          </p:cNvSpPr>
          <p:nvPr/>
        </p:nvSpPr>
        <p:spPr bwMode="auto">
          <a:xfrm>
            <a:off x="5861050" y="2249488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Line 40"/>
          <p:cNvSpPr>
            <a:spLocks noChangeShapeType="1"/>
          </p:cNvSpPr>
          <p:nvPr/>
        </p:nvSpPr>
        <p:spPr bwMode="auto">
          <a:xfrm>
            <a:off x="7994650" y="2325688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Line 41"/>
          <p:cNvSpPr>
            <a:spLocks noChangeShapeType="1"/>
          </p:cNvSpPr>
          <p:nvPr/>
        </p:nvSpPr>
        <p:spPr bwMode="auto">
          <a:xfrm>
            <a:off x="5861050" y="2325688"/>
            <a:ext cx="4572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Line 42"/>
          <p:cNvSpPr>
            <a:spLocks noChangeShapeType="1"/>
          </p:cNvSpPr>
          <p:nvPr/>
        </p:nvSpPr>
        <p:spPr bwMode="auto">
          <a:xfrm>
            <a:off x="7994650" y="2401888"/>
            <a:ext cx="304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Line 43"/>
          <p:cNvSpPr>
            <a:spLocks noChangeShapeType="1"/>
          </p:cNvSpPr>
          <p:nvPr/>
        </p:nvSpPr>
        <p:spPr bwMode="auto">
          <a:xfrm>
            <a:off x="5861050" y="2478088"/>
            <a:ext cx="45720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Line 44"/>
          <p:cNvSpPr>
            <a:spLocks noChangeShapeType="1"/>
          </p:cNvSpPr>
          <p:nvPr/>
        </p:nvSpPr>
        <p:spPr bwMode="auto">
          <a:xfrm>
            <a:off x="7994650" y="2478088"/>
            <a:ext cx="30480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Line 45"/>
          <p:cNvSpPr>
            <a:spLocks noChangeShapeType="1"/>
          </p:cNvSpPr>
          <p:nvPr/>
        </p:nvSpPr>
        <p:spPr bwMode="auto">
          <a:xfrm>
            <a:off x="5708650" y="2478088"/>
            <a:ext cx="6096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Line 46"/>
          <p:cNvSpPr>
            <a:spLocks noChangeShapeType="1"/>
          </p:cNvSpPr>
          <p:nvPr/>
        </p:nvSpPr>
        <p:spPr bwMode="auto">
          <a:xfrm>
            <a:off x="7918450" y="2554288"/>
            <a:ext cx="38100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Rectangle 47"/>
          <p:cNvSpPr>
            <a:spLocks noChangeArrowheads="1"/>
          </p:cNvSpPr>
          <p:nvPr/>
        </p:nvSpPr>
        <p:spPr bwMode="auto">
          <a:xfrm>
            <a:off x="8299450" y="2020888"/>
            <a:ext cx="5334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1" name="Rectangle 48"/>
          <p:cNvSpPr>
            <a:spLocks noChangeArrowheads="1"/>
          </p:cNvSpPr>
          <p:nvPr/>
        </p:nvSpPr>
        <p:spPr bwMode="auto">
          <a:xfrm>
            <a:off x="8299450" y="2554288"/>
            <a:ext cx="5334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2" name="Rectangle 49"/>
          <p:cNvSpPr>
            <a:spLocks noChangeArrowheads="1"/>
          </p:cNvSpPr>
          <p:nvPr/>
        </p:nvSpPr>
        <p:spPr bwMode="auto">
          <a:xfrm>
            <a:off x="8299450" y="3087688"/>
            <a:ext cx="5334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63" name="Rectangle 50"/>
          <p:cNvSpPr>
            <a:spLocks noChangeArrowheads="1"/>
          </p:cNvSpPr>
          <p:nvPr/>
        </p:nvSpPr>
        <p:spPr bwMode="auto">
          <a:xfrm>
            <a:off x="8299450" y="3621088"/>
            <a:ext cx="5334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\0</a:t>
            </a:r>
          </a:p>
        </p:txBody>
      </p:sp>
      <p:sp>
        <p:nvSpPr>
          <p:cNvPr id="64" name="Rectangle 51"/>
          <p:cNvSpPr>
            <a:spLocks noChangeArrowheads="1"/>
          </p:cNvSpPr>
          <p:nvPr/>
        </p:nvSpPr>
        <p:spPr bwMode="auto">
          <a:xfrm>
            <a:off x="5327650" y="2020888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a+1</a:t>
            </a:r>
          </a:p>
        </p:txBody>
      </p:sp>
      <p:sp>
        <p:nvSpPr>
          <p:cNvPr id="65" name="Rectangle 52"/>
          <p:cNvSpPr>
            <a:spLocks noChangeArrowheads="1"/>
          </p:cNvSpPr>
          <p:nvPr/>
        </p:nvSpPr>
        <p:spPr bwMode="auto">
          <a:xfrm>
            <a:off x="7461250" y="2097088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b+1</a:t>
            </a:r>
          </a:p>
        </p:txBody>
      </p:sp>
      <p:sp>
        <p:nvSpPr>
          <p:cNvPr id="66" name="Rectangle 53"/>
          <p:cNvSpPr>
            <a:spLocks noChangeArrowheads="1"/>
          </p:cNvSpPr>
          <p:nvPr/>
        </p:nvSpPr>
        <p:spPr bwMode="auto">
          <a:xfrm>
            <a:off x="5327650" y="2020888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a+2</a:t>
            </a:r>
          </a:p>
        </p:txBody>
      </p:sp>
      <p:sp>
        <p:nvSpPr>
          <p:cNvPr id="67" name="Rectangle 54"/>
          <p:cNvSpPr>
            <a:spLocks noChangeArrowheads="1"/>
          </p:cNvSpPr>
          <p:nvPr/>
        </p:nvSpPr>
        <p:spPr bwMode="auto">
          <a:xfrm>
            <a:off x="7461250" y="2097088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b+2</a:t>
            </a:r>
          </a:p>
        </p:txBody>
      </p:sp>
      <p:sp>
        <p:nvSpPr>
          <p:cNvPr id="68" name="Rectangle 55"/>
          <p:cNvSpPr>
            <a:spLocks noChangeArrowheads="1"/>
          </p:cNvSpPr>
          <p:nvPr/>
        </p:nvSpPr>
        <p:spPr bwMode="auto">
          <a:xfrm>
            <a:off x="5327650" y="2020888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a+3</a:t>
            </a:r>
          </a:p>
        </p:txBody>
      </p:sp>
      <p:sp>
        <p:nvSpPr>
          <p:cNvPr id="69" name="Rectangle 56"/>
          <p:cNvSpPr>
            <a:spLocks noChangeArrowheads="1"/>
          </p:cNvSpPr>
          <p:nvPr/>
        </p:nvSpPr>
        <p:spPr bwMode="auto">
          <a:xfrm>
            <a:off x="7461250" y="2097088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b+3</a:t>
            </a:r>
          </a:p>
        </p:txBody>
      </p:sp>
      <p:sp>
        <p:nvSpPr>
          <p:cNvPr id="70" name="Line 57"/>
          <p:cNvSpPr>
            <a:spLocks noChangeShapeType="1"/>
          </p:cNvSpPr>
          <p:nvPr/>
        </p:nvSpPr>
        <p:spPr bwMode="auto">
          <a:xfrm>
            <a:off x="5861050" y="2249488"/>
            <a:ext cx="457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Line 58"/>
          <p:cNvSpPr>
            <a:spLocks noChangeShapeType="1"/>
          </p:cNvSpPr>
          <p:nvPr/>
        </p:nvSpPr>
        <p:spPr bwMode="auto">
          <a:xfrm>
            <a:off x="7994650" y="2325688"/>
            <a:ext cx="3048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Line 59"/>
          <p:cNvSpPr>
            <a:spLocks noChangeShapeType="1"/>
          </p:cNvSpPr>
          <p:nvPr/>
        </p:nvSpPr>
        <p:spPr bwMode="auto">
          <a:xfrm>
            <a:off x="5861050" y="2325688"/>
            <a:ext cx="457200" cy="5334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" name="Line 60"/>
          <p:cNvSpPr>
            <a:spLocks noChangeShapeType="1"/>
          </p:cNvSpPr>
          <p:nvPr/>
        </p:nvSpPr>
        <p:spPr bwMode="auto">
          <a:xfrm>
            <a:off x="5861050" y="2478088"/>
            <a:ext cx="457200" cy="9906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Line 61"/>
          <p:cNvSpPr>
            <a:spLocks noChangeShapeType="1"/>
          </p:cNvSpPr>
          <p:nvPr/>
        </p:nvSpPr>
        <p:spPr bwMode="auto">
          <a:xfrm>
            <a:off x="7994650" y="2401888"/>
            <a:ext cx="304800" cy="457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Line 62"/>
          <p:cNvSpPr>
            <a:spLocks noChangeShapeType="1"/>
          </p:cNvSpPr>
          <p:nvPr/>
        </p:nvSpPr>
        <p:spPr bwMode="auto">
          <a:xfrm>
            <a:off x="7994650" y="2478088"/>
            <a:ext cx="304800" cy="9906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Text Box 2">
            <a:extLst>
              <a:ext uri="{FF2B5EF4-FFF2-40B4-BE49-F238E27FC236}">
                <a16:creationId xmlns:a16="http://schemas.microsoft.com/office/drawing/2014/main" id="{50F4C8EB-A32B-4BF0-AB99-4C2897797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63" y="1089231"/>
            <a:ext cx="5334000" cy="563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 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copystr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(char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*from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char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*to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 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while(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*from!='\0'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{    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*to = *from ;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from++;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to++;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*to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'\0' ;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main( 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 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char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a[6]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"cat" ,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b[6]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"tiger";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copystr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 , b);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puts(a);      puts(b);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77" name="AutoShape 64"/>
          <p:cNvSpPr>
            <a:spLocks noChangeArrowheads="1"/>
          </p:cNvSpPr>
          <p:nvPr/>
        </p:nvSpPr>
        <p:spPr bwMode="auto">
          <a:xfrm>
            <a:off x="2520950" y="3087688"/>
            <a:ext cx="2917825" cy="606425"/>
          </a:xfrm>
          <a:prstGeom prst="wedgeRoundRectCallout">
            <a:avLst>
              <a:gd name="adj1" fmla="val -65343"/>
              <a:gd name="adj2" fmla="val 55949"/>
              <a:gd name="adj3" fmla="val 16667"/>
            </a:avLst>
          </a:prstGeom>
          <a:solidFill>
            <a:srgbClr val="FFFFCC"/>
          </a:solidFill>
          <a:ln w="12700" algn="ctr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去掉会怎样？</a:t>
            </a:r>
          </a:p>
        </p:txBody>
      </p:sp>
      <p:sp>
        <p:nvSpPr>
          <p:cNvPr id="78" name="AutoShape 66"/>
          <p:cNvSpPr>
            <a:spLocks noChangeArrowheads="1"/>
          </p:cNvSpPr>
          <p:nvPr/>
        </p:nvSpPr>
        <p:spPr bwMode="auto">
          <a:xfrm>
            <a:off x="3251200" y="1631950"/>
            <a:ext cx="1816100" cy="1233488"/>
          </a:xfrm>
          <a:prstGeom prst="cloudCallout">
            <a:avLst>
              <a:gd name="adj1" fmla="val -80727"/>
              <a:gd name="adj2" fmla="val 44449"/>
            </a:avLst>
          </a:prstGeom>
          <a:solidFill>
            <a:srgbClr val="FFFFCC"/>
          </a:solidFill>
          <a:ln w="12700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可否简化？</a:t>
            </a:r>
          </a:p>
        </p:txBody>
      </p:sp>
    </p:spTree>
    <p:extLst>
      <p:ext uri="{BB962C8B-B14F-4D97-AF65-F5344CB8AC3E}">
        <p14:creationId xmlns:p14="http://schemas.microsoft.com/office/powerpoint/2010/main" val="113463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8" dur="5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1" dur="500"/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utoUpdateAnimBg="0"/>
      <p:bldP spid="45" grpId="0" autoUpdateAnimBg="0"/>
      <p:bldP spid="60" grpId="0" animBg="1" autoUpdateAnimBg="0"/>
      <p:bldP spid="61" grpId="0" animBg="1" autoUpdateAnimBg="0"/>
      <p:bldP spid="62" grpId="0" animBg="1" autoUpdateAnimBg="0"/>
      <p:bldP spid="63" grpId="0" animBg="1" autoUpdateAnimBg="0"/>
      <p:bldP spid="64" grpId="0" animBg="1" autoUpdateAnimBg="0"/>
      <p:bldP spid="65" grpId="0" animBg="1" autoUpdateAnimBg="0"/>
      <p:bldP spid="66" grpId="0" animBg="1" autoUpdateAnimBg="0"/>
      <p:bldP spid="67" grpId="0" animBg="1" autoUpdateAnimBg="0"/>
      <p:bldP spid="68" grpId="0" animBg="1" autoUpdateAnimBg="0"/>
      <p:bldP spid="69" grpId="0" animBg="1" autoUpdateAnimBg="0"/>
      <p:bldP spid="77" grpId="0" animBg="1"/>
      <p:bldP spid="7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Text Box 2">
            <a:extLst>
              <a:ext uri="{FF2B5EF4-FFF2-40B4-BE49-F238E27FC236}">
                <a16:creationId xmlns:a16="http://schemas.microsoft.com/office/drawing/2014/main" id="{2FF86875-273C-453E-896A-7AA1C43BB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875012"/>
            <a:ext cx="5334000" cy="2566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 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copystr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(char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*from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char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*to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while(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*from!='\0'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*to++ = *from++ 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*to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'\0' 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315" name="Text Box 63"/>
          <p:cNvSpPr txBox="1">
            <a:spLocks noChangeArrowheads="1"/>
          </p:cNvSpPr>
          <p:nvPr/>
        </p:nvSpPr>
        <p:spPr bwMode="auto">
          <a:xfrm>
            <a:off x="180975" y="855853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三、字符串指针作函数参数</a:t>
            </a:r>
          </a:p>
        </p:txBody>
      </p:sp>
      <p:sp>
        <p:nvSpPr>
          <p:cNvPr id="582721" name="Text Box 65">
            <a:extLst>
              <a:ext uri="{FF2B5EF4-FFF2-40B4-BE49-F238E27FC236}">
                <a16:creationId xmlns:a16="http://schemas.microsoft.com/office/drawing/2014/main" id="{55C15F6A-B471-4D62-82BA-963E17165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4888087"/>
            <a:ext cx="5334000" cy="1458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 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copystr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(char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*from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char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*to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while(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(*to++ = *from++) != '\0'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317" name="Rectangle 66"/>
          <p:cNvSpPr>
            <a:spLocks noChangeArrowheads="1"/>
          </p:cNvSpPr>
          <p:nvPr/>
        </p:nvSpPr>
        <p:spPr bwMode="auto">
          <a:xfrm>
            <a:off x="180975" y="1360662"/>
            <a:ext cx="18859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简化形式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9222" name="Rectangle 67"/>
          <p:cNvSpPr>
            <a:spLocks noChangeArrowheads="1"/>
          </p:cNvSpPr>
          <p:nvPr/>
        </p:nvSpPr>
        <p:spPr bwMode="auto">
          <a:xfrm>
            <a:off x="187340" y="4403900"/>
            <a:ext cx="30828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简化形式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终极版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733550" y="5548487"/>
            <a:ext cx="3254375" cy="46196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*to++ = *from++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指针与字符串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38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8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721" grpId="0"/>
      <p:bldP spid="9222" grpId="0"/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2"/>
          <p:cNvSpPr>
            <a:spLocks noChangeArrowheads="1"/>
          </p:cNvSpPr>
          <p:nvPr/>
        </p:nvSpPr>
        <p:spPr bwMode="auto">
          <a:xfrm>
            <a:off x="180975" y="115888"/>
            <a:ext cx="48863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  <a:buSzTx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指针与字符串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1" name="Text Box 11"/>
          <p:cNvSpPr txBox="1">
            <a:spLocks noChangeArrowheads="1"/>
          </p:cNvSpPr>
          <p:nvPr/>
        </p:nvSpPr>
        <p:spPr bwMode="auto">
          <a:xfrm>
            <a:off x="180975" y="820738"/>
            <a:ext cx="7391400" cy="356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6.18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编写函数实现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功能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字符串连接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Box 2">
            <a:extLst>
              <a:ext uri="{FF2B5EF4-FFF2-40B4-BE49-F238E27FC236}">
                <a16:creationId xmlns:a16="http://schemas.microsoft.com/office/drawing/2014/main" id="{50F4C8EB-A32B-4BF0-AB99-4C2897797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314517"/>
            <a:ext cx="5334000" cy="3901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 </a:t>
            </a:r>
            <a:r>
              <a:rPr lang="en-US" altLang="zh-CN" sz="2400" b="1" dirty="0" err="1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catstr</a:t>
            </a: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(char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*from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char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*to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 </a:t>
            </a:r>
            <a:endParaRPr lang="en-US" altLang="zh-CN" sz="2400" b="1" dirty="0" smtClean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while(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*to</a:t>
            </a: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to++</a:t>
            </a: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700"/>
              </a:lnSpc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while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to++ = *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ts val="2700"/>
              </a:lnSpc>
              <a:defRPr/>
            </a:pP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main( 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 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char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a[9]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"cat" ,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b[9]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"tiger";</a:t>
            </a:r>
          </a:p>
          <a:p>
            <a:pPr>
              <a:lnSpc>
                <a:spcPts val="2700"/>
              </a:lnSpc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catstr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, b);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puts(a);      puts(b);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</a:p>
        </p:txBody>
      </p:sp>
      <p:graphicFrame>
        <p:nvGraphicFramePr>
          <p:cNvPr id="108" name="Group 3">
            <a:extLst>
              <a:ext uri="{FF2B5EF4-FFF2-40B4-BE49-F238E27FC236}">
                <a16:creationId xmlns:a16="http://schemas.microsoft.com/office/drawing/2014/main" id="{4841AD97-8F2C-4928-B7F0-5F403623B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059190"/>
              </p:ext>
            </p:extLst>
          </p:nvPr>
        </p:nvGraphicFramePr>
        <p:xfrm>
          <a:off x="6494946" y="1422467"/>
          <a:ext cx="533400" cy="48799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136683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993466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26296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8419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710745"/>
                  </a:ext>
                </a:extLst>
              </a:tr>
            </a:tbl>
          </a:graphicData>
        </a:graphic>
      </p:graphicFrame>
      <p:graphicFrame>
        <p:nvGraphicFramePr>
          <p:cNvPr id="109" name="Group 15">
            <a:extLst>
              <a:ext uri="{FF2B5EF4-FFF2-40B4-BE49-F238E27FC236}">
                <a16:creationId xmlns:a16="http://schemas.microsoft.com/office/drawing/2014/main" id="{8D96389C-5E26-426D-B552-F13A6A78B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625623"/>
              </p:ext>
            </p:extLst>
          </p:nvPr>
        </p:nvGraphicFramePr>
        <p:xfrm>
          <a:off x="8476146" y="1422467"/>
          <a:ext cx="533400" cy="48006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g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43897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5294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\0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43151"/>
                  </a:ext>
                </a:extLst>
              </a:tr>
            </a:tbl>
          </a:graphicData>
        </a:graphic>
      </p:graphicFrame>
      <p:sp>
        <p:nvSpPr>
          <p:cNvPr id="110" name="Text Box 31"/>
          <p:cNvSpPr txBox="1">
            <a:spLocks noChangeArrowheads="1"/>
          </p:cNvSpPr>
          <p:nvPr/>
        </p:nvSpPr>
        <p:spPr bwMode="auto">
          <a:xfrm>
            <a:off x="6223484" y="1314517"/>
            <a:ext cx="33564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11" name="Text Box 32"/>
          <p:cNvSpPr txBox="1">
            <a:spLocks noChangeArrowheads="1"/>
          </p:cNvSpPr>
          <p:nvPr/>
        </p:nvSpPr>
        <p:spPr bwMode="auto">
          <a:xfrm>
            <a:off x="8204684" y="1314517"/>
            <a:ext cx="3810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grpSp>
        <p:nvGrpSpPr>
          <p:cNvPr id="112" name="Group 33"/>
          <p:cNvGrpSpPr>
            <a:grpSpLocks/>
          </p:cNvGrpSpPr>
          <p:nvPr/>
        </p:nvGrpSpPr>
        <p:grpSpPr bwMode="auto">
          <a:xfrm>
            <a:off x="4666146" y="1422467"/>
            <a:ext cx="1371600" cy="463550"/>
            <a:chOff x="2880" y="1008"/>
            <a:chExt cx="864" cy="292"/>
          </a:xfrm>
        </p:grpSpPr>
        <p:sp>
          <p:nvSpPr>
            <p:cNvPr id="113" name="Text Box 34"/>
            <p:cNvSpPr txBox="1">
              <a:spLocks noChangeArrowheads="1"/>
            </p:cNvSpPr>
            <p:nvPr/>
          </p:nvSpPr>
          <p:spPr bwMode="auto">
            <a:xfrm>
              <a:off x="2880" y="1008"/>
              <a:ext cx="52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from</a:t>
              </a:r>
            </a:p>
          </p:txBody>
        </p:sp>
        <p:sp>
          <p:nvSpPr>
            <p:cNvPr id="114" name="Rectangle 35"/>
            <p:cNvSpPr>
              <a:spLocks noChangeArrowheads="1"/>
            </p:cNvSpPr>
            <p:nvPr/>
          </p:nvSpPr>
          <p:spPr bwMode="auto">
            <a:xfrm>
              <a:off x="3408" y="1008"/>
              <a:ext cx="336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15" name="Group 36"/>
          <p:cNvGrpSpPr>
            <a:grpSpLocks/>
          </p:cNvGrpSpPr>
          <p:nvPr/>
        </p:nvGrpSpPr>
        <p:grpSpPr bwMode="auto">
          <a:xfrm>
            <a:off x="7180746" y="1498667"/>
            <a:ext cx="990600" cy="463550"/>
            <a:chOff x="4464" y="1056"/>
            <a:chExt cx="624" cy="292"/>
          </a:xfrm>
        </p:grpSpPr>
        <p:sp>
          <p:nvSpPr>
            <p:cNvPr id="116" name="Text Box 37"/>
            <p:cNvSpPr txBox="1">
              <a:spLocks noChangeArrowheads="1"/>
            </p:cNvSpPr>
            <p:nvPr/>
          </p:nvSpPr>
          <p:spPr bwMode="auto">
            <a:xfrm>
              <a:off x="4464" y="1056"/>
              <a:ext cx="28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</a:p>
          </p:txBody>
        </p:sp>
        <p:sp>
          <p:nvSpPr>
            <p:cNvPr id="117" name="Rectangle 38"/>
            <p:cNvSpPr>
              <a:spLocks noChangeArrowheads="1"/>
            </p:cNvSpPr>
            <p:nvPr/>
          </p:nvSpPr>
          <p:spPr bwMode="auto">
            <a:xfrm>
              <a:off x="4752" y="1056"/>
              <a:ext cx="336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118" name="Line 39"/>
          <p:cNvSpPr>
            <a:spLocks noChangeShapeType="1"/>
          </p:cNvSpPr>
          <p:nvPr/>
        </p:nvSpPr>
        <p:spPr bwMode="auto">
          <a:xfrm>
            <a:off x="6037746" y="1651067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Line 40"/>
          <p:cNvSpPr>
            <a:spLocks noChangeShapeType="1"/>
          </p:cNvSpPr>
          <p:nvPr/>
        </p:nvSpPr>
        <p:spPr bwMode="auto">
          <a:xfrm>
            <a:off x="8171346" y="1727266"/>
            <a:ext cx="271462" cy="269895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Line 41"/>
          <p:cNvSpPr>
            <a:spLocks noChangeShapeType="1"/>
          </p:cNvSpPr>
          <p:nvPr/>
        </p:nvSpPr>
        <p:spPr bwMode="auto">
          <a:xfrm>
            <a:off x="6037746" y="1727267"/>
            <a:ext cx="4572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1" name="Line 42"/>
          <p:cNvSpPr>
            <a:spLocks noChangeShapeType="1"/>
          </p:cNvSpPr>
          <p:nvPr/>
        </p:nvSpPr>
        <p:spPr bwMode="auto">
          <a:xfrm>
            <a:off x="8171346" y="1803467"/>
            <a:ext cx="304800" cy="30865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Line 43"/>
          <p:cNvSpPr>
            <a:spLocks noChangeShapeType="1"/>
          </p:cNvSpPr>
          <p:nvPr/>
        </p:nvSpPr>
        <p:spPr bwMode="auto">
          <a:xfrm>
            <a:off x="6037746" y="1879667"/>
            <a:ext cx="45720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3" name="Line 44"/>
          <p:cNvSpPr>
            <a:spLocks noChangeShapeType="1"/>
          </p:cNvSpPr>
          <p:nvPr/>
        </p:nvSpPr>
        <p:spPr bwMode="auto">
          <a:xfrm>
            <a:off x="8171346" y="1879667"/>
            <a:ext cx="304800" cy="363323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4" name="Line 45"/>
          <p:cNvSpPr>
            <a:spLocks noChangeShapeType="1"/>
          </p:cNvSpPr>
          <p:nvPr/>
        </p:nvSpPr>
        <p:spPr bwMode="auto">
          <a:xfrm>
            <a:off x="5885346" y="1879667"/>
            <a:ext cx="6096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5" name="Line 46"/>
          <p:cNvSpPr>
            <a:spLocks noChangeShapeType="1"/>
          </p:cNvSpPr>
          <p:nvPr/>
        </p:nvSpPr>
        <p:spPr bwMode="auto">
          <a:xfrm>
            <a:off x="8095146" y="1955867"/>
            <a:ext cx="347662" cy="404736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Rectangle 47"/>
          <p:cNvSpPr>
            <a:spLocks noChangeArrowheads="1"/>
          </p:cNvSpPr>
          <p:nvPr/>
        </p:nvSpPr>
        <p:spPr bwMode="auto">
          <a:xfrm>
            <a:off x="8476146" y="4089468"/>
            <a:ext cx="5334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27" name="Rectangle 48"/>
          <p:cNvSpPr>
            <a:spLocks noChangeArrowheads="1"/>
          </p:cNvSpPr>
          <p:nvPr/>
        </p:nvSpPr>
        <p:spPr bwMode="auto">
          <a:xfrm>
            <a:off x="8476146" y="4622868"/>
            <a:ext cx="5334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8" name="Rectangle 49"/>
          <p:cNvSpPr>
            <a:spLocks noChangeArrowheads="1"/>
          </p:cNvSpPr>
          <p:nvPr/>
        </p:nvSpPr>
        <p:spPr bwMode="auto">
          <a:xfrm>
            <a:off x="8476146" y="5156268"/>
            <a:ext cx="5334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29" name="Rectangle 50"/>
          <p:cNvSpPr>
            <a:spLocks noChangeArrowheads="1"/>
          </p:cNvSpPr>
          <p:nvPr/>
        </p:nvSpPr>
        <p:spPr bwMode="auto">
          <a:xfrm>
            <a:off x="8476146" y="5689668"/>
            <a:ext cx="533400" cy="5334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\0</a:t>
            </a:r>
          </a:p>
        </p:txBody>
      </p:sp>
      <p:sp>
        <p:nvSpPr>
          <p:cNvPr id="130" name="Rectangle 51"/>
          <p:cNvSpPr>
            <a:spLocks noChangeArrowheads="1"/>
          </p:cNvSpPr>
          <p:nvPr/>
        </p:nvSpPr>
        <p:spPr bwMode="auto">
          <a:xfrm>
            <a:off x="5504346" y="1422467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a+1</a:t>
            </a:r>
          </a:p>
        </p:txBody>
      </p:sp>
      <p:sp>
        <p:nvSpPr>
          <p:cNvPr id="132" name="Rectangle 53"/>
          <p:cNvSpPr>
            <a:spLocks noChangeArrowheads="1"/>
          </p:cNvSpPr>
          <p:nvPr/>
        </p:nvSpPr>
        <p:spPr bwMode="auto">
          <a:xfrm>
            <a:off x="5504346" y="1422467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a+2</a:t>
            </a:r>
          </a:p>
        </p:txBody>
      </p:sp>
      <p:sp>
        <p:nvSpPr>
          <p:cNvPr id="134" name="Rectangle 55"/>
          <p:cNvSpPr>
            <a:spLocks noChangeArrowheads="1"/>
          </p:cNvSpPr>
          <p:nvPr/>
        </p:nvSpPr>
        <p:spPr bwMode="auto">
          <a:xfrm>
            <a:off x="5504346" y="1422467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a+3</a:t>
            </a:r>
          </a:p>
        </p:txBody>
      </p:sp>
      <p:sp>
        <p:nvSpPr>
          <p:cNvPr id="136" name="Line 57"/>
          <p:cNvSpPr>
            <a:spLocks noChangeShapeType="1"/>
          </p:cNvSpPr>
          <p:nvPr/>
        </p:nvSpPr>
        <p:spPr bwMode="auto">
          <a:xfrm>
            <a:off x="6037746" y="1651067"/>
            <a:ext cx="457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7" name="Line 58"/>
          <p:cNvSpPr>
            <a:spLocks noChangeShapeType="1"/>
          </p:cNvSpPr>
          <p:nvPr/>
        </p:nvSpPr>
        <p:spPr bwMode="auto">
          <a:xfrm>
            <a:off x="8171346" y="1727267"/>
            <a:ext cx="271462" cy="269895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8" name="Line 59"/>
          <p:cNvSpPr>
            <a:spLocks noChangeShapeType="1"/>
          </p:cNvSpPr>
          <p:nvPr/>
        </p:nvSpPr>
        <p:spPr bwMode="auto">
          <a:xfrm>
            <a:off x="6037746" y="1727267"/>
            <a:ext cx="457200" cy="5334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9" name="Line 60"/>
          <p:cNvSpPr>
            <a:spLocks noChangeShapeType="1"/>
          </p:cNvSpPr>
          <p:nvPr/>
        </p:nvSpPr>
        <p:spPr bwMode="auto">
          <a:xfrm>
            <a:off x="6037746" y="1879667"/>
            <a:ext cx="457200" cy="9906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" name="Line 61"/>
          <p:cNvSpPr>
            <a:spLocks noChangeShapeType="1"/>
          </p:cNvSpPr>
          <p:nvPr/>
        </p:nvSpPr>
        <p:spPr bwMode="auto">
          <a:xfrm>
            <a:off x="8171346" y="1803466"/>
            <a:ext cx="304800" cy="308658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" name="Line 62"/>
          <p:cNvSpPr>
            <a:spLocks noChangeShapeType="1"/>
          </p:cNvSpPr>
          <p:nvPr/>
        </p:nvSpPr>
        <p:spPr bwMode="auto">
          <a:xfrm>
            <a:off x="8171346" y="1879666"/>
            <a:ext cx="271462" cy="36332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2" name="Line 45"/>
          <p:cNvSpPr>
            <a:spLocks noChangeShapeType="1"/>
          </p:cNvSpPr>
          <p:nvPr/>
        </p:nvSpPr>
        <p:spPr bwMode="auto">
          <a:xfrm flipV="1">
            <a:off x="8171346" y="1778067"/>
            <a:ext cx="271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Rectangle 56"/>
          <p:cNvSpPr>
            <a:spLocks noChangeArrowheads="1"/>
          </p:cNvSpPr>
          <p:nvPr/>
        </p:nvSpPr>
        <p:spPr bwMode="auto">
          <a:xfrm>
            <a:off x="7643262" y="1494317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b+5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Rectangle 52"/>
          <p:cNvSpPr>
            <a:spLocks noChangeArrowheads="1"/>
          </p:cNvSpPr>
          <p:nvPr/>
        </p:nvSpPr>
        <p:spPr bwMode="auto">
          <a:xfrm>
            <a:off x="7640604" y="1487967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b+6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Rectangle 54"/>
          <p:cNvSpPr>
            <a:spLocks noChangeArrowheads="1"/>
          </p:cNvSpPr>
          <p:nvPr/>
        </p:nvSpPr>
        <p:spPr bwMode="auto">
          <a:xfrm>
            <a:off x="7633184" y="1481132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b+7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ectangle 56"/>
          <p:cNvSpPr>
            <a:spLocks noChangeArrowheads="1"/>
          </p:cNvSpPr>
          <p:nvPr/>
        </p:nvSpPr>
        <p:spPr bwMode="auto">
          <a:xfrm>
            <a:off x="7640604" y="1483617"/>
            <a:ext cx="5334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b+8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2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utoUpdateAnimBg="0"/>
      <p:bldP spid="111" grpId="0" autoUpdateAnimBg="0"/>
      <p:bldP spid="126" grpId="0" animBg="1" autoUpdateAnimBg="0"/>
      <p:bldP spid="127" grpId="0" animBg="1" autoUpdateAnimBg="0"/>
      <p:bldP spid="128" grpId="0" animBg="1" autoUpdateAnimBg="0"/>
      <p:bldP spid="129" grpId="0" animBg="1" autoUpdateAnimBg="0"/>
      <p:bldP spid="130" grpId="0" animBg="1" autoUpdateAnimBg="0"/>
      <p:bldP spid="132" grpId="0" animBg="1" autoUpdateAnimBg="0"/>
      <p:bldP spid="134" grpId="0" animBg="1" autoUpdateAnimBg="0"/>
      <p:bldP spid="142" grpId="0" animBg="1"/>
      <p:bldP spid="143" grpId="0" animBg="1" autoUpdateAnimBg="0"/>
      <p:bldP spid="131" grpId="0" animBg="1" autoUpdateAnimBg="0"/>
      <p:bldP spid="133" grpId="0" animBg="1" autoUpdateAnimBg="0"/>
      <p:bldP spid="135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22225" y="1506538"/>
            <a:ext cx="66246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概念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: 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一个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数组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元素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均为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指针类型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的数据，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则该数组称为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指针数组</a:t>
            </a:r>
          </a:p>
        </p:txBody>
      </p:sp>
      <p:sp>
        <p:nvSpPr>
          <p:cNvPr id="599043" name="Text Box 3"/>
          <p:cNvSpPr txBox="1">
            <a:spLocks noChangeArrowheads="1"/>
          </p:cNvSpPr>
          <p:nvPr/>
        </p:nvSpPr>
        <p:spPr bwMode="auto">
          <a:xfrm>
            <a:off x="93663" y="2298700"/>
            <a:ext cx="662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即：指针数组的每一个元素都是一个指针变量</a:t>
            </a:r>
          </a:p>
        </p:txBody>
      </p:sp>
      <p:sp>
        <p:nvSpPr>
          <p:cNvPr id="599044" name="Text Box 4"/>
          <p:cNvSpPr txBox="1">
            <a:spLocks noChangeArrowheads="1"/>
          </p:cNvSpPr>
          <p:nvPr/>
        </p:nvSpPr>
        <p:spPr bwMode="auto">
          <a:xfrm>
            <a:off x="166688" y="2801938"/>
            <a:ext cx="7308850" cy="457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定义格式： 类型名  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数组名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数组长度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；</a:t>
            </a:r>
          </a:p>
        </p:txBody>
      </p:sp>
      <p:sp>
        <p:nvSpPr>
          <p:cNvPr id="599045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48590" y="923925"/>
            <a:ext cx="3732213" cy="442913"/>
          </a:xfrm>
        </p:spPr>
        <p:txBody>
          <a:bodyPr>
            <a:noAutofit/>
          </a:bodyPr>
          <a:lstStyle/>
          <a:p>
            <a:pPr defTabSz="457200">
              <a:buClr>
                <a:srgbClr val="3333FF"/>
              </a:buClr>
            </a:pPr>
            <a:r>
              <a:rPr kumimoji="1"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6.5.1 </a:t>
            </a:r>
            <a:r>
              <a:rPr kumimoji="1"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指针数组</a:t>
            </a:r>
          </a:p>
        </p:txBody>
      </p:sp>
      <p:sp>
        <p:nvSpPr>
          <p:cNvPr id="599046" name="Text Box 6"/>
          <p:cNvSpPr txBox="1">
            <a:spLocks noChangeArrowheads="1"/>
          </p:cNvSpPr>
          <p:nvPr/>
        </p:nvSpPr>
        <p:spPr bwMode="auto">
          <a:xfrm>
            <a:off x="166688" y="3375025"/>
            <a:ext cx="662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例如： 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*a[4];  int float *b[20];</a:t>
            </a:r>
          </a:p>
        </p:txBody>
      </p:sp>
      <p:sp>
        <p:nvSpPr>
          <p:cNvPr id="599047" name="Text Box 7"/>
          <p:cNvSpPr txBox="1">
            <a:spLocks noChangeArrowheads="1"/>
          </p:cNvSpPr>
          <p:nvPr/>
        </p:nvSpPr>
        <p:spPr bwMode="auto">
          <a:xfrm>
            <a:off x="166688" y="4022725"/>
            <a:ext cx="4068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判断是否为指针数组：</a:t>
            </a:r>
          </a:p>
        </p:txBody>
      </p:sp>
      <p:sp>
        <p:nvSpPr>
          <p:cNvPr id="599048" name="Text Box 8"/>
          <p:cNvSpPr txBox="1">
            <a:spLocks noChangeArrowheads="1"/>
          </p:cNvSpPr>
          <p:nvPr/>
        </p:nvSpPr>
        <p:spPr bwMode="auto">
          <a:xfrm>
            <a:off x="238125" y="5345113"/>
            <a:ext cx="2089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*(a[5]);</a:t>
            </a:r>
          </a:p>
        </p:txBody>
      </p:sp>
      <p:sp>
        <p:nvSpPr>
          <p:cNvPr id="599049" name="Text Box 9"/>
          <p:cNvSpPr txBox="1">
            <a:spLocks noChangeArrowheads="1"/>
          </p:cNvSpPr>
          <p:nvPr/>
        </p:nvSpPr>
        <p:spPr bwMode="auto">
          <a:xfrm>
            <a:off x="230188" y="4659313"/>
            <a:ext cx="252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(*a)[5];</a:t>
            </a:r>
          </a:p>
        </p:txBody>
      </p:sp>
      <p:sp>
        <p:nvSpPr>
          <p:cNvPr id="599050" name="Text Box 10"/>
          <p:cNvSpPr txBox="1">
            <a:spLocks noChangeArrowheads="1"/>
          </p:cNvSpPr>
          <p:nvPr/>
        </p:nvSpPr>
        <p:spPr bwMode="auto">
          <a:xfrm>
            <a:off x="2254250" y="5380038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是</a:t>
            </a: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99051" name="Text Box 11"/>
          <p:cNvSpPr txBox="1">
            <a:spLocks noChangeArrowheads="1"/>
          </p:cNvSpPr>
          <p:nvPr/>
        </p:nvSpPr>
        <p:spPr bwMode="auto">
          <a:xfrm>
            <a:off x="2173288" y="4695825"/>
            <a:ext cx="1081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不是</a:t>
            </a:r>
          </a:p>
        </p:txBody>
      </p:sp>
      <p:sp>
        <p:nvSpPr>
          <p:cNvPr id="599052" name="Rectangle 12"/>
          <p:cNvSpPr>
            <a:spLocks noChangeArrowheads="1"/>
          </p:cNvSpPr>
          <p:nvPr/>
        </p:nvSpPr>
        <p:spPr bwMode="auto">
          <a:xfrm>
            <a:off x="3109913" y="4706938"/>
            <a:ext cx="353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是指向一维数组的指针。</a:t>
            </a:r>
          </a:p>
        </p:txBody>
      </p:sp>
      <p:sp>
        <p:nvSpPr>
          <p:cNvPr id="599053" name="Rectangle 13"/>
          <p:cNvSpPr>
            <a:spLocks noChangeArrowheads="1"/>
          </p:cNvSpPr>
          <p:nvPr/>
        </p:nvSpPr>
        <p:spPr bwMode="auto">
          <a:xfrm>
            <a:off x="3119438" y="5391150"/>
            <a:ext cx="219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等价于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*a[5]</a:t>
            </a:r>
          </a:p>
        </p:txBody>
      </p:sp>
      <p:sp>
        <p:nvSpPr>
          <p:cNvPr id="599054" name="Rectangle 14"/>
          <p:cNvSpPr>
            <a:spLocks noChangeArrowheads="1"/>
          </p:cNvSpPr>
          <p:nvPr/>
        </p:nvSpPr>
        <p:spPr bwMode="auto">
          <a:xfrm>
            <a:off x="238125" y="6038850"/>
            <a:ext cx="8137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注：一定要区分指针数组和指向一维数组的指针</a:t>
            </a:r>
          </a:p>
        </p:txBody>
      </p:sp>
      <p:sp>
        <p:nvSpPr>
          <p:cNvPr id="2" name="矩形 1"/>
          <p:cNvSpPr/>
          <p:nvPr/>
        </p:nvSpPr>
        <p:spPr>
          <a:xfrm>
            <a:off x="166688" y="225981"/>
            <a:ext cx="6272847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rgbClr val="3333FF"/>
              </a:buClr>
            </a:pPr>
            <a:r>
              <a:rPr kumimoji="1"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6.5 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指针数组与多级指针</a:t>
            </a:r>
          </a:p>
        </p:txBody>
      </p:sp>
    </p:spTree>
    <p:extLst>
      <p:ext uri="{BB962C8B-B14F-4D97-AF65-F5344CB8AC3E}">
        <p14:creationId xmlns:p14="http://schemas.microsoft.com/office/powerpoint/2010/main" val="334835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9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9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9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9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042" grpId="0"/>
      <p:bldP spid="599043" grpId="0"/>
      <p:bldP spid="599044" grpId="0" animBg="1"/>
      <p:bldP spid="599046" grpId="0"/>
      <p:bldP spid="599047" grpId="0"/>
      <p:bldP spid="599048" grpId="0"/>
      <p:bldP spid="599049" grpId="0"/>
      <p:bldP spid="599050" grpId="0"/>
      <p:bldP spid="599051" grpId="0"/>
      <p:bldP spid="599052" grpId="0"/>
      <p:bldP spid="599053" grpId="0"/>
      <p:bldP spid="59905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AutoShape 2"/>
          <p:cNvSpPr>
            <a:spLocks noChangeArrowheads="1"/>
          </p:cNvSpPr>
          <p:nvPr/>
        </p:nvSpPr>
        <p:spPr bwMode="auto">
          <a:xfrm>
            <a:off x="2754105" y="1587362"/>
            <a:ext cx="2016125" cy="2663825"/>
          </a:xfrm>
          <a:prstGeom prst="wedgeRectCallout">
            <a:avLst>
              <a:gd name="adj1" fmla="val -100944"/>
              <a:gd name="adj2" fmla="val -40884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</a:t>
            </a:r>
            <a:r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是一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个指针数组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它有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个元素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每个元素是一个整型指针变量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可指向一个整型数据</a:t>
            </a: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601091" name="Text Box 3"/>
          <p:cNvSpPr txBox="1">
            <a:spLocks noChangeArrowheads="1"/>
          </p:cNvSpPr>
          <p:nvPr/>
        </p:nvSpPr>
        <p:spPr bwMode="auto">
          <a:xfrm>
            <a:off x="93455" y="1392100"/>
            <a:ext cx="1689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 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p[3];</a:t>
            </a:r>
          </a:p>
        </p:txBody>
      </p:sp>
      <p:sp>
        <p:nvSpPr>
          <p:cNvPr id="601092" name="Text Box 4"/>
          <p:cNvSpPr txBox="1">
            <a:spLocks noChangeArrowheads="1"/>
          </p:cNvSpPr>
          <p:nvPr/>
        </p:nvSpPr>
        <p:spPr bwMode="auto">
          <a:xfrm>
            <a:off x="90280" y="1860412"/>
            <a:ext cx="21971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 x, y, a[4];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p[0]=&amp;x;  p[1]=&amp;y;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p[2]=a;</a:t>
            </a:r>
          </a:p>
        </p:txBody>
      </p:sp>
      <p:grpSp>
        <p:nvGrpSpPr>
          <p:cNvPr id="601093" name="Group 5"/>
          <p:cNvGrpSpPr>
            <a:grpSpLocks/>
          </p:cNvGrpSpPr>
          <p:nvPr/>
        </p:nvGrpSpPr>
        <p:grpSpPr bwMode="auto">
          <a:xfrm>
            <a:off x="7326105" y="1850887"/>
            <a:ext cx="1381125" cy="492125"/>
            <a:chOff x="4354" y="1759"/>
            <a:chExt cx="870" cy="310"/>
          </a:xfrm>
        </p:grpSpPr>
        <p:sp>
          <p:nvSpPr>
            <p:cNvPr id="601094" name="Rectangle 6"/>
            <p:cNvSpPr>
              <a:spLocks noChangeArrowheads="1"/>
            </p:cNvSpPr>
            <p:nvPr/>
          </p:nvSpPr>
          <p:spPr bwMode="auto">
            <a:xfrm>
              <a:off x="4354" y="1774"/>
              <a:ext cx="657" cy="295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1095" name="Text Box 7"/>
            <p:cNvSpPr txBox="1">
              <a:spLocks noChangeArrowheads="1"/>
            </p:cNvSpPr>
            <p:nvPr/>
          </p:nvSpPr>
          <p:spPr bwMode="auto">
            <a:xfrm>
              <a:off x="5012" y="175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x</a:t>
              </a:r>
            </a:p>
          </p:txBody>
        </p:sp>
      </p:grpSp>
      <p:grpSp>
        <p:nvGrpSpPr>
          <p:cNvPr id="601096" name="Group 8"/>
          <p:cNvGrpSpPr>
            <a:grpSpLocks/>
          </p:cNvGrpSpPr>
          <p:nvPr/>
        </p:nvGrpSpPr>
        <p:grpSpPr bwMode="auto">
          <a:xfrm>
            <a:off x="7326105" y="2535100"/>
            <a:ext cx="1368425" cy="528637"/>
            <a:chOff x="4354" y="2190"/>
            <a:chExt cx="862" cy="333"/>
          </a:xfrm>
        </p:grpSpPr>
        <p:sp>
          <p:nvSpPr>
            <p:cNvPr id="601097" name="Rectangle 9"/>
            <p:cNvSpPr>
              <a:spLocks noChangeArrowheads="1"/>
            </p:cNvSpPr>
            <p:nvPr/>
          </p:nvSpPr>
          <p:spPr bwMode="auto">
            <a:xfrm>
              <a:off x="4354" y="2228"/>
              <a:ext cx="657" cy="295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1098" name="Text Box 10"/>
            <p:cNvSpPr txBox="1">
              <a:spLocks noChangeArrowheads="1"/>
            </p:cNvSpPr>
            <p:nvPr/>
          </p:nvSpPr>
          <p:spPr bwMode="auto">
            <a:xfrm>
              <a:off x="5004" y="219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y</a:t>
              </a:r>
            </a:p>
          </p:txBody>
        </p:sp>
      </p:grpSp>
      <p:grpSp>
        <p:nvGrpSpPr>
          <p:cNvPr id="601099" name="Group 11"/>
          <p:cNvGrpSpPr>
            <a:grpSpLocks/>
          </p:cNvGrpSpPr>
          <p:nvPr/>
        </p:nvGrpSpPr>
        <p:grpSpPr bwMode="auto">
          <a:xfrm>
            <a:off x="7326105" y="3136762"/>
            <a:ext cx="1709738" cy="2087563"/>
            <a:chOff x="4354" y="2591"/>
            <a:chExt cx="1077" cy="1315"/>
          </a:xfrm>
        </p:grpSpPr>
        <p:grpSp>
          <p:nvGrpSpPr>
            <p:cNvPr id="601100" name="Group 12"/>
            <p:cNvGrpSpPr>
              <a:grpSpLocks/>
            </p:cNvGrpSpPr>
            <p:nvPr/>
          </p:nvGrpSpPr>
          <p:grpSpPr bwMode="auto">
            <a:xfrm>
              <a:off x="4354" y="2850"/>
              <a:ext cx="681" cy="1056"/>
              <a:chOff x="4354" y="2850"/>
              <a:chExt cx="681" cy="1056"/>
            </a:xfrm>
          </p:grpSpPr>
          <p:sp>
            <p:nvSpPr>
              <p:cNvPr id="601101" name="Rectangle 13"/>
              <p:cNvSpPr>
                <a:spLocks noChangeArrowheads="1"/>
              </p:cNvSpPr>
              <p:nvPr/>
            </p:nvSpPr>
            <p:spPr bwMode="auto">
              <a:xfrm>
                <a:off x="4354" y="3114"/>
                <a:ext cx="681" cy="264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02" name="Rectangle 14"/>
              <p:cNvSpPr>
                <a:spLocks noChangeArrowheads="1"/>
              </p:cNvSpPr>
              <p:nvPr/>
            </p:nvSpPr>
            <p:spPr bwMode="auto">
              <a:xfrm>
                <a:off x="4354" y="3642"/>
                <a:ext cx="681" cy="264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03" name="Rectangle 15"/>
              <p:cNvSpPr>
                <a:spLocks noChangeArrowheads="1"/>
              </p:cNvSpPr>
              <p:nvPr/>
            </p:nvSpPr>
            <p:spPr bwMode="auto">
              <a:xfrm>
                <a:off x="4354" y="3378"/>
                <a:ext cx="681" cy="264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04" name="Rectangle 16"/>
              <p:cNvSpPr>
                <a:spLocks noChangeArrowheads="1"/>
              </p:cNvSpPr>
              <p:nvPr/>
            </p:nvSpPr>
            <p:spPr bwMode="auto">
              <a:xfrm>
                <a:off x="4354" y="2850"/>
                <a:ext cx="681" cy="264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05" name="Line 17"/>
              <p:cNvSpPr>
                <a:spLocks noChangeShapeType="1"/>
              </p:cNvSpPr>
              <p:nvPr/>
            </p:nvSpPr>
            <p:spPr bwMode="auto">
              <a:xfrm>
                <a:off x="4354" y="2850"/>
                <a:ext cx="68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06" name="Line 18"/>
              <p:cNvSpPr>
                <a:spLocks noChangeShapeType="1"/>
              </p:cNvSpPr>
              <p:nvPr/>
            </p:nvSpPr>
            <p:spPr bwMode="auto">
              <a:xfrm>
                <a:off x="4354" y="3114"/>
                <a:ext cx="6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07" name="Line 19"/>
              <p:cNvSpPr>
                <a:spLocks noChangeShapeType="1"/>
              </p:cNvSpPr>
              <p:nvPr/>
            </p:nvSpPr>
            <p:spPr bwMode="auto">
              <a:xfrm>
                <a:off x="4354" y="3642"/>
                <a:ext cx="6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08" name="Line 20"/>
              <p:cNvSpPr>
                <a:spLocks noChangeShapeType="1"/>
              </p:cNvSpPr>
              <p:nvPr/>
            </p:nvSpPr>
            <p:spPr bwMode="auto">
              <a:xfrm>
                <a:off x="4354" y="3906"/>
                <a:ext cx="68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09" name="Line 21"/>
              <p:cNvSpPr>
                <a:spLocks noChangeShapeType="1"/>
              </p:cNvSpPr>
              <p:nvPr/>
            </p:nvSpPr>
            <p:spPr bwMode="auto">
              <a:xfrm>
                <a:off x="4354" y="2850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10" name="Line 22"/>
              <p:cNvSpPr>
                <a:spLocks noChangeShapeType="1"/>
              </p:cNvSpPr>
              <p:nvPr/>
            </p:nvSpPr>
            <p:spPr bwMode="auto">
              <a:xfrm>
                <a:off x="5035" y="2850"/>
                <a:ext cx="0" cy="105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11" name="Line 23"/>
              <p:cNvSpPr>
                <a:spLocks noChangeShapeType="1"/>
              </p:cNvSpPr>
              <p:nvPr/>
            </p:nvSpPr>
            <p:spPr bwMode="auto">
              <a:xfrm>
                <a:off x="4354" y="3378"/>
                <a:ext cx="6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01112" name="Text Box 24"/>
            <p:cNvSpPr txBox="1">
              <a:spLocks noChangeArrowheads="1"/>
            </p:cNvSpPr>
            <p:nvPr/>
          </p:nvSpPr>
          <p:spPr bwMode="auto">
            <a:xfrm>
              <a:off x="4995" y="2823"/>
              <a:ext cx="436" cy="10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a[0]</a:t>
              </a:r>
            </a:p>
            <a:p>
              <a:pPr marL="0" marR="0" lvl="0" indent="0" algn="l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a[1]</a:t>
              </a:r>
            </a:p>
            <a:p>
              <a:pPr marL="0" marR="0" lvl="0" indent="0" algn="l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a[2]</a:t>
              </a:r>
            </a:p>
            <a:p>
              <a:pPr marL="0" marR="0" lvl="0" indent="0" algn="l" defTabSz="914400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a[3]</a:t>
              </a:r>
            </a:p>
          </p:txBody>
        </p:sp>
        <p:sp>
          <p:nvSpPr>
            <p:cNvPr id="601113" name="Text Box 25"/>
            <p:cNvSpPr txBox="1">
              <a:spLocks noChangeArrowheads="1"/>
            </p:cNvSpPr>
            <p:nvPr/>
          </p:nvSpPr>
          <p:spPr bwMode="auto">
            <a:xfrm>
              <a:off x="4377" y="2591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数组</a:t>
              </a: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a</a:t>
              </a:r>
            </a:p>
          </p:txBody>
        </p:sp>
      </p:grpSp>
      <p:sp>
        <p:nvSpPr>
          <p:cNvPr id="601114" name="Line 26"/>
          <p:cNvSpPr>
            <a:spLocks noChangeShapeType="1"/>
          </p:cNvSpPr>
          <p:nvPr/>
        </p:nvSpPr>
        <p:spPr bwMode="auto">
          <a:xfrm flipV="1">
            <a:off x="6606968" y="2092187"/>
            <a:ext cx="719137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1115" name="Line 27"/>
          <p:cNvSpPr>
            <a:spLocks noChangeShapeType="1"/>
          </p:cNvSpPr>
          <p:nvPr/>
        </p:nvSpPr>
        <p:spPr bwMode="auto">
          <a:xfrm>
            <a:off x="6606968" y="2847837"/>
            <a:ext cx="7191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1116" name="Line 28"/>
          <p:cNvSpPr>
            <a:spLocks noChangeShapeType="1"/>
          </p:cNvSpPr>
          <p:nvPr/>
        </p:nvSpPr>
        <p:spPr bwMode="auto">
          <a:xfrm>
            <a:off x="6606968" y="3351075"/>
            <a:ext cx="719137" cy="3603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01117" name="Group 29"/>
          <p:cNvGrpSpPr>
            <a:grpSpLocks/>
          </p:cNvGrpSpPr>
          <p:nvPr/>
        </p:nvGrpSpPr>
        <p:grpSpPr bwMode="auto">
          <a:xfrm>
            <a:off x="4841668" y="1587362"/>
            <a:ext cx="1970087" cy="2020888"/>
            <a:chOff x="2789" y="1593"/>
            <a:chExt cx="1241" cy="1273"/>
          </a:xfrm>
        </p:grpSpPr>
        <p:grpSp>
          <p:nvGrpSpPr>
            <p:cNvPr id="601118" name="Group 30"/>
            <p:cNvGrpSpPr>
              <a:grpSpLocks/>
            </p:cNvGrpSpPr>
            <p:nvPr/>
          </p:nvGrpSpPr>
          <p:grpSpPr bwMode="auto">
            <a:xfrm>
              <a:off x="3220" y="1888"/>
              <a:ext cx="681" cy="978"/>
              <a:chOff x="3220" y="1888"/>
              <a:chExt cx="681" cy="978"/>
            </a:xfrm>
          </p:grpSpPr>
          <p:sp>
            <p:nvSpPr>
              <p:cNvPr id="601119" name="Rectangle 31"/>
              <p:cNvSpPr>
                <a:spLocks noChangeArrowheads="1"/>
              </p:cNvSpPr>
              <p:nvPr/>
            </p:nvSpPr>
            <p:spPr bwMode="auto">
              <a:xfrm>
                <a:off x="3220" y="2540"/>
                <a:ext cx="681" cy="32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20" name="Rectangle 32"/>
              <p:cNvSpPr>
                <a:spLocks noChangeArrowheads="1"/>
              </p:cNvSpPr>
              <p:nvPr/>
            </p:nvSpPr>
            <p:spPr bwMode="auto">
              <a:xfrm>
                <a:off x="3220" y="2214"/>
                <a:ext cx="681" cy="32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21" name="Rectangle 33"/>
              <p:cNvSpPr>
                <a:spLocks noChangeArrowheads="1"/>
              </p:cNvSpPr>
              <p:nvPr/>
            </p:nvSpPr>
            <p:spPr bwMode="auto">
              <a:xfrm>
                <a:off x="3220" y="1888"/>
                <a:ext cx="681" cy="32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algn="l">
                  <a:spcBef>
                    <a:spcPct val="20000"/>
                  </a:spcBef>
                  <a:buSzPct val="9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SzPct val="8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7"/>
                  </a:buBlip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22" name="Line 34"/>
              <p:cNvSpPr>
                <a:spLocks noChangeShapeType="1"/>
              </p:cNvSpPr>
              <p:nvPr/>
            </p:nvSpPr>
            <p:spPr bwMode="auto">
              <a:xfrm>
                <a:off x="3220" y="1888"/>
                <a:ext cx="68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23" name="Line 35"/>
              <p:cNvSpPr>
                <a:spLocks noChangeShapeType="1"/>
              </p:cNvSpPr>
              <p:nvPr/>
            </p:nvSpPr>
            <p:spPr bwMode="auto">
              <a:xfrm>
                <a:off x="3220" y="2214"/>
                <a:ext cx="6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24" name="Line 36"/>
              <p:cNvSpPr>
                <a:spLocks noChangeShapeType="1"/>
              </p:cNvSpPr>
              <p:nvPr/>
            </p:nvSpPr>
            <p:spPr bwMode="auto">
              <a:xfrm>
                <a:off x="3220" y="2540"/>
                <a:ext cx="6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25" name="Line 37"/>
              <p:cNvSpPr>
                <a:spLocks noChangeShapeType="1"/>
              </p:cNvSpPr>
              <p:nvPr/>
            </p:nvSpPr>
            <p:spPr bwMode="auto">
              <a:xfrm>
                <a:off x="3220" y="2866"/>
                <a:ext cx="681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26" name="Line 38"/>
              <p:cNvSpPr>
                <a:spLocks noChangeShapeType="1"/>
              </p:cNvSpPr>
              <p:nvPr/>
            </p:nvSpPr>
            <p:spPr bwMode="auto">
              <a:xfrm>
                <a:off x="3220" y="1888"/>
                <a:ext cx="0" cy="97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1127" name="Line 39"/>
              <p:cNvSpPr>
                <a:spLocks noChangeShapeType="1"/>
              </p:cNvSpPr>
              <p:nvPr/>
            </p:nvSpPr>
            <p:spPr bwMode="auto">
              <a:xfrm>
                <a:off x="3901" y="1888"/>
                <a:ext cx="0" cy="97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01128" name="Text Box 40"/>
            <p:cNvSpPr txBox="1">
              <a:spLocks noChangeArrowheads="1"/>
            </p:cNvSpPr>
            <p:nvPr/>
          </p:nvSpPr>
          <p:spPr bwMode="auto">
            <a:xfrm>
              <a:off x="2789" y="1933"/>
              <a:ext cx="447" cy="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p[0]</a:t>
              </a:r>
            </a:p>
            <a:p>
              <a:pPr marL="0" marR="0" lvl="0" indent="0" algn="l" defTabSz="914400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p[1]</a:t>
              </a:r>
            </a:p>
            <a:p>
              <a:pPr marL="0" marR="0" lvl="0" indent="0" algn="l" defTabSz="914400" rtl="0" eaLnBrk="1" fontAlgn="base" latinLnBrk="0" hangingPunct="1">
                <a:lnSpc>
                  <a:spcPct val="110000"/>
                </a:lnSpc>
                <a:spcBef>
                  <a:spcPct val="1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p[2]</a:t>
              </a:r>
            </a:p>
          </p:txBody>
        </p:sp>
        <p:sp>
          <p:nvSpPr>
            <p:cNvPr id="601129" name="Text Box 41"/>
            <p:cNvSpPr txBox="1">
              <a:spLocks noChangeArrowheads="1"/>
            </p:cNvSpPr>
            <p:nvPr/>
          </p:nvSpPr>
          <p:spPr bwMode="auto">
            <a:xfrm>
              <a:off x="3039" y="1593"/>
              <a:ext cx="9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指针数组</a:t>
              </a: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p</a:t>
              </a:r>
            </a:p>
          </p:txBody>
        </p:sp>
      </p:grpSp>
      <p:sp>
        <p:nvSpPr>
          <p:cNvPr id="601130" name="Text Box 42"/>
          <p:cNvSpPr txBox="1">
            <a:spLocks noChangeArrowheads="1"/>
          </p:cNvSpPr>
          <p:nvPr/>
        </p:nvSpPr>
        <p:spPr bwMode="auto">
          <a:xfrm>
            <a:off x="5706855" y="2055675"/>
            <a:ext cx="6588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&amp;x</a:t>
            </a:r>
          </a:p>
        </p:txBody>
      </p:sp>
      <p:sp>
        <p:nvSpPr>
          <p:cNvPr id="601131" name="Text Box 43"/>
          <p:cNvSpPr txBox="1">
            <a:spLocks noChangeArrowheads="1"/>
          </p:cNvSpPr>
          <p:nvPr/>
        </p:nvSpPr>
        <p:spPr bwMode="auto">
          <a:xfrm>
            <a:off x="5706855" y="2581137"/>
            <a:ext cx="658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&amp;y</a:t>
            </a:r>
          </a:p>
        </p:txBody>
      </p:sp>
      <p:sp>
        <p:nvSpPr>
          <p:cNvPr id="601132" name="Text Box 44"/>
          <p:cNvSpPr txBox="1">
            <a:spLocks noChangeArrowheads="1"/>
          </p:cNvSpPr>
          <p:nvPr/>
        </p:nvSpPr>
        <p:spPr bwMode="auto">
          <a:xfrm>
            <a:off x="5886243" y="3063737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</a:t>
            </a:r>
          </a:p>
        </p:txBody>
      </p:sp>
      <p:sp>
        <p:nvSpPr>
          <p:cNvPr id="601134" name="Rectangle 46"/>
          <p:cNvSpPr>
            <a:spLocks noChangeArrowheads="1"/>
          </p:cNvSpPr>
          <p:nvPr/>
        </p:nvSpPr>
        <p:spPr bwMode="auto">
          <a:xfrm>
            <a:off x="110918" y="906325"/>
            <a:ext cx="753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由于指针数组的每个元素为指针，因此只能存储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地址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。</a:t>
            </a:r>
          </a:p>
        </p:txBody>
      </p:sp>
      <p:sp>
        <p:nvSpPr>
          <p:cNvPr id="601135" name="AutoShape 47"/>
          <p:cNvSpPr>
            <a:spLocks noChangeArrowheads="1"/>
          </p:cNvSpPr>
          <p:nvPr/>
        </p:nvSpPr>
        <p:spPr bwMode="auto">
          <a:xfrm>
            <a:off x="2141330" y="4381362"/>
            <a:ext cx="3384550" cy="1655763"/>
          </a:xfrm>
          <a:prstGeom prst="cloudCallout">
            <a:avLst>
              <a:gd name="adj1" fmla="val 91884"/>
              <a:gd name="adj2" fmla="val -45301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如果利用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访问数组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a[1],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如何写？</a:t>
            </a:r>
          </a:p>
        </p:txBody>
      </p:sp>
      <p:sp>
        <p:nvSpPr>
          <p:cNvPr id="601136" name="Rectangle 48"/>
          <p:cNvSpPr>
            <a:spLocks noChangeArrowheads="1"/>
          </p:cNvSpPr>
          <p:nvPr/>
        </p:nvSpPr>
        <p:spPr bwMode="auto">
          <a:xfrm>
            <a:off x="6122780" y="5352912"/>
            <a:ext cx="2609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可写成：*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(p[2]+1)</a:t>
            </a:r>
          </a:p>
        </p:txBody>
      </p:sp>
      <p:sp>
        <p:nvSpPr>
          <p:cNvPr id="601137" name="Rectangle 49"/>
          <p:cNvSpPr>
            <a:spLocks noChangeArrowheads="1"/>
          </p:cNvSpPr>
          <p:nvPr/>
        </p:nvSpPr>
        <p:spPr bwMode="auto">
          <a:xfrm>
            <a:off x="6175168" y="5795825"/>
            <a:ext cx="1446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或 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p[2][1]</a:t>
            </a:r>
          </a:p>
        </p:txBody>
      </p:sp>
      <p:sp>
        <p:nvSpPr>
          <p:cNvPr id="52" name="Rectangle 5"/>
          <p:cNvSpPr txBox="1">
            <a:spLocks noChangeArrowheads="1"/>
          </p:cNvSpPr>
          <p:nvPr/>
        </p:nvSpPr>
        <p:spPr>
          <a:xfrm>
            <a:off x="0" y="238125"/>
            <a:ext cx="3732213" cy="442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buClr>
                <a:srgbClr val="3333FF"/>
              </a:buClr>
            </a:pPr>
            <a:r>
              <a:rPr kumimoji="1"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6.5.1 </a:t>
            </a:r>
            <a:r>
              <a:rPr kumimoji="1"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指针数组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06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00"/>
                                        <p:tgtEl>
                                          <p:spTgt spid="60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60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60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60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60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60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0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0" grpId="0" animBg="1"/>
      <p:bldP spid="601091" grpId="0"/>
      <p:bldP spid="601092" grpId="0"/>
      <p:bldP spid="601130" grpId="0"/>
      <p:bldP spid="601131" grpId="0"/>
      <p:bldP spid="601132" grpId="0"/>
      <p:bldP spid="601135" grpId="0" animBg="1"/>
      <p:bldP spid="601136" grpId="0"/>
      <p:bldP spid="60113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Text Box 2"/>
          <p:cNvSpPr txBox="1">
            <a:spLocks noChangeArrowheads="1"/>
          </p:cNvSpPr>
          <p:nvPr/>
        </p:nvSpPr>
        <p:spPr bwMode="auto">
          <a:xfrm>
            <a:off x="40102" y="831311"/>
            <a:ext cx="7381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6.20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: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对多个字符串进行排序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6031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648457"/>
              </p:ext>
            </p:extLst>
          </p:nvPr>
        </p:nvGraphicFramePr>
        <p:xfrm>
          <a:off x="5288653" y="1395415"/>
          <a:ext cx="3457575" cy="1816608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3524991516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4237144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95990829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75869741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53800447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171058286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3859959192"/>
                    </a:ext>
                  </a:extLst>
                </a:gridCol>
              </a:tblGrid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73180"/>
                  </a:ext>
                </a:extLst>
              </a:tr>
              <a:tr h="3381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097074"/>
                  </a:ext>
                </a:extLst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575018"/>
                  </a:ext>
                </a:extLst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472322"/>
                  </a:ext>
                </a:extLst>
              </a:tr>
            </a:tbl>
          </a:graphicData>
        </a:graphic>
      </p:graphicFrame>
      <p:graphicFrame>
        <p:nvGraphicFramePr>
          <p:cNvPr id="603233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229720"/>
              </p:ext>
            </p:extLst>
          </p:nvPr>
        </p:nvGraphicFramePr>
        <p:xfrm>
          <a:off x="5288653" y="3790952"/>
          <a:ext cx="3457575" cy="1816608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906959691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50923328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4193489999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122132194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68479263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94609347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3349107948"/>
                    </a:ext>
                  </a:extLst>
                </a:gridCol>
              </a:tblGrid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310614"/>
                  </a:ext>
                </a:extLst>
              </a:tr>
              <a:tr h="3381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737737"/>
                  </a:ext>
                </a:extLst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748505"/>
                  </a:ext>
                </a:extLst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471813"/>
                  </a:ext>
                </a:extLst>
              </a:tr>
            </a:tbl>
          </a:graphicData>
        </a:graphic>
      </p:graphicFrame>
      <p:grpSp>
        <p:nvGrpSpPr>
          <p:cNvPr id="603223" name="Group 87"/>
          <p:cNvGrpSpPr>
            <a:grpSpLocks/>
          </p:cNvGrpSpPr>
          <p:nvPr/>
        </p:nvGrpSpPr>
        <p:grpSpPr bwMode="auto">
          <a:xfrm>
            <a:off x="6585641" y="3268665"/>
            <a:ext cx="2087562" cy="504825"/>
            <a:chOff x="4490" y="1887"/>
            <a:chExt cx="260" cy="318"/>
          </a:xfrm>
        </p:grpSpPr>
        <p:sp>
          <p:nvSpPr>
            <p:cNvPr id="603224" name="Line 88"/>
            <p:cNvSpPr>
              <a:spLocks noChangeShapeType="1"/>
            </p:cNvSpPr>
            <p:nvPr/>
          </p:nvSpPr>
          <p:spPr bwMode="auto">
            <a:xfrm>
              <a:off x="4490" y="1887"/>
              <a:ext cx="0" cy="318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3225" name="Text Box 89"/>
            <p:cNvSpPr txBox="1">
              <a:spLocks noChangeArrowheads="1"/>
            </p:cNvSpPr>
            <p:nvPr/>
          </p:nvSpPr>
          <p:spPr bwMode="auto">
            <a:xfrm>
              <a:off x="4536" y="1888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排序</a:t>
              </a:r>
            </a:p>
          </p:txBody>
        </p:sp>
      </p:grpSp>
      <p:sp>
        <p:nvSpPr>
          <p:cNvPr id="603226" name="Text Box 90"/>
          <p:cNvSpPr txBox="1">
            <a:spLocks noChangeArrowheads="1"/>
          </p:cNvSpPr>
          <p:nvPr/>
        </p:nvSpPr>
        <p:spPr bwMode="auto">
          <a:xfrm>
            <a:off x="75027" y="2115060"/>
            <a:ext cx="48609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思考：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①二维字符数组定义成多大合适？</a:t>
            </a:r>
          </a:p>
        </p:txBody>
      </p:sp>
      <p:sp>
        <p:nvSpPr>
          <p:cNvPr id="603227" name="Text Box 91"/>
          <p:cNvSpPr txBox="1">
            <a:spLocks noChangeArrowheads="1"/>
          </p:cNvSpPr>
          <p:nvPr/>
        </p:nvSpPr>
        <p:spPr bwMode="auto">
          <a:xfrm>
            <a:off x="40102" y="3086610"/>
            <a:ext cx="4932363" cy="830997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第一维的长度取决于有几个字符串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第二维的长度由最长的字符串决定</a:t>
            </a:r>
          </a:p>
        </p:txBody>
      </p:sp>
      <p:sp>
        <p:nvSpPr>
          <p:cNvPr id="603228" name="Text Box 92"/>
          <p:cNvSpPr txBox="1">
            <a:spLocks noChangeArrowheads="1"/>
          </p:cNvSpPr>
          <p:nvPr/>
        </p:nvSpPr>
        <p:spPr bwMode="auto">
          <a:xfrm>
            <a:off x="76615" y="4785235"/>
            <a:ext cx="4932362" cy="82232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字符串的比较和交换应使用相应的字符串函数</a:t>
            </a:r>
          </a:p>
        </p:txBody>
      </p:sp>
      <p:sp>
        <p:nvSpPr>
          <p:cNvPr id="603229" name="Rectangle 93"/>
          <p:cNvSpPr>
            <a:spLocks noChangeArrowheads="1"/>
          </p:cNvSpPr>
          <p:nvPr/>
        </p:nvSpPr>
        <p:spPr bwMode="auto">
          <a:xfrm>
            <a:off x="75027" y="4131185"/>
            <a:ext cx="4608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②字符串怎样比较和交换？</a:t>
            </a:r>
          </a:p>
        </p:txBody>
      </p:sp>
      <p:sp>
        <p:nvSpPr>
          <p:cNvPr id="603230" name="Text Box 94"/>
          <p:cNvSpPr txBox="1">
            <a:spLocks noChangeArrowheads="1"/>
          </p:cNvSpPr>
          <p:nvPr/>
        </p:nvSpPr>
        <p:spPr bwMode="auto">
          <a:xfrm>
            <a:off x="40102" y="1538797"/>
            <a:ext cx="4608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方法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: 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用二维字符数组编程实现</a:t>
            </a:r>
          </a:p>
        </p:txBody>
      </p:sp>
      <p:sp>
        <p:nvSpPr>
          <p:cNvPr id="603231" name="Rectangle 95"/>
          <p:cNvSpPr>
            <a:spLocks noChangeArrowheads="1"/>
          </p:cNvSpPr>
          <p:nvPr/>
        </p:nvSpPr>
        <p:spPr bwMode="auto">
          <a:xfrm>
            <a:off x="71438" y="138113"/>
            <a:ext cx="619283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>
              <a:buClr>
                <a:srgbClr val="3333FF"/>
              </a:buClr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6.5.1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指针数组</a:t>
            </a:r>
          </a:p>
        </p:txBody>
      </p:sp>
    </p:spTree>
    <p:extLst>
      <p:ext uri="{BB962C8B-B14F-4D97-AF65-F5344CB8AC3E}">
        <p14:creationId xmlns:p14="http://schemas.microsoft.com/office/powerpoint/2010/main" val="277627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1000"/>
                                        <p:tgtEl>
                                          <p:spTgt spid="60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0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0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0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60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60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226" grpId="0"/>
      <p:bldP spid="603227" grpId="0" animBg="1"/>
      <p:bldP spid="603228" grpId="0" animBg="1"/>
      <p:bldP spid="603229" grpId="0"/>
      <p:bldP spid="60323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Text Box 2"/>
          <p:cNvSpPr txBox="1">
            <a:spLocks noChangeArrowheads="1"/>
          </p:cNvSpPr>
          <p:nvPr/>
        </p:nvSpPr>
        <p:spPr bwMode="auto">
          <a:xfrm>
            <a:off x="431800" y="3116263"/>
            <a:ext cx="163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char *p[4];</a:t>
            </a:r>
          </a:p>
        </p:txBody>
      </p:sp>
      <p:graphicFrame>
        <p:nvGraphicFramePr>
          <p:cNvPr id="605187" name="Group 3"/>
          <p:cNvGraphicFramePr>
            <a:graphicFrameLocks noGrp="1"/>
          </p:cNvGraphicFramePr>
          <p:nvPr/>
        </p:nvGraphicFramePr>
        <p:xfrm>
          <a:off x="468313" y="3752850"/>
          <a:ext cx="923925" cy="2072640"/>
        </p:xfrm>
        <a:graphic>
          <a:graphicData uri="http://schemas.openxmlformats.org/drawingml/2006/table">
            <a:tbl>
              <a:tblPr/>
              <a:tblGrid>
                <a:gridCol w="923925">
                  <a:extLst>
                    <a:ext uri="{9D8B030D-6E8A-4147-A177-3AD203B41FA5}">
                      <a16:colId xmlns:a16="http://schemas.microsoft.com/office/drawing/2014/main" val="3830041848"/>
                    </a:ext>
                  </a:extLst>
                </a:gridCol>
              </a:tblGrid>
              <a:tr h="461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739917"/>
                  </a:ext>
                </a:extLst>
              </a:tr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695903"/>
                  </a:ext>
                </a:extLst>
              </a:tr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043554"/>
                  </a:ext>
                </a:extLst>
              </a:tr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876693"/>
                  </a:ext>
                </a:extLst>
              </a:tr>
            </a:tbl>
          </a:graphicData>
        </a:graphic>
      </p:graphicFrame>
      <p:sp>
        <p:nvSpPr>
          <p:cNvPr id="605199" name="Line 15"/>
          <p:cNvSpPr>
            <a:spLocks noChangeShapeType="1"/>
          </p:cNvSpPr>
          <p:nvPr/>
        </p:nvSpPr>
        <p:spPr bwMode="auto">
          <a:xfrm>
            <a:off x="1427163" y="3959225"/>
            <a:ext cx="6842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5200" name="Line 16"/>
          <p:cNvSpPr>
            <a:spLocks noChangeShapeType="1"/>
          </p:cNvSpPr>
          <p:nvPr/>
        </p:nvSpPr>
        <p:spPr bwMode="auto">
          <a:xfrm>
            <a:off x="1428750" y="4498975"/>
            <a:ext cx="6842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5201" name="Line 17"/>
          <p:cNvSpPr>
            <a:spLocks noChangeShapeType="1"/>
          </p:cNvSpPr>
          <p:nvPr/>
        </p:nvSpPr>
        <p:spPr bwMode="auto">
          <a:xfrm>
            <a:off x="1428750" y="5038725"/>
            <a:ext cx="6842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5202" name="Line 18"/>
          <p:cNvSpPr>
            <a:spLocks noChangeShapeType="1"/>
          </p:cNvSpPr>
          <p:nvPr/>
        </p:nvSpPr>
        <p:spPr bwMode="auto">
          <a:xfrm>
            <a:off x="1427163" y="5543550"/>
            <a:ext cx="6842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5203" name="Text Box 19"/>
          <p:cNvSpPr txBox="1">
            <a:spLocks noChangeArrowheads="1"/>
          </p:cNvSpPr>
          <p:nvPr/>
        </p:nvSpPr>
        <p:spPr bwMode="auto">
          <a:xfrm>
            <a:off x="107950" y="115888"/>
            <a:ext cx="7812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指针数组的优势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- </a:t>
            </a:r>
            <a:r>
              <a:rPr kumimoji="1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可以节省内存空间</a:t>
            </a:r>
          </a:p>
        </p:txBody>
      </p:sp>
      <p:graphicFrame>
        <p:nvGraphicFramePr>
          <p:cNvPr id="605204" name="Group 20"/>
          <p:cNvGraphicFramePr>
            <a:graphicFrameLocks noGrp="1"/>
          </p:cNvGraphicFramePr>
          <p:nvPr/>
        </p:nvGraphicFramePr>
        <p:xfrm>
          <a:off x="2292350" y="3644900"/>
          <a:ext cx="3832225" cy="468313"/>
        </p:xfrm>
        <a:graphic>
          <a:graphicData uri="http://schemas.openxmlformats.org/drawingml/2006/table">
            <a:tbl>
              <a:tblPr/>
              <a:tblGrid>
                <a:gridCol w="547688">
                  <a:extLst>
                    <a:ext uri="{9D8B030D-6E8A-4147-A177-3AD203B41FA5}">
                      <a16:colId xmlns:a16="http://schemas.microsoft.com/office/drawing/2014/main" val="777083397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967520969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816587967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170063321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409571246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793881831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88213471"/>
                    </a:ext>
                  </a:extLst>
                </a:gridCol>
              </a:tblGrid>
              <a:tr h="4683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97517"/>
                  </a:ext>
                </a:extLst>
              </a:tr>
            </a:tbl>
          </a:graphicData>
        </a:graphic>
      </p:graphicFrame>
      <p:graphicFrame>
        <p:nvGraphicFramePr>
          <p:cNvPr id="605222" name="Group 38"/>
          <p:cNvGraphicFramePr>
            <a:graphicFrameLocks noGrp="1"/>
          </p:cNvGraphicFramePr>
          <p:nvPr/>
        </p:nvGraphicFramePr>
        <p:xfrm>
          <a:off x="2292350" y="4221163"/>
          <a:ext cx="3284538" cy="457200"/>
        </p:xfrm>
        <a:graphic>
          <a:graphicData uri="http://schemas.openxmlformats.org/drawingml/2006/table">
            <a:tbl>
              <a:tblPr/>
              <a:tblGrid>
                <a:gridCol w="547688">
                  <a:extLst>
                    <a:ext uri="{9D8B030D-6E8A-4147-A177-3AD203B41FA5}">
                      <a16:colId xmlns:a16="http://schemas.microsoft.com/office/drawing/2014/main" val="1506350485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885518356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1691934595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114491445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1743917814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3519651000"/>
                    </a:ext>
                  </a:extLst>
                </a:gridCol>
              </a:tblGrid>
              <a:tr h="4000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446282"/>
                  </a:ext>
                </a:extLst>
              </a:tr>
            </a:tbl>
          </a:graphicData>
        </a:graphic>
      </p:graphicFrame>
      <p:graphicFrame>
        <p:nvGraphicFramePr>
          <p:cNvPr id="605238" name="Group 54"/>
          <p:cNvGraphicFramePr>
            <a:graphicFrameLocks noGrp="1"/>
          </p:cNvGraphicFramePr>
          <p:nvPr/>
        </p:nvGraphicFramePr>
        <p:xfrm>
          <a:off x="2292350" y="4810125"/>
          <a:ext cx="1643063" cy="457200"/>
        </p:xfrm>
        <a:graphic>
          <a:graphicData uri="http://schemas.openxmlformats.org/drawingml/2006/table">
            <a:tbl>
              <a:tblPr/>
              <a:tblGrid>
                <a:gridCol w="547688">
                  <a:extLst>
                    <a:ext uri="{9D8B030D-6E8A-4147-A177-3AD203B41FA5}">
                      <a16:colId xmlns:a16="http://schemas.microsoft.com/office/drawing/2014/main" val="1918124109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1794751856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3678085629"/>
                    </a:ext>
                  </a:extLst>
                </a:gridCol>
              </a:tblGrid>
              <a:tr h="4460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881109"/>
                  </a:ext>
                </a:extLst>
              </a:tr>
            </a:tbl>
          </a:graphicData>
        </a:graphic>
      </p:graphicFrame>
      <p:graphicFrame>
        <p:nvGraphicFramePr>
          <p:cNvPr id="605248" name="Group 64"/>
          <p:cNvGraphicFramePr>
            <a:graphicFrameLocks noGrp="1"/>
          </p:cNvGraphicFramePr>
          <p:nvPr/>
        </p:nvGraphicFramePr>
        <p:xfrm>
          <a:off x="2292350" y="5421313"/>
          <a:ext cx="2736850" cy="457200"/>
        </p:xfrm>
        <a:graphic>
          <a:graphicData uri="http://schemas.openxmlformats.org/drawingml/2006/table">
            <a:tbl>
              <a:tblPr/>
              <a:tblGrid>
                <a:gridCol w="547688">
                  <a:extLst>
                    <a:ext uri="{9D8B030D-6E8A-4147-A177-3AD203B41FA5}">
                      <a16:colId xmlns:a16="http://schemas.microsoft.com/office/drawing/2014/main" val="1771987172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540034689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568063238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4094500965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315153035"/>
                    </a:ext>
                  </a:extLst>
                </a:gridCol>
              </a:tblGrid>
              <a:tr h="4460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780395"/>
                  </a:ext>
                </a:extLst>
              </a:tr>
            </a:tbl>
          </a:graphicData>
        </a:graphic>
      </p:graphicFrame>
      <p:graphicFrame>
        <p:nvGraphicFramePr>
          <p:cNvPr id="605262" name="Group 78"/>
          <p:cNvGraphicFramePr>
            <a:graphicFrameLocks noGrp="1"/>
          </p:cNvGraphicFramePr>
          <p:nvPr/>
        </p:nvGraphicFramePr>
        <p:xfrm>
          <a:off x="395288" y="1196975"/>
          <a:ext cx="3457575" cy="1845056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4281284599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32257789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454757840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369225213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1874780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5611497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856283830"/>
                    </a:ext>
                  </a:extLst>
                </a:gridCol>
              </a:tblGrid>
              <a:tr h="2921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190529"/>
                  </a:ext>
                </a:extLst>
              </a:tr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981840"/>
                  </a:ext>
                </a:extLst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569213"/>
                  </a:ext>
                </a:extLst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040103"/>
                  </a:ext>
                </a:extLst>
              </a:tr>
            </a:tbl>
          </a:graphicData>
        </a:graphic>
      </p:graphicFrame>
      <p:sp>
        <p:nvSpPr>
          <p:cNvPr id="605304" name="Rectangle 120"/>
          <p:cNvSpPr>
            <a:spLocks noChangeArrowheads="1"/>
          </p:cNvSpPr>
          <p:nvPr/>
        </p:nvSpPr>
        <p:spPr bwMode="auto">
          <a:xfrm>
            <a:off x="180975" y="706438"/>
            <a:ext cx="863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如果使用二维数组存储长度不等的字符串，存在空间浪费</a:t>
            </a:r>
          </a:p>
        </p:txBody>
      </p:sp>
      <p:sp>
        <p:nvSpPr>
          <p:cNvPr id="605305" name="AutoShape 121"/>
          <p:cNvSpPr>
            <a:spLocks noChangeArrowheads="1"/>
          </p:cNvSpPr>
          <p:nvPr/>
        </p:nvSpPr>
        <p:spPr bwMode="auto">
          <a:xfrm>
            <a:off x="4824413" y="1160463"/>
            <a:ext cx="2160587" cy="1008062"/>
          </a:xfrm>
          <a:prstGeom prst="wedgeRoundRectCallout">
            <a:avLst>
              <a:gd name="adj1" fmla="val -125384"/>
              <a:gd name="adj2" fmla="val 18505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闲置的内存空间</a:t>
            </a:r>
          </a:p>
        </p:txBody>
      </p:sp>
      <p:sp>
        <p:nvSpPr>
          <p:cNvPr id="605306" name="AutoShape 122"/>
          <p:cNvSpPr>
            <a:spLocks noChangeArrowheads="1"/>
          </p:cNvSpPr>
          <p:nvPr/>
        </p:nvSpPr>
        <p:spPr bwMode="auto">
          <a:xfrm>
            <a:off x="6696075" y="2457450"/>
            <a:ext cx="2160588" cy="2557463"/>
          </a:xfrm>
          <a:prstGeom prst="wedgeRoundRectCallout">
            <a:avLst>
              <a:gd name="adj1" fmla="val -226417"/>
              <a:gd name="adj2" fmla="val -1095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使用字符指针数组可以指向多个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长度不等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的字符串，不存在空间浪费。</a:t>
            </a:r>
          </a:p>
        </p:txBody>
      </p:sp>
    </p:spTree>
    <p:extLst>
      <p:ext uri="{BB962C8B-B14F-4D97-AF65-F5344CB8AC3E}">
        <p14:creationId xmlns:p14="http://schemas.microsoft.com/office/powerpoint/2010/main" val="295780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0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0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0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86" grpId="0"/>
      <p:bldP spid="605304" grpId="0"/>
      <p:bldP spid="605305" grpId="0" animBg="1"/>
      <p:bldP spid="60530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Text Box 2"/>
          <p:cNvSpPr txBox="1">
            <a:spLocks noChangeArrowheads="1"/>
          </p:cNvSpPr>
          <p:nvPr/>
        </p:nvSpPr>
        <p:spPr bwMode="auto">
          <a:xfrm>
            <a:off x="142875" y="44450"/>
            <a:ext cx="7381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指针数组的优势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- </a:t>
            </a:r>
            <a:r>
              <a:rPr kumimoji="1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可以提高排序效率</a:t>
            </a:r>
          </a:p>
        </p:txBody>
      </p:sp>
      <p:graphicFrame>
        <p:nvGraphicFramePr>
          <p:cNvPr id="607235" name="Group 3"/>
          <p:cNvGraphicFramePr>
            <a:graphicFrameLocks noGrp="1"/>
          </p:cNvGraphicFramePr>
          <p:nvPr/>
        </p:nvGraphicFramePr>
        <p:xfrm>
          <a:off x="265113" y="3557588"/>
          <a:ext cx="923925" cy="1645603"/>
        </p:xfrm>
        <a:graphic>
          <a:graphicData uri="http://schemas.openxmlformats.org/drawingml/2006/table">
            <a:tbl>
              <a:tblPr/>
              <a:tblGrid>
                <a:gridCol w="923925">
                  <a:extLst>
                    <a:ext uri="{9D8B030D-6E8A-4147-A177-3AD203B41FA5}">
                      <a16:colId xmlns:a16="http://schemas.microsoft.com/office/drawing/2014/main" val="2186715245"/>
                    </a:ext>
                  </a:extLst>
                </a:gridCol>
              </a:tblGrid>
              <a:tr h="4159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131760"/>
                  </a:ext>
                </a:extLst>
              </a:tr>
              <a:tr h="4175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38044"/>
                  </a:ext>
                </a:extLst>
              </a:tr>
              <a:tr h="4159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348584"/>
                  </a:ext>
                </a:extLst>
              </a:tr>
              <a:tr h="3889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21333"/>
                  </a:ext>
                </a:extLst>
              </a:tr>
            </a:tbl>
          </a:graphicData>
        </a:graphic>
      </p:graphicFrame>
      <p:graphicFrame>
        <p:nvGraphicFramePr>
          <p:cNvPr id="607247" name="Group 15"/>
          <p:cNvGraphicFramePr>
            <a:graphicFrameLocks noGrp="1"/>
          </p:cNvGraphicFramePr>
          <p:nvPr/>
        </p:nvGraphicFramePr>
        <p:xfrm>
          <a:off x="1943100" y="3575050"/>
          <a:ext cx="1692275" cy="1692276"/>
        </p:xfrm>
        <a:graphic>
          <a:graphicData uri="http://schemas.openxmlformats.org/drawingml/2006/table">
            <a:tbl>
              <a:tblPr/>
              <a:tblGrid>
                <a:gridCol w="1692275">
                  <a:extLst>
                    <a:ext uri="{9D8B030D-6E8A-4147-A177-3AD203B41FA5}">
                      <a16:colId xmlns:a16="http://schemas.microsoft.com/office/drawing/2014/main" val="1142799953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Pascal\0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03742"/>
                  </a:ext>
                </a:extLst>
              </a:tr>
              <a:tr h="4206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VC\0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71302"/>
                  </a:ext>
                </a:extLst>
              </a:tr>
              <a:tr h="4206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Basic\0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760702"/>
                  </a:ext>
                </a:extLst>
              </a:tr>
              <a:tr h="444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Java\0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652783"/>
                  </a:ext>
                </a:extLst>
              </a:tr>
            </a:tbl>
          </a:graphicData>
        </a:graphic>
      </p:graphicFrame>
      <p:grpSp>
        <p:nvGrpSpPr>
          <p:cNvPr id="607259" name="Group 27"/>
          <p:cNvGrpSpPr>
            <a:grpSpLocks/>
          </p:cNvGrpSpPr>
          <p:nvPr/>
        </p:nvGrpSpPr>
        <p:grpSpPr bwMode="auto">
          <a:xfrm>
            <a:off x="1223963" y="3683000"/>
            <a:ext cx="685800" cy="1368425"/>
            <a:chOff x="771" y="2284"/>
            <a:chExt cx="432" cy="862"/>
          </a:xfrm>
        </p:grpSpPr>
        <p:sp>
          <p:nvSpPr>
            <p:cNvPr id="607260" name="Line 28"/>
            <p:cNvSpPr>
              <a:spLocks noChangeShapeType="1"/>
            </p:cNvSpPr>
            <p:nvPr/>
          </p:nvSpPr>
          <p:spPr bwMode="auto">
            <a:xfrm>
              <a:off x="771" y="2284"/>
              <a:ext cx="43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7261" name="Line 29"/>
            <p:cNvSpPr>
              <a:spLocks noChangeShapeType="1"/>
            </p:cNvSpPr>
            <p:nvPr/>
          </p:nvSpPr>
          <p:spPr bwMode="auto">
            <a:xfrm>
              <a:off x="772" y="2579"/>
              <a:ext cx="43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7262" name="Line 30"/>
            <p:cNvSpPr>
              <a:spLocks noChangeShapeType="1"/>
            </p:cNvSpPr>
            <p:nvPr/>
          </p:nvSpPr>
          <p:spPr bwMode="auto">
            <a:xfrm>
              <a:off x="772" y="2874"/>
              <a:ext cx="43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7263" name="Line 31"/>
            <p:cNvSpPr>
              <a:spLocks noChangeShapeType="1"/>
            </p:cNvSpPr>
            <p:nvPr/>
          </p:nvSpPr>
          <p:spPr bwMode="auto">
            <a:xfrm>
              <a:off x="771" y="3146"/>
              <a:ext cx="43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607264" name="Group 32"/>
          <p:cNvGraphicFramePr>
            <a:graphicFrameLocks noGrp="1"/>
          </p:cNvGraphicFramePr>
          <p:nvPr/>
        </p:nvGraphicFramePr>
        <p:xfrm>
          <a:off x="5003800" y="3648075"/>
          <a:ext cx="923925" cy="1638301"/>
        </p:xfrm>
        <a:graphic>
          <a:graphicData uri="http://schemas.openxmlformats.org/drawingml/2006/table">
            <a:tbl>
              <a:tblPr/>
              <a:tblGrid>
                <a:gridCol w="923925">
                  <a:extLst>
                    <a:ext uri="{9D8B030D-6E8A-4147-A177-3AD203B41FA5}">
                      <a16:colId xmlns:a16="http://schemas.microsoft.com/office/drawing/2014/main" val="2849782630"/>
                    </a:ext>
                  </a:extLst>
                </a:gridCol>
              </a:tblGrid>
              <a:tr h="4079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590666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40359"/>
                  </a:ext>
                </a:extLst>
              </a:tr>
              <a:tr h="4079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044255"/>
                  </a:ext>
                </a:extLst>
              </a:tr>
              <a:tr h="4159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009220"/>
                  </a:ext>
                </a:extLst>
              </a:tr>
            </a:tbl>
          </a:graphicData>
        </a:graphic>
      </p:graphicFrame>
      <p:sp>
        <p:nvSpPr>
          <p:cNvPr id="607276" name="Line 44"/>
          <p:cNvSpPr>
            <a:spLocks noChangeShapeType="1"/>
          </p:cNvSpPr>
          <p:nvPr/>
        </p:nvSpPr>
        <p:spPr bwMode="auto">
          <a:xfrm>
            <a:off x="6011863" y="3719513"/>
            <a:ext cx="684212" cy="9366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7277" name="Line 45"/>
          <p:cNvSpPr>
            <a:spLocks noChangeShapeType="1"/>
          </p:cNvSpPr>
          <p:nvPr/>
        </p:nvSpPr>
        <p:spPr bwMode="auto">
          <a:xfrm>
            <a:off x="6013450" y="4151313"/>
            <a:ext cx="717550" cy="1027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7278" name="Line 46"/>
          <p:cNvSpPr>
            <a:spLocks noChangeShapeType="1"/>
          </p:cNvSpPr>
          <p:nvPr/>
        </p:nvSpPr>
        <p:spPr bwMode="auto">
          <a:xfrm flipV="1">
            <a:off x="5976938" y="3648075"/>
            <a:ext cx="754062" cy="10429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7279" name="Line 47"/>
          <p:cNvSpPr>
            <a:spLocks noChangeShapeType="1"/>
          </p:cNvSpPr>
          <p:nvPr/>
        </p:nvSpPr>
        <p:spPr bwMode="auto">
          <a:xfrm flipV="1">
            <a:off x="5940425" y="4187825"/>
            <a:ext cx="790575" cy="971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07280" name="Group 48"/>
          <p:cNvGraphicFramePr>
            <a:graphicFrameLocks noGrp="1"/>
          </p:cNvGraphicFramePr>
          <p:nvPr/>
        </p:nvGraphicFramePr>
        <p:xfrm>
          <a:off x="6732588" y="3540125"/>
          <a:ext cx="1692275" cy="1727201"/>
        </p:xfrm>
        <a:graphic>
          <a:graphicData uri="http://schemas.openxmlformats.org/drawingml/2006/table">
            <a:tbl>
              <a:tblPr/>
              <a:tblGrid>
                <a:gridCol w="1692275">
                  <a:extLst>
                    <a:ext uri="{9D8B030D-6E8A-4147-A177-3AD203B41FA5}">
                      <a16:colId xmlns:a16="http://schemas.microsoft.com/office/drawing/2014/main" val="632836367"/>
                    </a:ext>
                  </a:extLst>
                </a:gridCol>
              </a:tblGrid>
              <a:tr h="425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Pascal\0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380924"/>
                  </a:ext>
                </a:extLst>
              </a:tr>
              <a:tr h="425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VC\0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88431"/>
                  </a:ext>
                </a:extLst>
              </a:tr>
              <a:tr h="4270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Basic\0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047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Java\0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52941"/>
                  </a:ext>
                </a:extLst>
              </a:tr>
            </a:tbl>
          </a:graphicData>
        </a:graphic>
      </p:graphicFrame>
      <p:grpSp>
        <p:nvGrpSpPr>
          <p:cNvPr id="607292" name="Group 60"/>
          <p:cNvGrpSpPr>
            <a:grpSpLocks/>
          </p:cNvGrpSpPr>
          <p:nvPr/>
        </p:nvGrpSpPr>
        <p:grpSpPr bwMode="auto">
          <a:xfrm>
            <a:off x="3708400" y="3971925"/>
            <a:ext cx="1223963" cy="457200"/>
            <a:chOff x="2404" y="1078"/>
            <a:chExt cx="771" cy="288"/>
          </a:xfrm>
        </p:grpSpPr>
        <p:sp>
          <p:nvSpPr>
            <p:cNvPr id="607293" name="Line 61"/>
            <p:cNvSpPr>
              <a:spLocks noChangeShapeType="1"/>
            </p:cNvSpPr>
            <p:nvPr/>
          </p:nvSpPr>
          <p:spPr bwMode="auto">
            <a:xfrm>
              <a:off x="2426" y="1366"/>
              <a:ext cx="749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7294" name="Text Box 62"/>
            <p:cNvSpPr txBox="1">
              <a:spLocks noChangeArrowheads="1"/>
            </p:cNvSpPr>
            <p:nvPr/>
          </p:nvSpPr>
          <p:spPr bwMode="auto">
            <a:xfrm>
              <a:off x="2404" y="1078"/>
              <a:ext cx="7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排序后</a:t>
              </a:r>
            </a:p>
          </p:txBody>
        </p:sp>
      </p:grpSp>
      <p:graphicFrame>
        <p:nvGraphicFramePr>
          <p:cNvPr id="607295" name="Group 63"/>
          <p:cNvGraphicFramePr>
            <a:graphicFrameLocks noGrp="1"/>
          </p:cNvGraphicFramePr>
          <p:nvPr/>
        </p:nvGraphicFramePr>
        <p:xfrm>
          <a:off x="179388" y="1260475"/>
          <a:ext cx="3313112" cy="1402080"/>
        </p:xfrm>
        <a:graphic>
          <a:graphicData uri="http://schemas.openxmlformats.org/drawingml/2006/table">
            <a:tbl>
              <a:tblPr/>
              <a:tblGrid>
                <a:gridCol w="474662">
                  <a:extLst>
                    <a:ext uri="{9D8B030D-6E8A-4147-A177-3AD203B41FA5}">
                      <a16:colId xmlns:a16="http://schemas.microsoft.com/office/drawing/2014/main" val="3255145599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1755814282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3578896068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3110968034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1397397395"/>
                    </a:ext>
                  </a:extLst>
                </a:gridCol>
                <a:gridCol w="461963">
                  <a:extLst>
                    <a:ext uri="{9D8B030D-6E8A-4147-A177-3AD203B41FA5}">
                      <a16:colId xmlns:a16="http://schemas.microsoft.com/office/drawing/2014/main" val="1657112816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248144522"/>
                    </a:ext>
                  </a:extLst>
                </a:gridCol>
              </a:tblGrid>
              <a:tr h="3206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55585"/>
                  </a:ext>
                </a:extLst>
              </a:tr>
              <a:tr h="3286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776167"/>
                  </a:ext>
                </a:extLst>
              </a:tr>
              <a:tr h="3095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70420"/>
                  </a:ext>
                </a:extLst>
              </a:tr>
              <a:tr h="2651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86426"/>
                  </a:ext>
                </a:extLst>
              </a:tr>
            </a:tbl>
          </a:graphicData>
        </a:graphic>
      </p:graphicFrame>
      <p:sp>
        <p:nvSpPr>
          <p:cNvPr id="607337" name="Rectangle 105"/>
          <p:cNvSpPr>
            <a:spLocks noChangeArrowheads="1"/>
          </p:cNvSpPr>
          <p:nvPr/>
        </p:nvSpPr>
        <p:spPr bwMode="auto">
          <a:xfrm>
            <a:off x="142875" y="712788"/>
            <a:ext cx="7129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使用二维数组排序，需要进行字符串位置交换</a:t>
            </a:r>
          </a:p>
        </p:txBody>
      </p:sp>
      <p:grpSp>
        <p:nvGrpSpPr>
          <p:cNvPr id="607338" name="Group 106"/>
          <p:cNvGrpSpPr>
            <a:grpSpLocks/>
          </p:cNvGrpSpPr>
          <p:nvPr/>
        </p:nvGrpSpPr>
        <p:grpSpPr bwMode="auto">
          <a:xfrm>
            <a:off x="3779838" y="1620838"/>
            <a:ext cx="1223962" cy="457200"/>
            <a:chOff x="2404" y="1078"/>
            <a:chExt cx="771" cy="288"/>
          </a:xfrm>
        </p:grpSpPr>
        <p:sp>
          <p:nvSpPr>
            <p:cNvPr id="607339" name="Line 107"/>
            <p:cNvSpPr>
              <a:spLocks noChangeShapeType="1"/>
            </p:cNvSpPr>
            <p:nvPr/>
          </p:nvSpPr>
          <p:spPr bwMode="auto">
            <a:xfrm>
              <a:off x="2426" y="1366"/>
              <a:ext cx="749" cy="0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7340" name="Text Box 108"/>
            <p:cNvSpPr txBox="1">
              <a:spLocks noChangeArrowheads="1"/>
            </p:cNvSpPr>
            <p:nvPr/>
          </p:nvSpPr>
          <p:spPr bwMode="auto">
            <a:xfrm>
              <a:off x="2404" y="1078"/>
              <a:ext cx="7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排序后</a:t>
              </a:r>
            </a:p>
          </p:txBody>
        </p:sp>
      </p:grpSp>
      <p:graphicFrame>
        <p:nvGraphicFramePr>
          <p:cNvPr id="607341" name="Group 109"/>
          <p:cNvGraphicFramePr>
            <a:graphicFrameLocks noGrp="1"/>
          </p:cNvGraphicFramePr>
          <p:nvPr/>
        </p:nvGraphicFramePr>
        <p:xfrm>
          <a:off x="5184775" y="1223963"/>
          <a:ext cx="3457575" cy="1402080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324136585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44975211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3165805047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4220327549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893283179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1474846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807589258"/>
                    </a:ext>
                  </a:extLst>
                </a:gridCol>
              </a:tblGrid>
              <a:tr h="3206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147411"/>
                  </a:ext>
                </a:extLst>
              </a:tr>
              <a:tr h="3381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627149"/>
                  </a:ext>
                </a:extLst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15267"/>
                  </a:ext>
                </a:extLst>
              </a:tr>
              <a:tr h="336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44837"/>
                  </a:ext>
                </a:extLst>
              </a:tr>
            </a:tbl>
          </a:graphicData>
        </a:graphic>
      </p:graphicFrame>
      <p:sp>
        <p:nvSpPr>
          <p:cNvPr id="607383" name="Rectangle 151"/>
          <p:cNvSpPr>
            <a:spLocks noChangeArrowheads="1"/>
          </p:cNvSpPr>
          <p:nvPr/>
        </p:nvSpPr>
        <p:spPr bwMode="auto">
          <a:xfrm>
            <a:off x="215900" y="2962275"/>
            <a:ext cx="781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使用指针数组排序，只需要交换指针变量的指向</a:t>
            </a:r>
          </a:p>
        </p:txBody>
      </p:sp>
    </p:spTree>
    <p:extLst>
      <p:ext uri="{BB962C8B-B14F-4D97-AF65-F5344CB8AC3E}">
        <p14:creationId xmlns:p14="http://schemas.microsoft.com/office/powerpoint/2010/main" val="324223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0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7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7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07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0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0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07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07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07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07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07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07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38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2" name="Text Box 2"/>
          <p:cNvSpPr txBox="1">
            <a:spLocks noChangeArrowheads="1"/>
          </p:cNvSpPr>
          <p:nvPr/>
        </p:nvSpPr>
        <p:spPr bwMode="auto">
          <a:xfrm>
            <a:off x="125205" y="677311"/>
            <a:ext cx="7381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使用指针数组实现</a:t>
            </a:r>
          </a:p>
        </p:txBody>
      </p:sp>
      <p:sp>
        <p:nvSpPr>
          <p:cNvPr id="609283" name="Text Box 3"/>
          <p:cNvSpPr txBox="1">
            <a:spLocks noChangeArrowheads="1"/>
          </p:cNvSpPr>
          <p:nvPr/>
        </p:nvSpPr>
        <p:spPr bwMode="auto">
          <a:xfrm>
            <a:off x="179388" y="1073772"/>
            <a:ext cx="6985000" cy="585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#include&lt;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stdio.h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#include&lt;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string.h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#define  N  4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void main( )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j;     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char *temp=NULL;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char 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*p[N]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={"Pascal", "VC", "Basic", "Java"};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printf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("\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nBefore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sorted:\n");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for(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&lt;N;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++)    puts(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p[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for(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&lt;N-1;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for(j=i+1; j&lt;N;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j++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	 if (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strcmp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p[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p[j]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)&gt;0)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	      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  temp=p[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];    p[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]=p[j];   p[j]=temp;    }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printf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("\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nAfter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sorted:\n");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for(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&lt;N; 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++)   puts(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p[</a:t>
            </a:r>
            <a:r>
              <a:rPr kumimoji="1" lang="en-US" altLang="zh-CN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}</a:t>
            </a:r>
          </a:p>
        </p:txBody>
      </p:sp>
      <p:sp>
        <p:nvSpPr>
          <p:cNvPr id="609284" name="Rectangle 4"/>
          <p:cNvSpPr>
            <a:spLocks noChangeArrowheads="1"/>
          </p:cNvSpPr>
          <p:nvPr/>
        </p:nvSpPr>
        <p:spPr bwMode="auto">
          <a:xfrm>
            <a:off x="395288" y="4232897"/>
            <a:ext cx="6767512" cy="1557337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9285" name="AutoShape 5"/>
          <p:cNvSpPr>
            <a:spLocks noChangeArrowheads="1"/>
          </p:cNvSpPr>
          <p:nvPr/>
        </p:nvSpPr>
        <p:spPr bwMode="auto">
          <a:xfrm>
            <a:off x="6227763" y="4313859"/>
            <a:ext cx="2700337" cy="720725"/>
          </a:xfrm>
          <a:prstGeom prst="wedgeRoundRectCallout">
            <a:avLst>
              <a:gd name="adj1" fmla="val -37889"/>
              <a:gd name="adj2" fmla="val 124009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交换的是字符串的起始地址 </a:t>
            </a:r>
          </a:p>
        </p:txBody>
      </p:sp>
      <p:sp>
        <p:nvSpPr>
          <p:cNvPr id="7" name="Rectangle 95"/>
          <p:cNvSpPr>
            <a:spLocks noChangeArrowheads="1"/>
          </p:cNvSpPr>
          <p:nvPr/>
        </p:nvSpPr>
        <p:spPr bwMode="auto">
          <a:xfrm>
            <a:off x="71438" y="138113"/>
            <a:ext cx="619283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>
              <a:buClr>
                <a:srgbClr val="3333FF"/>
              </a:buClr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6.5.1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指针数组</a:t>
            </a:r>
          </a:p>
        </p:txBody>
      </p:sp>
    </p:spTree>
    <p:extLst>
      <p:ext uri="{BB962C8B-B14F-4D97-AF65-F5344CB8AC3E}">
        <p14:creationId xmlns:p14="http://schemas.microsoft.com/office/powerpoint/2010/main" val="210267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28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0" name="Rectangle 2"/>
          <p:cNvSpPr>
            <a:spLocks noChangeArrowheads="1"/>
          </p:cNvSpPr>
          <p:nvPr/>
        </p:nvSpPr>
        <p:spPr bwMode="auto">
          <a:xfrm>
            <a:off x="7416800" y="4036695"/>
            <a:ext cx="1582738" cy="1944688"/>
          </a:xfrm>
          <a:prstGeom prst="rect">
            <a:avLst/>
          </a:prstGeom>
          <a:solidFill>
            <a:srgbClr val="FFCCFF"/>
          </a:solidFill>
          <a:ln w="254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31" name="Rectangle 3"/>
          <p:cNvSpPr>
            <a:spLocks noChangeArrowheads="1"/>
          </p:cNvSpPr>
          <p:nvPr/>
        </p:nvSpPr>
        <p:spPr bwMode="auto">
          <a:xfrm>
            <a:off x="4067175" y="4038283"/>
            <a:ext cx="3276600" cy="1944687"/>
          </a:xfrm>
          <a:prstGeom prst="rect">
            <a:avLst/>
          </a:prstGeom>
          <a:solidFill>
            <a:srgbClr val="CCFF99"/>
          </a:solidFill>
          <a:ln w="254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32" name="Rectangle 4"/>
          <p:cNvSpPr>
            <a:spLocks noChangeArrowheads="1"/>
          </p:cNvSpPr>
          <p:nvPr/>
        </p:nvSpPr>
        <p:spPr bwMode="auto">
          <a:xfrm>
            <a:off x="71438" y="4036695"/>
            <a:ext cx="3922712" cy="19446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1133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711062"/>
              </p:ext>
            </p:extLst>
          </p:nvPr>
        </p:nvGraphicFramePr>
        <p:xfrm>
          <a:off x="4651375" y="1634808"/>
          <a:ext cx="1104900" cy="2072640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605644689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977314"/>
                  </a:ext>
                </a:extLst>
              </a:tr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294778"/>
                  </a:ext>
                </a:extLst>
              </a:tr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711497"/>
                  </a:ext>
                </a:extLst>
              </a:tr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39418"/>
                  </a:ext>
                </a:extLst>
              </a:tr>
            </a:tbl>
          </a:graphicData>
        </a:graphic>
      </p:graphicFrame>
      <p:graphicFrame>
        <p:nvGraphicFramePr>
          <p:cNvPr id="6113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141047"/>
              </p:ext>
            </p:extLst>
          </p:nvPr>
        </p:nvGraphicFramePr>
        <p:xfrm>
          <a:off x="6515100" y="1634808"/>
          <a:ext cx="1692275" cy="2091055"/>
        </p:xfrm>
        <a:graphic>
          <a:graphicData uri="http://schemas.openxmlformats.org/drawingml/2006/table">
            <a:tbl>
              <a:tblPr/>
              <a:tblGrid>
                <a:gridCol w="1692275">
                  <a:extLst>
                    <a:ext uri="{9D8B030D-6E8A-4147-A177-3AD203B41FA5}">
                      <a16:colId xmlns:a16="http://schemas.microsoft.com/office/drawing/2014/main" val="757874395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Pascal\0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054118"/>
                  </a:ext>
                </a:extLst>
              </a:tr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VC\0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4662"/>
                  </a:ext>
                </a:extLst>
              </a:tr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Basic\0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886559"/>
                  </a:ext>
                </a:extLst>
              </a:tr>
              <a:tr h="5365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SzPct val="90000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70000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Java\0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321727"/>
                  </a:ext>
                </a:extLst>
              </a:tr>
            </a:tbl>
          </a:graphicData>
        </a:graphic>
      </p:graphicFrame>
      <p:sp>
        <p:nvSpPr>
          <p:cNvPr id="611357" name="Line 29"/>
          <p:cNvSpPr>
            <a:spLocks noChangeShapeType="1"/>
          </p:cNvSpPr>
          <p:nvPr/>
        </p:nvSpPr>
        <p:spPr bwMode="auto">
          <a:xfrm>
            <a:off x="5791200" y="1850708"/>
            <a:ext cx="6842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58" name="Line 30"/>
          <p:cNvSpPr>
            <a:spLocks noChangeShapeType="1"/>
          </p:cNvSpPr>
          <p:nvPr/>
        </p:nvSpPr>
        <p:spPr bwMode="auto">
          <a:xfrm>
            <a:off x="5792788" y="2390458"/>
            <a:ext cx="6842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59" name="Line 31"/>
          <p:cNvSpPr>
            <a:spLocks noChangeShapeType="1"/>
          </p:cNvSpPr>
          <p:nvPr/>
        </p:nvSpPr>
        <p:spPr bwMode="auto">
          <a:xfrm>
            <a:off x="5792788" y="2930208"/>
            <a:ext cx="6842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60" name="Line 32"/>
          <p:cNvSpPr>
            <a:spLocks noChangeShapeType="1"/>
          </p:cNvSpPr>
          <p:nvPr/>
        </p:nvSpPr>
        <p:spPr bwMode="auto">
          <a:xfrm>
            <a:off x="5791200" y="3435033"/>
            <a:ext cx="6842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61" name="Text Box 33"/>
          <p:cNvSpPr txBox="1">
            <a:spLocks noChangeArrowheads="1"/>
          </p:cNvSpPr>
          <p:nvPr/>
        </p:nvSpPr>
        <p:spPr bwMode="auto">
          <a:xfrm>
            <a:off x="142875" y="1301433"/>
            <a:ext cx="378618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for(i=0; i&lt;N-1; i++)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for(j=i+1; j&lt;N; j++)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if ( strcmp(p[i], p[j])&gt;0)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   temp=p[i];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p[i]=p[j];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p[j]=temp;  }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62" name="Text Box 34"/>
          <p:cNvSpPr txBox="1">
            <a:spLocks noChangeArrowheads="1"/>
          </p:cNvSpPr>
          <p:nvPr/>
        </p:nvSpPr>
        <p:spPr bwMode="auto">
          <a:xfrm>
            <a:off x="150813" y="833120"/>
            <a:ext cx="3663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排序过程演示</a:t>
            </a:r>
          </a:p>
        </p:txBody>
      </p:sp>
      <p:sp>
        <p:nvSpPr>
          <p:cNvPr id="611363" name="Text Box 35"/>
          <p:cNvSpPr txBox="1">
            <a:spLocks noChangeArrowheads="1"/>
          </p:cNvSpPr>
          <p:nvPr/>
        </p:nvSpPr>
        <p:spPr bwMode="auto">
          <a:xfrm>
            <a:off x="106363" y="4001770"/>
            <a:ext cx="11731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i=0, j=1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P≯V </a:t>
            </a:r>
          </a:p>
        </p:txBody>
      </p:sp>
      <p:sp>
        <p:nvSpPr>
          <p:cNvPr id="611364" name="Rectangle 36"/>
          <p:cNvSpPr>
            <a:spLocks noChangeArrowheads="1"/>
          </p:cNvSpPr>
          <p:nvPr/>
        </p:nvSpPr>
        <p:spPr bwMode="auto">
          <a:xfrm>
            <a:off x="4606925" y="869633"/>
            <a:ext cx="1079500" cy="5762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65" name="Text Box 37"/>
          <p:cNvSpPr txBox="1">
            <a:spLocks noChangeArrowheads="1"/>
          </p:cNvSpPr>
          <p:nvPr/>
        </p:nvSpPr>
        <p:spPr bwMode="auto">
          <a:xfrm>
            <a:off x="3797300" y="914083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temp</a:t>
            </a:r>
          </a:p>
        </p:txBody>
      </p:sp>
      <p:sp>
        <p:nvSpPr>
          <p:cNvPr id="611366" name="Text Box 38"/>
          <p:cNvSpPr txBox="1">
            <a:spLocks noChangeArrowheads="1"/>
          </p:cNvSpPr>
          <p:nvPr/>
        </p:nvSpPr>
        <p:spPr bwMode="auto">
          <a:xfrm>
            <a:off x="8178800" y="1669733"/>
            <a:ext cx="79375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2116</a:t>
            </a:r>
          </a:p>
        </p:txBody>
      </p:sp>
      <p:sp>
        <p:nvSpPr>
          <p:cNvPr id="611367" name="Text Box 39"/>
          <p:cNvSpPr txBox="1">
            <a:spLocks noChangeArrowheads="1"/>
          </p:cNvSpPr>
          <p:nvPr/>
        </p:nvSpPr>
        <p:spPr bwMode="auto">
          <a:xfrm>
            <a:off x="1293813" y="3989070"/>
            <a:ext cx="17208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i=0, j=2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P&gt;B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temp=p[0];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p[0]=p[2];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p[2]=temp; </a:t>
            </a:r>
          </a:p>
        </p:txBody>
      </p:sp>
      <p:sp>
        <p:nvSpPr>
          <p:cNvPr id="611368" name="Text Box 40"/>
          <p:cNvSpPr txBox="1">
            <a:spLocks noChangeArrowheads="1"/>
          </p:cNvSpPr>
          <p:nvPr/>
        </p:nvSpPr>
        <p:spPr bwMode="auto">
          <a:xfrm>
            <a:off x="4643438" y="890270"/>
            <a:ext cx="1008062" cy="519113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2100</a:t>
            </a:r>
          </a:p>
        </p:txBody>
      </p:sp>
      <p:sp>
        <p:nvSpPr>
          <p:cNvPr id="611369" name="Text Box 41"/>
          <p:cNvSpPr txBox="1">
            <a:spLocks noChangeArrowheads="1"/>
          </p:cNvSpPr>
          <p:nvPr/>
        </p:nvSpPr>
        <p:spPr bwMode="auto">
          <a:xfrm>
            <a:off x="3932238" y="1669733"/>
            <a:ext cx="709612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p[0]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p[1]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p[2]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p[3]</a:t>
            </a:r>
          </a:p>
        </p:txBody>
      </p:sp>
      <p:sp>
        <p:nvSpPr>
          <p:cNvPr id="611370" name="Text Box 42"/>
          <p:cNvSpPr txBox="1">
            <a:spLocks noChangeArrowheads="1"/>
          </p:cNvSpPr>
          <p:nvPr/>
        </p:nvSpPr>
        <p:spPr bwMode="auto">
          <a:xfrm>
            <a:off x="4687888" y="1653858"/>
            <a:ext cx="1035050" cy="4762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2110</a:t>
            </a:r>
          </a:p>
        </p:txBody>
      </p:sp>
      <p:sp>
        <p:nvSpPr>
          <p:cNvPr id="611371" name="Text Box 43"/>
          <p:cNvSpPr txBox="1">
            <a:spLocks noChangeArrowheads="1"/>
          </p:cNvSpPr>
          <p:nvPr/>
        </p:nvSpPr>
        <p:spPr bwMode="auto">
          <a:xfrm>
            <a:off x="4678363" y="2704783"/>
            <a:ext cx="1035050" cy="4762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2100</a:t>
            </a:r>
          </a:p>
        </p:txBody>
      </p:sp>
      <p:sp>
        <p:nvSpPr>
          <p:cNvPr id="611372" name="Text Box 44"/>
          <p:cNvSpPr txBox="1">
            <a:spLocks noChangeArrowheads="1"/>
          </p:cNvSpPr>
          <p:nvPr/>
        </p:nvSpPr>
        <p:spPr bwMode="auto">
          <a:xfrm>
            <a:off x="2820988" y="4001770"/>
            <a:ext cx="11731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i=0, j=3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B≯J </a:t>
            </a:r>
          </a:p>
        </p:txBody>
      </p:sp>
      <p:sp>
        <p:nvSpPr>
          <p:cNvPr id="611373" name="Text Box 45"/>
          <p:cNvSpPr txBox="1">
            <a:spLocks noChangeArrowheads="1"/>
          </p:cNvSpPr>
          <p:nvPr/>
        </p:nvSpPr>
        <p:spPr bwMode="auto">
          <a:xfrm>
            <a:off x="4030663" y="4023995"/>
            <a:ext cx="16446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i=1, j=2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V&gt;P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temp=p[1];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p[1]=p[2];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p[2]=temp;</a:t>
            </a:r>
          </a:p>
        </p:txBody>
      </p:sp>
      <p:sp>
        <p:nvSpPr>
          <p:cNvPr id="611374" name="Text Box 46"/>
          <p:cNvSpPr txBox="1">
            <a:spLocks noChangeArrowheads="1"/>
          </p:cNvSpPr>
          <p:nvPr/>
        </p:nvSpPr>
        <p:spPr bwMode="auto">
          <a:xfrm>
            <a:off x="4679950" y="890270"/>
            <a:ext cx="971550" cy="5191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2107</a:t>
            </a:r>
          </a:p>
        </p:txBody>
      </p:sp>
      <p:sp>
        <p:nvSpPr>
          <p:cNvPr id="611375" name="Text Box 47"/>
          <p:cNvSpPr txBox="1">
            <a:spLocks noChangeArrowheads="1"/>
          </p:cNvSpPr>
          <p:nvPr/>
        </p:nvSpPr>
        <p:spPr bwMode="auto">
          <a:xfrm>
            <a:off x="4678363" y="2165033"/>
            <a:ext cx="1035050" cy="4762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2100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76" name="Text Box 48"/>
          <p:cNvSpPr txBox="1">
            <a:spLocks noChangeArrowheads="1"/>
          </p:cNvSpPr>
          <p:nvPr/>
        </p:nvSpPr>
        <p:spPr bwMode="auto">
          <a:xfrm>
            <a:off x="4687888" y="2696845"/>
            <a:ext cx="1035050" cy="4762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2107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83" name="Text Box 55"/>
          <p:cNvSpPr txBox="1">
            <a:spLocks noChangeArrowheads="1"/>
          </p:cNvSpPr>
          <p:nvPr/>
        </p:nvSpPr>
        <p:spPr bwMode="auto">
          <a:xfrm>
            <a:off x="5734050" y="4001770"/>
            <a:ext cx="16446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i=1, j=3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P&gt;J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temp=p[1];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p[1]=p[3];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p[3]=temp;</a:t>
            </a:r>
          </a:p>
        </p:txBody>
      </p:sp>
      <p:sp>
        <p:nvSpPr>
          <p:cNvPr id="611390" name="Text Box 62"/>
          <p:cNvSpPr txBox="1">
            <a:spLocks noChangeArrowheads="1"/>
          </p:cNvSpPr>
          <p:nvPr/>
        </p:nvSpPr>
        <p:spPr bwMode="auto">
          <a:xfrm>
            <a:off x="7426325" y="3965258"/>
            <a:ext cx="16446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i=2, j=3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V&gt;P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temp=p[2];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p[2]=p[3];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p[3]=temp;</a:t>
            </a:r>
          </a:p>
        </p:txBody>
      </p:sp>
      <p:sp>
        <p:nvSpPr>
          <p:cNvPr id="611391" name="Text Box 63"/>
          <p:cNvSpPr txBox="1">
            <a:spLocks noChangeArrowheads="1"/>
          </p:cNvSpPr>
          <p:nvPr/>
        </p:nvSpPr>
        <p:spPr bwMode="auto">
          <a:xfrm>
            <a:off x="4616450" y="890270"/>
            <a:ext cx="1035050" cy="519113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2100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92" name="Text Box 64"/>
          <p:cNvSpPr txBox="1">
            <a:spLocks noChangeArrowheads="1"/>
          </p:cNvSpPr>
          <p:nvPr/>
        </p:nvSpPr>
        <p:spPr bwMode="auto">
          <a:xfrm>
            <a:off x="4678363" y="2165033"/>
            <a:ext cx="1035050" cy="476250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2116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393" name="Text Box 65"/>
          <p:cNvSpPr txBox="1">
            <a:spLocks noChangeArrowheads="1"/>
          </p:cNvSpPr>
          <p:nvPr/>
        </p:nvSpPr>
        <p:spPr bwMode="auto">
          <a:xfrm>
            <a:off x="4678363" y="3195320"/>
            <a:ext cx="1035050" cy="498475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2100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01" name="Text Box 73"/>
          <p:cNvSpPr txBox="1">
            <a:spLocks noChangeArrowheads="1"/>
          </p:cNvSpPr>
          <p:nvPr/>
        </p:nvSpPr>
        <p:spPr bwMode="auto">
          <a:xfrm>
            <a:off x="4616450" y="890270"/>
            <a:ext cx="1035050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2107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02" name="Text Box 74"/>
          <p:cNvSpPr txBox="1">
            <a:spLocks noChangeArrowheads="1"/>
          </p:cNvSpPr>
          <p:nvPr/>
        </p:nvSpPr>
        <p:spPr bwMode="auto">
          <a:xfrm>
            <a:off x="4678363" y="2704783"/>
            <a:ext cx="1035050" cy="4762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2100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03" name="Text Box 75"/>
          <p:cNvSpPr txBox="1">
            <a:spLocks noChangeArrowheads="1"/>
          </p:cNvSpPr>
          <p:nvPr/>
        </p:nvSpPr>
        <p:spPr bwMode="auto">
          <a:xfrm>
            <a:off x="4678363" y="3209608"/>
            <a:ext cx="1035050" cy="49847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2107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11" name="Rectangle 83"/>
          <p:cNvSpPr>
            <a:spLocks noChangeArrowheads="1"/>
          </p:cNvSpPr>
          <p:nvPr/>
        </p:nvSpPr>
        <p:spPr bwMode="auto">
          <a:xfrm>
            <a:off x="8096250" y="2961958"/>
            <a:ext cx="720725" cy="205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D7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13" name="Line 85"/>
          <p:cNvSpPr>
            <a:spLocks noChangeShapeType="1"/>
          </p:cNvSpPr>
          <p:nvPr/>
        </p:nvSpPr>
        <p:spPr bwMode="auto">
          <a:xfrm>
            <a:off x="5753100" y="1952308"/>
            <a:ext cx="719138" cy="9350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14" name="Line 86"/>
          <p:cNvSpPr>
            <a:spLocks noChangeShapeType="1"/>
          </p:cNvSpPr>
          <p:nvPr/>
        </p:nvSpPr>
        <p:spPr bwMode="auto">
          <a:xfrm flipV="1">
            <a:off x="5789613" y="1915795"/>
            <a:ext cx="719137" cy="9715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19" name="Line 91"/>
          <p:cNvSpPr>
            <a:spLocks noChangeShapeType="1"/>
          </p:cNvSpPr>
          <p:nvPr/>
        </p:nvSpPr>
        <p:spPr bwMode="auto">
          <a:xfrm flipV="1">
            <a:off x="5761038" y="1922145"/>
            <a:ext cx="720725" cy="5048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20" name="Line 92"/>
          <p:cNvSpPr>
            <a:spLocks noChangeShapeType="1"/>
          </p:cNvSpPr>
          <p:nvPr/>
        </p:nvSpPr>
        <p:spPr bwMode="auto">
          <a:xfrm flipV="1">
            <a:off x="5797550" y="2353945"/>
            <a:ext cx="684213" cy="5048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26" name="Rectangle 98"/>
          <p:cNvSpPr>
            <a:spLocks noChangeArrowheads="1"/>
          </p:cNvSpPr>
          <p:nvPr/>
        </p:nvSpPr>
        <p:spPr bwMode="auto">
          <a:xfrm>
            <a:off x="5757932" y="4193858"/>
            <a:ext cx="720725" cy="205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D7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27" name="Line 99"/>
          <p:cNvSpPr>
            <a:spLocks noChangeShapeType="1"/>
          </p:cNvSpPr>
          <p:nvPr/>
        </p:nvSpPr>
        <p:spPr bwMode="auto">
          <a:xfrm>
            <a:off x="5740400" y="2461895"/>
            <a:ext cx="720725" cy="10064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30" name="Line 102"/>
          <p:cNvSpPr>
            <a:spLocks noChangeShapeType="1"/>
          </p:cNvSpPr>
          <p:nvPr/>
        </p:nvSpPr>
        <p:spPr bwMode="auto">
          <a:xfrm flipV="1">
            <a:off x="5811838" y="1957070"/>
            <a:ext cx="649287" cy="151288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32" name="Rectangle 104"/>
          <p:cNvSpPr>
            <a:spLocks noChangeArrowheads="1"/>
          </p:cNvSpPr>
          <p:nvPr/>
        </p:nvSpPr>
        <p:spPr bwMode="auto">
          <a:xfrm>
            <a:off x="2703582" y="4106545"/>
            <a:ext cx="720725" cy="205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D7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35" name="Line 107"/>
          <p:cNvSpPr>
            <a:spLocks noChangeShapeType="1"/>
          </p:cNvSpPr>
          <p:nvPr/>
        </p:nvSpPr>
        <p:spPr bwMode="auto">
          <a:xfrm flipV="1">
            <a:off x="5797550" y="1855470"/>
            <a:ext cx="719138" cy="1081088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1436" name="Line 108"/>
          <p:cNvSpPr>
            <a:spLocks noChangeShapeType="1"/>
          </p:cNvSpPr>
          <p:nvPr/>
        </p:nvSpPr>
        <p:spPr bwMode="auto">
          <a:xfrm flipV="1">
            <a:off x="5783263" y="2395220"/>
            <a:ext cx="755650" cy="1081088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Rectangle 95"/>
          <p:cNvSpPr>
            <a:spLocks noChangeArrowheads="1"/>
          </p:cNvSpPr>
          <p:nvPr/>
        </p:nvSpPr>
        <p:spPr bwMode="auto">
          <a:xfrm>
            <a:off x="71438" y="138113"/>
            <a:ext cx="619283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>
              <a:buClr>
                <a:srgbClr val="3333FF"/>
              </a:buClr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6.5.1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指针数组</a:t>
            </a:r>
          </a:p>
        </p:txBody>
      </p:sp>
    </p:spTree>
    <p:extLst>
      <p:ext uri="{BB962C8B-B14F-4D97-AF65-F5344CB8AC3E}">
        <p14:creationId xmlns:p14="http://schemas.microsoft.com/office/powerpoint/2010/main" val="100158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1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1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1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611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611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1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1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1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61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9" dur="500"/>
                                        <p:tgtEl>
                                          <p:spTgt spid="61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500"/>
                                        <p:tgtEl>
                                          <p:spTgt spid="611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6" dur="500"/>
                                        <p:tgtEl>
                                          <p:spTgt spid="611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1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1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94" dur="1000"/>
                                        <p:tgtEl>
                                          <p:spTgt spid="61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99" dur="1000"/>
                                        <p:tgtEl>
                                          <p:spTgt spid="61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04" dur="1000"/>
                                        <p:tgtEl>
                                          <p:spTgt spid="61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8" dur="500"/>
                                        <p:tgtEl>
                                          <p:spTgt spid="61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1" dur="500"/>
                                        <p:tgtEl>
                                          <p:spTgt spid="611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1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1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61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4" dur="1000"/>
                                        <p:tgtEl>
                                          <p:spTgt spid="61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9" dur="1000"/>
                                        <p:tgtEl>
                                          <p:spTgt spid="61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44" dur="1000"/>
                                        <p:tgtEl>
                                          <p:spTgt spid="61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61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3" dur="500"/>
                                        <p:tgtEl>
                                          <p:spTgt spid="611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6" dur="500"/>
                                        <p:tgtEl>
                                          <p:spTgt spid="611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1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1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363" grpId="0"/>
      <p:bldP spid="611367" grpId="0"/>
      <p:bldP spid="611368" grpId="0" animBg="1"/>
      <p:bldP spid="611370" grpId="0" animBg="1"/>
      <p:bldP spid="611371" grpId="0" animBg="1"/>
      <p:bldP spid="611372" grpId="0"/>
      <p:bldP spid="611373" grpId="0"/>
      <p:bldP spid="611374" grpId="0" animBg="1"/>
      <p:bldP spid="611375" grpId="0" animBg="1"/>
      <p:bldP spid="611376" grpId="0" animBg="1"/>
      <p:bldP spid="611383" grpId="0"/>
      <p:bldP spid="611390" grpId="0"/>
      <p:bldP spid="611391" grpId="0" animBg="1"/>
      <p:bldP spid="611392" grpId="0" animBg="1"/>
      <p:bldP spid="611393" grpId="0" animBg="1"/>
      <p:bldP spid="611401" grpId="0" animBg="1"/>
      <p:bldP spid="611402" grpId="0" animBg="1"/>
      <p:bldP spid="61140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02" name="Text Box 2"/>
          <p:cNvSpPr txBox="1">
            <a:spLocks noChangeArrowheads="1"/>
          </p:cNvSpPr>
          <p:nvPr/>
        </p:nvSpPr>
        <p:spPr bwMode="auto">
          <a:xfrm>
            <a:off x="142875" y="101600"/>
            <a:ext cx="4897438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tabLst/>
              <a:defRPr/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6.5.2 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多级指针</a:t>
            </a:r>
          </a:p>
        </p:txBody>
      </p:sp>
      <p:grpSp>
        <p:nvGrpSpPr>
          <p:cNvPr id="614403" name="Group 3"/>
          <p:cNvGrpSpPr>
            <a:grpSpLocks/>
          </p:cNvGrpSpPr>
          <p:nvPr/>
        </p:nvGrpSpPr>
        <p:grpSpPr bwMode="auto">
          <a:xfrm>
            <a:off x="4425950" y="897834"/>
            <a:ext cx="1044575" cy="1306513"/>
            <a:chOff x="1995" y="1230"/>
            <a:chExt cx="658" cy="823"/>
          </a:xfrm>
        </p:grpSpPr>
        <p:sp>
          <p:nvSpPr>
            <p:cNvPr id="614404" name="Rectangle 4"/>
            <p:cNvSpPr>
              <a:spLocks noChangeArrowheads="1"/>
            </p:cNvSpPr>
            <p:nvPr/>
          </p:nvSpPr>
          <p:spPr bwMode="auto">
            <a:xfrm>
              <a:off x="1995" y="1525"/>
              <a:ext cx="658" cy="29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405" name="Text Box 5"/>
            <p:cNvSpPr txBox="1">
              <a:spLocks noChangeArrowheads="1"/>
            </p:cNvSpPr>
            <p:nvPr/>
          </p:nvSpPr>
          <p:spPr bwMode="auto">
            <a:xfrm>
              <a:off x="2064" y="1230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2026</a:t>
              </a:r>
            </a:p>
          </p:txBody>
        </p:sp>
        <p:sp>
          <p:nvSpPr>
            <p:cNvPr id="614406" name="Text Box 6"/>
            <p:cNvSpPr txBox="1">
              <a:spLocks noChangeArrowheads="1"/>
            </p:cNvSpPr>
            <p:nvPr/>
          </p:nvSpPr>
          <p:spPr bwMode="auto">
            <a:xfrm>
              <a:off x="2255" y="1765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q</a:t>
              </a:r>
            </a:p>
          </p:txBody>
        </p:sp>
      </p:grpSp>
      <p:sp>
        <p:nvSpPr>
          <p:cNvPr id="614407" name="Text Box 7"/>
          <p:cNvSpPr txBox="1">
            <a:spLocks noChangeArrowheads="1"/>
          </p:cNvSpPr>
          <p:nvPr/>
        </p:nvSpPr>
        <p:spPr bwMode="auto">
          <a:xfrm>
            <a:off x="358775" y="991497"/>
            <a:ext cx="2192338" cy="192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 x, 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q,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**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x=36;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q=&amp;x;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t=&amp;q;</a:t>
            </a:r>
          </a:p>
        </p:txBody>
      </p:sp>
      <p:grpSp>
        <p:nvGrpSpPr>
          <p:cNvPr id="614408" name="Group 8"/>
          <p:cNvGrpSpPr>
            <a:grpSpLocks/>
          </p:cNvGrpSpPr>
          <p:nvPr/>
        </p:nvGrpSpPr>
        <p:grpSpPr bwMode="auto">
          <a:xfrm>
            <a:off x="5975350" y="897834"/>
            <a:ext cx="1044575" cy="1320800"/>
            <a:chOff x="3016" y="1230"/>
            <a:chExt cx="658" cy="832"/>
          </a:xfrm>
        </p:grpSpPr>
        <p:sp>
          <p:nvSpPr>
            <p:cNvPr id="614409" name="Rectangle 9"/>
            <p:cNvSpPr>
              <a:spLocks noChangeArrowheads="1"/>
            </p:cNvSpPr>
            <p:nvPr/>
          </p:nvSpPr>
          <p:spPr bwMode="auto">
            <a:xfrm>
              <a:off x="3016" y="1525"/>
              <a:ext cx="658" cy="29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36</a:t>
              </a:r>
            </a:p>
          </p:txBody>
        </p:sp>
        <p:sp>
          <p:nvSpPr>
            <p:cNvPr id="614410" name="Text Box 10"/>
            <p:cNvSpPr txBox="1">
              <a:spLocks noChangeArrowheads="1"/>
            </p:cNvSpPr>
            <p:nvPr/>
          </p:nvSpPr>
          <p:spPr bwMode="auto">
            <a:xfrm>
              <a:off x="3084" y="1230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2010</a:t>
              </a:r>
            </a:p>
          </p:txBody>
        </p:sp>
        <p:sp>
          <p:nvSpPr>
            <p:cNvPr id="614411" name="Text Box 11"/>
            <p:cNvSpPr txBox="1">
              <a:spLocks noChangeArrowheads="1"/>
            </p:cNvSpPr>
            <p:nvPr/>
          </p:nvSpPr>
          <p:spPr bwMode="auto">
            <a:xfrm>
              <a:off x="3243" y="177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x</a:t>
              </a:r>
            </a:p>
          </p:txBody>
        </p:sp>
      </p:grpSp>
      <p:grpSp>
        <p:nvGrpSpPr>
          <p:cNvPr id="614412" name="Group 12"/>
          <p:cNvGrpSpPr>
            <a:grpSpLocks/>
          </p:cNvGrpSpPr>
          <p:nvPr/>
        </p:nvGrpSpPr>
        <p:grpSpPr bwMode="auto">
          <a:xfrm>
            <a:off x="2914650" y="897834"/>
            <a:ext cx="1044575" cy="1331913"/>
            <a:chOff x="1043" y="1230"/>
            <a:chExt cx="658" cy="839"/>
          </a:xfrm>
        </p:grpSpPr>
        <p:sp>
          <p:nvSpPr>
            <p:cNvPr id="614413" name="Rectangle 13"/>
            <p:cNvSpPr>
              <a:spLocks noChangeArrowheads="1"/>
            </p:cNvSpPr>
            <p:nvPr/>
          </p:nvSpPr>
          <p:spPr bwMode="auto">
            <a:xfrm>
              <a:off x="1043" y="1525"/>
              <a:ext cx="658" cy="29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414" name="Text Box 14"/>
            <p:cNvSpPr txBox="1">
              <a:spLocks noChangeArrowheads="1"/>
            </p:cNvSpPr>
            <p:nvPr/>
          </p:nvSpPr>
          <p:spPr bwMode="auto">
            <a:xfrm>
              <a:off x="1134" y="1230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2048</a:t>
              </a:r>
            </a:p>
          </p:txBody>
        </p:sp>
        <p:sp>
          <p:nvSpPr>
            <p:cNvPr id="614415" name="Text Box 15"/>
            <p:cNvSpPr txBox="1">
              <a:spLocks noChangeArrowheads="1"/>
            </p:cNvSpPr>
            <p:nvPr/>
          </p:nvSpPr>
          <p:spPr bwMode="auto">
            <a:xfrm>
              <a:off x="1302" y="1781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</a:p>
          </p:txBody>
        </p:sp>
      </p:grpSp>
      <p:sp>
        <p:nvSpPr>
          <p:cNvPr id="614416" name="Text Box 16"/>
          <p:cNvSpPr txBox="1">
            <a:spLocks noChangeArrowheads="1"/>
          </p:cNvSpPr>
          <p:nvPr/>
        </p:nvSpPr>
        <p:spPr bwMode="auto">
          <a:xfrm>
            <a:off x="4535488" y="1377259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2010</a:t>
            </a:r>
          </a:p>
        </p:txBody>
      </p:sp>
      <p:sp>
        <p:nvSpPr>
          <p:cNvPr id="614417" name="Line 17"/>
          <p:cNvSpPr>
            <a:spLocks noChangeShapeType="1"/>
          </p:cNvSpPr>
          <p:nvPr/>
        </p:nvSpPr>
        <p:spPr bwMode="auto">
          <a:xfrm>
            <a:off x="5470525" y="1628084"/>
            <a:ext cx="5048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18" name="Line 18"/>
          <p:cNvSpPr>
            <a:spLocks noChangeShapeType="1"/>
          </p:cNvSpPr>
          <p:nvPr/>
        </p:nvSpPr>
        <p:spPr bwMode="auto">
          <a:xfrm>
            <a:off x="3959225" y="1628084"/>
            <a:ext cx="4683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19" name="Text Box 19"/>
          <p:cNvSpPr txBox="1">
            <a:spLocks noChangeArrowheads="1"/>
          </p:cNvSpPr>
          <p:nvPr/>
        </p:nvSpPr>
        <p:spPr bwMode="auto">
          <a:xfrm>
            <a:off x="3022600" y="1351859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2026</a:t>
            </a:r>
          </a:p>
        </p:txBody>
      </p:sp>
      <p:grpSp>
        <p:nvGrpSpPr>
          <p:cNvPr id="614420" name="Group 20"/>
          <p:cNvGrpSpPr>
            <a:grpSpLocks/>
          </p:cNvGrpSpPr>
          <p:nvPr/>
        </p:nvGrpSpPr>
        <p:grpSpPr bwMode="auto">
          <a:xfrm>
            <a:off x="287338" y="2431357"/>
            <a:ext cx="8748712" cy="482600"/>
            <a:chOff x="249" y="1334"/>
            <a:chExt cx="3353" cy="304"/>
          </a:xfrm>
        </p:grpSpPr>
        <p:sp>
          <p:nvSpPr>
            <p:cNvPr id="614421" name="Line 21"/>
            <p:cNvSpPr>
              <a:spLocks noChangeShapeType="1"/>
            </p:cNvSpPr>
            <p:nvPr/>
          </p:nvSpPr>
          <p:spPr bwMode="auto">
            <a:xfrm>
              <a:off x="249" y="1638"/>
              <a:ext cx="301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422" name="Text Box 22"/>
            <p:cNvSpPr txBox="1">
              <a:spLocks noChangeArrowheads="1"/>
            </p:cNvSpPr>
            <p:nvPr/>
          </p:nvSpPr>
          <p:spPr bwMode="auto">
            <a:xfrm>
              <a:off x="1053" y="1334"/>
              <a:ext cx="254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1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即为指向指针的指针</a:t>
              </a:r>
              <a:r>
                <a:rPr kumimoji="1" lang="en-US" altLang="zh-CN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</a:t>
              </a:r>
              <a:r>
                <a:rPr kumimoji="1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也称二级指针</a:t>
              </a:r>
              <a:r>
                <a:rPr kumimoji="1" lang="en-US" altLang="zh-CN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)</a:t>
              </a:r>
            </a:p>
          </p:txBody>
        </p:sp>
      </p:grpSp>
      <p:sp>
        <p:nvSpPr>
          <p:cNvPr id="614423" name="Text Box 23"/>
          <p:cNvSpPr txBox="1">
            <a:spLocks noChangeArrowheads="1"/>
          </p:cNvSpPr>
          <p:nvPr/>
        </p:nvSpPr>
        <p:spPr bwMode="auto">
          <a:xfrm>
            <a:off x="358775" y="3021909"/>
            <a:ext cx="158432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思考：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q=45;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*q=45;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*t=56;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**t=56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；</a:t>
            </a:r>
          </a:p>
        </p:txBody>
      </p:sp>
      <p:sp>
        <p:nvSpPr>
          <p:cNvPr id="614424" name="Text Box 24"/>
          <p:cNvSpPr txBox="1">
            <a:spLocks noChangeArrowheads="1"/>
          </p:cNvSpPr>
          <p:nvPr/>
        </p:nvSpPr>
        <p:spPr bwMode="auto">
          <a:xfrm>
            <a:off x="1547813" y="392202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对</a:t>
            </a:r>
          </a:p>
        </p:txBody>
      </p:sp>
      <p:sp>
        <p:nvSpPr>
          <p:cNvPr id="614425" name="Text Box 25"/>
          <p:cNvSpPr txBox="1">
            <a:spLocks noChangeArrowheads="1"/>
          </p:cNvSpPr>
          <p:nvPr/>
        </p:nvSpPr>
        <p:spPr bwMode="auto">
          <a:xfrm>
            <a:off x="1547813" y="3475934"/>
            <a:ext cx="6877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错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因为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q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是指针变量，赋值号右侧必须是地址</a:t>
            </a:r>
          </a:p>
        </p:txBody>
      </p:sp>
      <p:sp>
        <p:nvSpPr>
          <p:cNvPr id="614426" name="Text Box 26"/>
          <p:cNvSpPr txBox="1">
            <a:spLocks noChangeArrowheads="1"/>
          </p:cNvSpPr>
          <p:nvPr/>
        </p:nvSpPr>
        <p:spPr bwMode="auto">
          <a:xfrm>
            <a:off x="1547813" y="4390334"/>
            <a:ext cx="5868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错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因为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是二级指针变量，*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等价于</a:t>
            </a:r>
            <a:r>
              <a:rPr kumimoji="1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q</a:t>
            </a:r>
          </a:p>
        </p:txBody>
      </p:sp>
      <p:sp>
        <p:nvSpPr>
          <p:cNvPr id="614427" name="Text Box 27"/>
          <p:cNvSpPr txBox="1">
            <a:spLocks noChangeArrowheads="1"/>
          </p:cNvSpPr>
          <p:nvPr/>
        </p:nvSpPr>
        <p:spPr bwMode="auto">
          <a:xfrm>
            <a:off x="1584325" y="4761809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对</a:t>
            </a:r>
          </a:p>
        </p:txBody>
      </p:sp>
    </p:spTree>
    <p:extLst>
      <p:ext uri="{BB962C8B-B14F-4D97-AF65-F5344CB8AC3E}">
        <p14:creationId xmlns:p14="http://schemas.microsoft.com/office/powerpoint/2010/main" val="278631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4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4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1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61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44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07" grpId="0"/>
      <p:bldP spid="614416" grpId="0"/>
      <p:bldP spid="614419" grpId="0"/>
      <p:bldP spid="614423" grpId="0"/>
      <p:bldP spid="614424" grpId="0"/>
      <p:bldP spid="614425" grpId="0"/>
      <p:bldP spid="614426" grpId="0"/>
      <p:bldP spid="61442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3038"/>
            <a:ext cx="5830888" cy="527050"/>
          </a:xfrm>
        </p:spPr>
        <p:txBody>
          <a:bodyPr>
            <a:noAutofit/>
          </a:bodyPr>
          <a:lstStyle/>
          <a:p>
            <a:pPr defTabSz="457200" fontAlgn="base">
              <a:spcAft>
                <a:spcPct val="0"/>
              </a:spcAft>
              <a:buClr>
                <a:srgbClr val="3333FF"/>
              </a:buClr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6.6 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指针与动态内存分配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42875" y="841029"/>
            <a:ext cx="6238875" cy="86836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动态内存分配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(Dynamic Memory Allocation)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在程序运行时为程序分配内存的一种方法 </a:t>
            </a:r>
          </a:p>
        </p:txBody>
      </p:sp>
      <p:sp>
        <p:nvSpPr>
          <p:cNvPr id="586756" name="Text Box 4"/>
          <p:cNvSpPr txBox="1">
            <a:spLocks noChangeArrowheads="1"/>
          </p:cNvSpPr>
          <p:nvPr/>
        </p:nvSpPr>
        <p:spPr bwMode="auto">
          <a:xfrm>
            <a:off x="142875" y="1698279"/>
            <a:ext cx="496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什么时候需要使用动态内存分配？</a:t>
            </a:r>
          </a:p>
        </p:txBody>
      </p:sp>
      <p:sp>
        <p:nvSpPr>
          <p:cNvPr id="586757" name="Text Box 5"/>
          <p:cNvSpPr txBox="1">
            <a:spLocks noChangeArrowheads="1"/>
          </p:cNvSpPr>
          <p:nvPr/>
        </p:nvSpPr>
        <p:spPr bwMode="auto">
          <a:xfrm>
            <a:off x="142875" y="2130079"/>
            <a:ext cx="878522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计算某班英语成绩的平均分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要求保存每个学生的成绩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而学生人数由键盘输入</a:t>
            </a:r>
          </a:p>
        </p:txBody>
      </p:sp>
      <p:sp>
        <p:nvSpPr>
          <p:cNvPr id="586758" name="Text Box 6"/>
          <p:cNvSpPr txBox="1">
            <a:spLocks noChangeArrowheads="1"/>
          </p:cNvSpPr>
          <p:nvPr/>
        </p:nvSpPr>
        <p:spPr bwMode="auto">
          <a:xfrm>
            <a:off x="287338" y="3498504"/>
            <a:ext cx="308449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  a[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  n, i;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scanf("%d", &amp;n);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for(i=0; i&lt;n; i++)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scanf("%d", &amp;a[i]);</a:t>
            </a:r>
          </a:p>
        </p:txBody>
      </p:sp>
      <p:sp>
        <p:nvSpPr>
          <p:cNvPr id="586759" name="Text Box 7"/>
          <p:cNvSpPr txBox="1">
            <a:spLocks noChangeArrowheads="1"/>
          </p:cNvSpPr>
          <p:nvPr/>
        </p:nvSpPr>
        <p:spPr bwMode="auto">
          <a:xfrm>
            <a:off x="215900" y="2958754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必须将数组定义的足够大！</a:t>
            </a:r>
          </a:p>
        </p:txBody>
      </p:sp>
      <p:sp>
        <p:nvSpPr>
          <p:cNvPr id="586760" name="AutoShape 8"/>
          <p:cNvSpPr>
            <a:spLocks noChangeArrowheads="1"/>
          </p:cNvSpPr>
          <p:nvPr/>
        </p:nvSpPr>
        <p:spPr bwMode="auto">
          <a:xfrm>
            <a:off x="3276600" y="4974879"/>
            <a:ext cx="4972050" cy="863600"/>
          </a:xfrm>
          <a:prstGeom prst="wedgeRectCallout">
            <a:avLst>
              <a:gd name="adj1" fmla="val -61505"/>
              <a:gd name="adj2" fmla="val -99264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如果输入的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较小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(15)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，那么数组大多数的存储空间被浪费了</a:t>
            </a:r>
          </a:p>
        </p:txBody>
      </p:sp>
      <p:sp>
        <p:nvSpPr>
          <p:cNvPr id="586761" name="AutoShape 9"/>
          <p:cNvSpPr>
            <a:spLocks noChangeArrowheads="1"/>
          </p:cNvSpPr>
          <p:nvPr/>
        </p:nvSpPr>
        <p:spPr bwMode="auto">
          <a:xfrm>
            <a:off x="3984625" y="2898429"/>
            <a:ext cx="4987925" cy="1403350"/>
          </a:xfrm>
          <a:prstGeom prst="bevel">
            <a:avLst>
              <a:gd name="adj" fmla="val 6449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我们希望输入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再根据实际的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人数定义数组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这样可以避免存储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空间浪费</a:t>
            </a:r>
          </a:p>
        </p:txBody>
      </p:sp>
    </p:spTree>
    <p:extLst>
      <p:ext uri="{BB962C8B-B14F-4D97-AF65-F5344CB8AC3E}">
        <p14:creationId xmlns:p14="http://schemas.microsoft.com/office/powerpoint/2010/main" val="345719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8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1000"/>
                                        <p:tgtEl>
                                          <p:spTgt spid="58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86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86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6" grpId="0"/>
      <p:bldP spid="586757" grpId="0"/>
      <p:bldP spid="586758" grpId="0"/>
      <p:bldP spid="586759" grpId="0"/>
      <p:bldP spid="586760" grpId="0" animBg="1"/>
      <p:bldP spid="58676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07950" y="101600"/>
            <a:ext cx="5625258" cy="54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Tx/>
              <a:buNone/>
              <a:tabLst/>
              <a:defRPr/>
            </a:pP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6.6.3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动态内存分配和释放函数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71450" y="765175"/>
            <a:ext cx="56927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ANSI 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标准定义了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个动态内存分配函数</a:t>
            </a:r>
          </a:p>
        </p:txBody>
      </p:sp>
      <p:sp>
        <p:nvSpPr>
          <p:cNvPr id="587780" name="Text Box 4"/>
          <p:cNvSpPr txBox="1">
            <a:spLocks noChangeArrowheads="1"/>
          </p:cNvSpPr>
          <p:nvPr/>
        </p:nvSpPr>
        <p:spPr bwMode="auto">
          <a:xfrm>
            <a:off x="171450" y="1652588"/>
            <a:ext cx="2771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1. malloc( 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87781" name="Text Box 5"/>
          <p:cNvSpPr txBox="1">
            <a:spLocks noChangeArrowheads="1"/>
          </p:cNvSpPr>
          <p:nvPr/>
        </p:nvSpPr>
        <p:spPr bwMode="auto">
          <a:xfrm>
            <a:off x="171450" y="2171700"/>
            <a:ext cx="7096815" cy="52322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函数原型：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void  *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malloc(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int  size);</a:t>
            </a:r>
          </a:p>
        </p:txBody>
      </p:sp>
      <p:sp>
        <p:nvSpPr>
          <p:cNvPr id="587782" name="Text Box 6"/>
          <p:cNvSpPr txBox="1">
            <a:spLocks noChangeArrowheads="1"/>
          </p:cNvSpPr>
          <p:nvPr/>
        </p:nvSpPr>
        <p:spPr bwMode="auto">
          <a:xfrm>
            <a:off x="171450" y="2727325"/>
            <a:ext cx="81930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作用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在内存开辟一个长度为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字节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连续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的存储空间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返回一个指向该存储区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首地址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的指针，若系统不能提供足够的内存单元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分配失败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函数将返回空指针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  <p:sp>
        <p:nvSpPr>
          <p:cNvPr id="587783" name="Text Box 7"/>
          <p:cNvSpPr txBox="1">
            <a:spLocks noChangeArrowheads="1"/>
          </p:cNvSpPr>
          <p:nvPr/>
        </p:nvSpPr>
        <p:spPr bwMode="auto">
          <a:xfrm>
            <a:off x="171450" y="3914775"/>
            <a:ext cx="8316913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说明：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void *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是一种指针类型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无类型指针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常用来说明类型未知的指针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即声明一个指针变量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但不指定它指向哪一种具体类型的数据</a:t>
            </a:r>
          </a:p>
        </p:txBody>
      </p:sp>
      <p:sp>
        <p:nvSpPr>
          <p:cNvPr id="587785" name="Rectangle 9"/>
          <p:cNvSpPr>
            <a:spLocks noChangeArrowheads="1"/>
          </p:cNvSpPr>
          <p:nvPr/>
        </p:nvSpPr>
        <p:spPr bwMode="auto">
          <a:xfrm>
            <a:off x="154450" y="1212850"/>
            <a:ext cx="33185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需要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#include "stdlib.h"</a:t>
            </a:r>
          </a:p>
        </p:txBody>
      </p:sp>
    </p:spTree>
    <p:extLst>
      <p:ext uri="{BB962C8B-B14F-4D97-AF65-F5344CB8AC3E}">
        <p14:creationId xmlns:p14="http://schemas.microsoft.com/office/powerpoint/2010/main" val="39765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587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587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80" grpId="0"/>
      <p:bldP spid="587781" grpId="0" animBg="1"/>
      <p:bldP spid="587782" grpId="0"/>
      <p:bldP spid="587783" grpId="0"/>
      <p:bldP spid="58778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802" name="Group 2"/>
          <p:cNvGrpSpPr>
            <a:grpSpLocks/>
          </p:cNvGrpSpPr>
          <p:nvPr/>
        </p:nvGrpSpPr>
        <p:grpSpPr bwMode="auto">
          <a:xfrm>
            <a:off x="836613" y="3471863"/>
            <a:ext cx="1374775" cy="912812"/>
            <a:chOff x="431" y="1848"/>
            <a:chExt cx="1059" cy="825"/>
          </a:xfrm>
        </p:grpSpPr>
        <p:sp>
          <p:nvSpPr>
            <p:cNvPr id="7178" name="Rectangle 3"/>
            <p:cNvSpPr>
              <a:spLocks noChangeArrowheads="1"/>
            </p:cNvSpPr>
            <p:nvPr/>
          </p:nvSpPr>
          <p:spPr bwMode="auto">
            <a:xfrm>
              <a:off x="448" y="1848"/>
              <a:ext cx="640" cy="36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79" name="Rectangle 4"/>
            <p:cNvSpPr>
              <a:spLocks noChangeArrowheads="1"/>
            </p:cNvSpPr>
            <p:nvPr/>
          </p:nvSpPr>
          <p:spPr bwMode="auto">
            <a:xfrm>
              <a:off x="431" y="2310"/>
              <a:ext cx="1059" cy="36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88806" name="Text Box 6"/>
          <p:cNvSpPr txBox="1">
            <a:spLocks noChangeArrowheads="1"/>
          </p:cNvSpPr>
          <p:nvPr/>
        </p:nvSpPr>
        <p:spPr bwMode="auto">
          <a:xfrm>
            <a:off x="365125" y="2397125"/>
            <a:ext cx="6464300" cy="30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  *p=NULL;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double  *q=NULL;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p= (int *) malloc (4);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q= (double *) malloc (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(double) 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*p=36;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*q=45.8;</a:t>
            </a:r>
          </a:p>
        </p:txBody>
      </p:sp>
      <p:sp>
        <p:nvSpPr>
          <p:cNvPr id="7172" name="Text Box 7"/>
          <p:cNvSpPr txBox="1">
            <a:spLocks noChangeArrowheads="1"/>
          </p:cNvSpPr>
          <p:nvPr/>
        </p:nvSpPr>
        <p:spPr bwMode="auto">
          <a:xfrm>
            <a:off x="123825" y="825500"/>
            <a:ext cx="8264525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malloc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函数时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必须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用强制类型转换将返回的指针值转换为所需要的数据类型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然后再进行赋值操作</a:t>
            </a:r>
          </a:p>
        </p:txBody>
      </p:sp>
      <p:sp>
        <p:nvSpPr>
          <p:cNvPr id="588808" name="AutoShape 8"/>
          <p:cNvSpPr>
            <a:spLocks noChangeArrowheads="1"/>
          </p:cNvSpPr>
          <p:nvPr/>
        </p:nvSpPr>
        <p:spPr bwMode="auto">
          <a:xfrm>
            <a:off x="3778250" y="2189163"/>
            <a:ext cx="3276600" cy="865187"/>
          </a:xfrm>
          <a:prstGeom prst="wedgeRoundRectCallout">
            <a:avLst>
              <a:gd name="adj1" fmla="val -77139"/>
              <a:gd name="adj2" fmla="val 37097"/>
              <a:gd name="adj3" fmla="val 16667"/>
            </a:avLst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定义指针变量通常将其初始化为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空指针</a:t>
            </a:r>
          </a:p>
        </p:txBody>
      </p:sp>
      <p:sp>
        <p:nvSpPr>
          <p:cNvPr id="588810" name="AutoShape 10"/>
          <p:cNvSpPr>
            <a:spLocks noChangeArrowheads="1"/>
          </p:cNvSpPr>
          <p:nvPr/>
        </p:nvSpPr>
        <p:spPr bwMode="auto">
          <a:xfrm>
            <a:off x="1881188" y="4976813"/>
            <a:ext cx="2268537" cy="539750"/>
          </a:xfrm>
          <a:prstGeom prst="wedgeRoundRectCallout">
            <a:avLst>
              <a:gd name="adj1" fmla="val -56755"/>
              <a:gd name="adj2" fmla="val -153218"/>
              <a:gd name="adj3" fmla="val 16667"/>
            </a:avLst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强制类型转换</a:t>
            </a:r>
          </a:p>
        </p:txBody>
      </p:sp>
      <p:sp>
        <p:nvSpPr>
          <p:cNvPr id="588811" name="AutoShape 11"/>
          <p:cNvSpPr>
            <a:spLocks noChangeArrowheads="1"/>
          </p:cNvSpPr>
          <p:nvPr/>
        </p:nvSpPr>
        <p:spPr bwMode="auto">
          <a:xfrm>
            <a:off x="4735513" y="4976813"/>
            <a:ext cx="3887787" cy="1260475"/>
          </a:xfrm>
          <a:prstGeom prst="wedgeRoundRectCallout">
            <a:avLst>
              <a:gd name="adj1" fmla="val -55995"/>
              <a:gd name="adj2" fmla="val -95981"/>
              <a:gd name="adj3" fmla="val 16667"/>
            </a:avLst>
          </a:prstGeom>
          <a:solidFill>
            <a:srgbClr val="FFFFCC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如果不知道某种类型数据所占内存空间的字节数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可用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sizeof()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进行计算</a:t>
            </a:r>
          </a:p>
        </p:txBody>
      </p:sp>
      <p:sp>
        <p:nvSpPr>
          <p:cNvPr id="7176" name="Text Box 12"/>
          <p:cNvSpPr txBox="1">
            <a:spLocks noChangeArrowheads="1"/>
          </p:cNvSpPr>
          <p:nvPr/>
        </p:nvSpPr>
        <p:spPr bwMode="auto">
          <a:xfrm>
            <a:off x="107950" y="101600"/>
            <a:ext cx="5625258" cy="54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Tx/>
              <a:buNone/>
              <a:tabLst/>
              <a:defRPr/>
            </a:pP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6.6.3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动态内存分配和释放函数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39700" y="1697038"/>
            <a:ext cx="85740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动态申请一个整型变量和一个浮点型变量，存储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45.8</a:t>
            </a:r>
          </a:p>
        </p:txBody>
      </p:sp>
    </p:spTree>
    <p:extLst>
      <p:ext uri="{BB962C8B-B14F-4D97-AF65-F5344CB8AC3E}">
        <p14:creationId xmlns:p14="http://schemas.microsoft.com/office/powerpoint/2010/main" val="35662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8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88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58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88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88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8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588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588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88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888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08" grpId="0" animBg="1"/>
      <p:bldP spid="588810" grpId="0" animBg="1"/>
      <p:bldP spid="588811" grpId="0" animBg="1"/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1" name="Text Box 3"/>
          <p:cNvSpPr txBox="1">
            <a:spLocks noChangeArrowheads="1"/>
          </p:cNvSpPr>
          <p:nvPr/>
        </p:nvSpPr>
        <p:spPr bwMode="auto">
          <a:xfrm>
            <a:off x="215900" y="728663"/>
            <a:ext cx="6464300" cy="249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  *p=NULL;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double  *q=NULL;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p= (int *) malloc (4);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q= (double *) malloc ( sizeof(double) 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*p=36;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*q=45.8;</a:t>
            </a:r>
          </a:p>
        </p:txBody>
      </p:sp>
      <p:sp>
        <p:nvSpPr>
          <p:cNvPr id="590852" name="Line 4"/>
          <p:cNvSpPr>
            <a:spLocks noChangeShapeType="1"/>
          </p:cNvSpPr>
          <p:nvPr/>
        </p:nvSpPr>
        <p:spPr bwMode="auto">
          <a:xfrm>
            <a:off x="4181475" y="3662363"/>
            <a:ext cx="79216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90857" name="Group 9"/>
          <p:cNvGrpSpPr>
            <a:grpSpLocks/>
          </p:cNvGrpSpPr>
          <p:nvPr/>
        </p:nvGrpSpPr>
        <p:grpSpPr bwMode="auto">
          <a:xfrm>
            <a:off x="2806700" y="4748213"/>
            <a:ext cx="1374775" cy="496887"/>
            <a:chOff x="1920" y="1847"/>
            <a:chExt cx="866" cy="313"/>
          </a:xfrm>
        </p:grpSpPr>
        <p:sp>
          <p:nvSpPr>
            <p:cNvPr id="9247" name="Rectangle 10"/>
            <p:cNvSpPr>
              <a:spLocks noChangeArrowheads="1"/>
            </p:cNvSpPr>
            <p:nvPr/>
          </p:nvSpPr>
          <p:spPr bwMode="auto">
            <a:xfrm>
              <a:off x="2148" y="1858"/>
              <a:ext cx="638" cy="3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NULL</a:t>
              </a:r>
            </a:p>
          </p:txBody>
        </p:sp>
        <p:sp>
          <p:nvSpPr>
            <p:cNvPr id="9248" name="Text Box 11"/>
            <p:cNvSpPr txBox="1">
              <a:spLocks noChangeArrowheads="1"/>
            </p:cNvSpPr>
            <p:nvPr/>
          </p:nvSpPr>
          <p:spPr bwMode="auto">
            <a:xfrm>
              <a:off x="1920" y="1847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590860" name="Line 12"/>
          <p:cNvSpPr>
            <a:spLocks noChangeShapeType="1"/>
          </p:cNvSpPr>
          <p:nvPr/>
        </p:nvSpPr>
        <p:spPr bwMode="auto">
          <a:xfrm>
            <a:off x="4181475" y="4972050"/>
            <a:ext cx="79216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90865" name="Group 17"/>
          <p:cNvGrpSpPr>
            <a:grpSpLocks/>
          </p:cNvGrpSpPr>
          <p:nvPr/>
        </p:nvGrpSpPr>
        <p:grpSpPr bwMode="auto">
          <a:xfrm>
            <a:off x="2806700" y="3446463"/>
            <a:ext cx="1374775" cy="496887"/>
            <a:chOff x="1920" y="1847"/>
            <a:chExt cx="859" cy="313"/>
          </a:xfrm>
        </p:grpSpPr>
        <p:sp>
          <p:nvSpPr>
            <p:cNvPr id="9245" name="Rectangle 18"/>
            <p:cNvSpPr>
              <a:spLocks noChangeArrowheads="1"/>
            </p:cNvSpPr>
            <p:nvPr/>
          </p:nvSpPr>
          <p:spPr bwMode="auto">
            <a:xfrm>
              <a:off x="2148" y="1858"/>
              <a:ext cx="631" cy="3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NULL</a:t>
              </a:r>
            </a:p>
          </p:txBody>
        </p:sp>
        <p:sp>
          <p:nvSpPr>
            <p:cNvPr id="9246" name="Text Box 19"/>
            <p:cNvSpPr txBox="1">
              <a:spLocks noChangeArrowheads="1"/>
            </p:cNvSpPr>
            <p:nvPr/>
          </p:nvSpPr>
          <p:spPr bwMode="auto">
            <a:xfrm>
              <a:off x="1920" y="1847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590868" name="Text Box 20"/>
          <p:cNvSpPr txBox="1">
            <a:spLocks noChangeArrowheads="1"/>
          </p:cNvSpPr>
          <p:nvPr/>
        </p:nvSpPr>
        <p:spPr bwMode="auto">
          <a:xfrm>
            <a:off x="3170238" y="4784725"/>
            <a:ext cx="1011237" cy="457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</a:p>
        </p:txBody>
      </p:sp>
      <p:sp>
        <p:nvSpPr>
          <p:cNvPr id="590869" name="Text Box 21"/>
          <p:cNvSpPr txBox="1">
            <a:spLocks noChangeArrowheads="1"/>
          </p:cNvSpPr>
          <p:nvPr/>
        </p:nvSpPr>
        <p:spPr bwMode="auto">
          <a:xfrm>
            <a:off x="3187700" y="3478213"/>
            <a:ext cx="993775" cy="457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</p:txBody>
      </p:sp>
      <p:sp>
        <p:nvSpPr>
          <p:cNvPr id="9225" name="Text Box 22"/>
          <p:cNvSpPr txBox="1">
            <a:spLocks noChangeArrowheads="1"/>
          </p:cNvSpPr>
          <p:nvPr/>
        </p:nvSpPr>
        <p:spPr bwMode="auto">
          <a:xfrm>
            <a:off x="107950" y="101600"/>
            <a:ext cx="563968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Tx/>
              <a:buNone/>
              <a:tabLst/>
              <a:defRPr/>
            </a:pP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6.6.3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动态内存分配和释放函数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5145088" y="3081338"/>
            <a:ext cx="1852612" cy="800100"/>
            <a:chOff x="5145338" y="3081704"/>
            <a:chExt cx="1852619" cy="800419"/>
          </a:xfrm>
        </p:grpSpPr>
        <p:grpSp>
          <p:nvGrpSpPr>
            <p:cNvPr id="9239" name="组合 1"/>
            <p:cNvGrpSpPr>
              <a:grpSpLocks/>
            </p:cNvGrpSpPr>
            <p:nvPr/>
          </p:nvGrpSpPr>
          <p:grpSpPr bwMode="auto">
            <a:xfrm>
              <a:off x="5220265" y="3424923"/>
              <a:ext cx="1777692" cy="457200"/>
              <a:chOff x="5220265" y="2958389"/>
              <a:chExt cx="1777692" cy="457200"/>
            </a:xfrm>
          </p:grpSpPr>
          <p:sp>
            <p:nvSpPr>
              <p:cNvPr id="9241" name="Rectangle 7"/>
              <p:cNvSpPr>
                <a:spLocks noChangeArrowheads="1"/>
              </p:cNvSpPr>
              <p:nvPr/>
            </p:nvSpPr>
            <p:spPr bwMode="auto">
              <a:xfrm>
                <a:off x="5220265" y="2958389"/>
                <a:ext cx="445181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42" name="Rectangle 7"/>
              <p:cNvSpPr>
                <a:spLocks noChangeArrowheads="1"/>
              </p:cNvSpPr>
              <p:nvPr/>
            </p:nvSpPr>
            <p:spPr bwMode="auto">
              <a:xfrm>
                <a:off x="5665446" y="2958389"/>
                <a:ext cx="445181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43" name="Rectangle 7"/>
              <p:cNvSpPr>
                <a:spLocks noChangeArrowheads="1"/>
              </p:cNvSpPr>
              <p:nvPr/>
            </p:nvSpPr>
            <p:spPr bwMode="auto">
              <a:xfrm>
                <a:off x="6110627" y="2958389"/>
                <a:ext cx="445181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44" name="Rectangle 7"/>
              <p:cNvSpPr>
                <a:spLocks noChangeArrowheads="1"/>
              </p:cNvSpPr>
              <p:nvPr/>
            </p:nvSpPr>
            <p:spPr bwMode="auto">
              <a:xfrm>
                <a:off x="6552776" y="2958389"/>
                <a:ext cx="445181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240" name="矩形 4"/>
            <p:cNvSpPr>
              <a:spLocks noChangeArrowheads="1"/>
            </p:cNvSpPr>
            <p:nvPr/>
          </p:nvSpPr>
          <p:spPr bwMode="auto">
            <a:xfrm>
              <a:off x="5145338" y="3081704"/>
              <a:ext cx="601449" cy="3386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1000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5145088" y="4475163"/>
            <a:ext cx="3627437" cy="766762"/>
            <a:chOff x="5145337" y="4474467"/>
            <a:chExt cx="3627247" cy="766681"/>
          </a:xfrm>
        </p:grpSpPr>
        <p:sp>
          <p:nvSpPr>
            <p:cNvPr id="9230" name="Rectangle 7"/>
            <p:cNvSpPr>
              <a:spLocks noChangeArrowheads="1"/>
            </p:cNvSpPr>
            <p:nvPr/>
          </p:nvSpPr>
          <p:spPr bwMode="auto">
            <a:xfrm>
              <a:off x="5208239" y="4783948"/>
              <a:ext cx="445181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31" name="Rectangle 7"/>
            <p:cNvSpPr>
              <a:spLocks noChangeArrowheads="1"/>
            </p:cNvSpPr>
            <p:nvPr/>
          </p:nvSpPr>
          <p:spPr bwMode="auto">
            <a:xfrm>
              <a:off x="5653420" y="4783948"/>
              <a:ext cx="445181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32" name="Rectangle 7"/>
            <p:cNvSpPr>
              <a:spLocks noChangeArrowheads="1"/>
            </p:cNvSpPr>
            <p:nvPr/>
          </p:nvSpPr>
          <p:spPr bwMode="auto">
            <a:xfrm>
              <a:off x="6098601" y="4783948"/>
              <a:ext cx="445181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33" name="Rectangle 7"/>
            <p:cNvSpPr>
              <a:spLocks noChangeArrowheads="1"/>
            </p:cNvSpPr>
            <p:nvPr/>
          </p:nvSpPr>
          <p:spPr bwMode="auto">
            <a:xfrm>
              <a:off x="6546679" y="4783948"/>
              <a:ext cx="445181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34" name="Rectangle 7"/>
            <p:cNvSpPr>
              <a:spLocks noChangeArrowheads="1"/>
            </p:cNvSpPr>
            <p:nvPr/>
          </p:nvSpPr>
          <p:spPr bwMode="auto">
            <a:xfrm>
              <a:off x="6988963" y="4783948"/>
              <a:ext cx="445181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35" name="Rectangle 7"/>
            <p:cNvSpPr>
              <a:spLocks noChangeArrowheads="1"/>
            </p:cNvSpPr>
            <p:nvPr/>
          </p:nvSpPr>
          <p:spPr bwMode="auto">
            <a:xfrm>
              <a:off x="7434144" y="4783948"/>
              <a:ext cx="445181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36" name="Rectangle 7"/>
            <p:cNvSpPr>
              <a:spLocks noChangeArrowheads="1"/>
            </p:cNvSpPr>
            <p:nvPr/>
          </p:nvSpPr>
          <p:spPr bwMode="auto">
            <a:xfrm>
              <a:off x="7879325" y="4783948"/>
              <a:ext cx="445181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37" name="Rectangle 7"/>
            <p:cNvSpPr>
              <a:spLocks noChangeArrowheads="1"/>
            </p:cNvSpPr>
            <p:nvPr/>
          </p:nvSpPr>
          <p:spPr bwMode="auto">
            <a:xfrm>
              <a:off x="8327403" y="4783948"/>
              <a:ext cx="445181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38" name="矩形 39"/>
            <p:cNvSpPr>
              <a:spLocks noChangeArrowheads="1"/>
            </p:cNvSpPr>
            <p:nvPr/>
          </p:nvSpPr>
          <p:spPr bwMode="auto">
            <a:xfrm>
              <a:off x="5145337" y="4474467"/>
              <a:ext cx="601415" cy="338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2000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90853" name="Rectangle 5"/>
          <p:cNvSpPr>
            <a:spLocks noChangeArrowheads="1"/>
          </p:cNvSpPr>
          <p:nvPr/>
        </p:nvSpPr>
        <p:spPr bwMode="auto">
          <a:xfrm>
            <a:off x="5214938" y="3429000"/>
            <a:ext cx="1782762" cy="4492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</a:p>
        </p:txBody>
      </p:sp>
      <p:sp>
        <p:nvSpPr>
          <p:cNvPr id="590861" name="Rectangle 13"/>
          <p:cNvSpPr>
            <a:spLocks noChangeArrowheads="1"/>
          </p:cNvSpPr>
          <p:nvPr/>
        </p:nvSpPr>
        <p:spPr bwMode="auto">
          <a:xfrm>
            <a:off x="5208588" y="4792663"/>
            <a:ext cx="3563937" cy="4492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45.8</a:t>
            </a:r>
          </a:p>
        </p:txBody>
      </p:sp>
    </p:spTree>
    <p:extLst>
      <p:ext uri="{BB962C8B-B14F-4D97-AF65-F5344CB8AC3E}">
        <p14:creationId xmlns:p14="http://schemas.microsoft.com/office/powerpoint/2010/main" val="1154422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0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9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90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9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9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90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9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90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90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9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90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9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68" grpId="0" animBg="1"/>
      <p:bldP spid="590869" grpId="0" animBg="1"/>
      <p:bldP spid="590853" grpId="0" animBg="1"/>
      <p:bldP spid="59086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107950" y="657225"/>
            <a:ext cx="27352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2. calloc( 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91876" name="Text Box 4"/>
          <p:cNvSpPr txBox="1">
            <a:spLocks noChangeArrowheads="1"/>
          </p:cNvSpPr>
          <p:nvPr/>
        </p:nvSpPr>
        <p:spPr bwMode="auto">
          <a:xfrm>
            <a:off x="261938" y="1160463"/>
            <a:ext cx="8197850" cy="954107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函数原型：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void  *calloc(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int 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unsigned int  size);</a:t>
            </a:r>
          </a:p>
        </p:txBody>
      </p:sp>
      <p:sp>
        <p:nvSpPr>
          <p:cNvPr id="591877" name="Text Box 5"/>
          <p:cNvSpPr txBox="1">
            <a:spLocks noChangeArrowheads="1"/>
          </p:cNvSpPr>
          <p:nvPr/>
        </p:nvSpPr>
        <p:spPr bwMode="auto">
          <a:xfrm>
            <a:off x="179388" y="2133600"/>
            <a:ext cx="84613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作用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给若干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同一类型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的数据项分配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连续的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存储空间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其中每个数据项的长度单位为字节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若函数调用成功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返回指向该存储区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首地址的指针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若函数调用失败返回空指针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  <p:sp>
        <p:nvSpPr>
          <p:cNvPr id="591878" name="Text Box 6"/>
          <p:cNvSpPr txBox="1">
            <a:spLocks noChangeArrowheads="1"/>
          </p:cNvSpPr>
          <p:nvPr/>
        </p:nvSpPr>
        <p:spPr bwMode="auto">
          <a:xfrm>
            <a:off x="215900" y="3321050"/>
            <a:ext cx="6804025" cy="127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说明：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参数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表示向系统申请的存储空间的数量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参数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表示每个存储空间所占的字节数</a:t>
            </a:r>
          </a:p>
        </p:txBody>
      </p:sp>
      <p:sp>
        <p:nvSpPr>
          <p:cNvPr id="10246" name="Text Box 7"/>
          <p:cNvSpPr txBox="1">
            <a:spLocks noChangeArrowheads="1"/>
          </p:cNvSpPr>
          <p:nvPr/>
        </p:nvSpPr>
        <p:spPr bwMode="auto">
          <a:xfrm>
            <a:off x="107950" y="101600"/>
            <a:ext cx="563968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Tx/>
              <a:buNone/>
              <a:tabLst/>
              <a:defRPr/>
            </a:pP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6.6.3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动态内存分配和释放函数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45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9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9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76" grpId="0" animBg="1"/>
      <p:bldP spid="591877" grpId="0"/>
      <p:bldP spid="59187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215900" y="1068388"/>
            <a:ext cx="554831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float  *p=NULL;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p=(float *) calloc (10, sizeof(float));</a:t>
            </a:r>
          </a:p>
        </p:txBody>
      </p:sp>
      <p:sp>
        <p:nvSpPr>
          <p:cNvPr id="592900" name="AutoShape 4"/>
          <p:cNvSpPr>
            <a:spLocks noChangeArrowheads="1"/>
          </p:cNvSpPr>
          <p:nvPr/>
        </p:nvSpPr>
        <p:spPr bwMode="auto">
          <a:xfrm>
            <a:off x="215900" y="2489200"/>
            <a:ext cx="8642350" cy="900113"/>
          </a:xfrm>
          <a:prstGeom prst="wedgeRoundRectCallout">
            <a:avLst>
              <a:gd name="adj1" fmla="val -47722"/>
              <a:gd name="adj2" fmla="val -40301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申请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个连续的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型的存储单元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并将其首地址赋给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型的指针变量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该存储空间总的字节数为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10×sizeof(float)</a:t>
            </a:r>
          </a:p>
        </p:txBody>
      </p:sp>
      <p:sp>
        <p:nvSpPr>
          <p:cNvPr id="592901" name="Text Box 5"/>
          <p:cNvSpPr txBox="1">
            <a:spLocks noChangeArrowheads="1"/>
          </p:cNvSpPr>
          <p:nvPr/>
        </p:nvSpPr>
        <p:spPr bwMode="auto">
          <a:xfrm>
            <a:off x="323850" y="3570288"/>
            <a:ext cx="8335963" cy="14224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显然，用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calloc()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函数开辟的存储空间相当于一个一维数组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个参数决定一维数组的大小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个参数决定数组元素类型所占的存储空间大小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函数的返回值是数组的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首地址</a:t>
            </a: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107950" y="657225"/>
            <a:ext cx="27352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2. calloc( 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11270" name="Text Box 7"/>
          <p:cNvSpPr txBox="1">
            <a:spLocks noChangeArrowheads="1"/>
          </p:cNvSpPr>
          <p:nvPr/>
        </p:nvSpPr>
        <p:spPr bwMode="auto">
          <a:xfrm>
            <a:off x="107950" y="101600"/>
            <a:ext cx="563968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Tx/>
              <a:buNone/>
              <a:tabLst/>
              <a:defRPr/>
            </a:pP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6.6.3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动态内存分配和释放函数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06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9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2900" grpId="0" animBg="1"/>
      <p:bldP spid="59290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Text Box 2"/>
          <p:cNvSpPr txBox="1">
            <a:spLocks noChangeArrowheads="1"/>
          </p:cNvSpPr>
          <p:nvPr/>
        </p:nvSpPr>
        <p:spPr bwMode="auto">
          <a:xfrm>
            <a:off x="250825" y="1160463"/>
            <a:ext cx="5437188" cy="52322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函数原型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void  free(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void  *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 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593923" name="Text Box 3"/>
          <p:cNvSpPr txBox="1">
            <a:spLocks noChangeArrowheads="1"/>
          </p:cNvSpPr>
          <p:nvPr/>
        </p:nvSpPr>
        <p:spPr bwMode="auto">
          <a:xfrm>
            <a:off x="144463" y="1758950"/>
            <a:ext cx="89281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作用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释放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由指针变量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所指向的动态存储空间，该函数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无返回值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44463" y="620713"/>
            <a:ext cx="2555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3. free( 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93925" name="Text Box 5"/>
          <p:cNvSpPr txBox="1">
            <a:spLocks noChangeArrowheads="1"/>
          </p:cNvSpPr>
          <p:nvPr/>
        </p:nvSpPr>
        <p:spPr bwMode="auto">
          <a:xfrm>
            <a:off x="250825" y="2463800"/>
            <a:ext cx="8264525" cy="30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说明：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①参数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的值不是任意的地址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必须是程序中执行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malloc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calloc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函数所返回的地址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是无类型指针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(void  *),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但调用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函数时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不需要进行强制类型转换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计算机系统会自动转换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③该函数执行后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将指针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所指向的存储空间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交还给系统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系统可再重新分配</a:t>
            </a:r>
          </a:p>
        </p:txBody>
      </p:sp>
      <p:sp>
        <p:nvSpPr>
          <p:cNvPr id="12294" name="Text Box 7"/>
          <p:cNvSpPr txBox="1">
            <a:spLocks noChangeArrowheads="1"/>
          </p:cNvSpPr>
          <p:nvPr/>
        </p:nvSpPr>
        <p:spPr bwMode="auto">
          <a:xfrm>
            <a:off x="107950" y="101600"/>
            <a:ext cx="563968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Tx/>
              <a:buNone/>
              <a:tabLst/>
              <a:defRPr/>
            </a:pP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6.6.3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动态内存分配和释放函数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71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9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22" grpId="0" animBg="1"/>
      <p:bldP spid="59392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Text Box 2"/>
          <p:cNvSpPr txBox="1">
            <a:spLocks noChangeArrowheads="1"/>
          </p:cNvSpPr>
          <p:nvPr/>
        </p:nvSpPr>
        <p:spPr bwMode="auto">
          <a:xfrm>
            <a:off x="6300788" y="2997200"/>
            <a:ext cx="719137" cy="149542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144463" y="620713"/>
            <a:ext cx="2555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3. free( 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94949" name="Text Box 5"/>
          <p:cNvSpPr txBox="1">
            <a:spLocks noChangeArrowheads="1"/>
          </p:cNvSpPr>
          <p:nvPr/>
        </p:nvSpPr>
        <p:spPr bwMode="auto">
          <a:xfrm>
            <a:off x="179388" y="1089025"/>
            <a:ext cx="5133975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*p=NULL;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p=(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*)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calloc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(3,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 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&lt;3;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*(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p+i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)=i+1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4950" name="Group 6"/>
          <p:cNvGrpSpPr>
            <a:grpSpLocks/>
          </p:cNvGrpSpPr>
          <p:nvPr/>
        </p:nvGrpSpPr>
        <p:grpSpPr bwMode="auto">
          <a:xfrm>
            <a:off x="3959225" y="2924175"/>
            <a:ext cx="1476375" cy="576263"/>
            <a:chOff x="2494" y="1865"/>
            <a:chExt cx="930" cy="340"/>
          </a:xfrm>
        </p:grpSpPr>
        <p:sp>
          <p:nvSpPr>
            <p:cNvPr id="13337" name="Rectangle 7"/>
            <p:cNvSpPr>
              <a:spLocks noChangeArrowheads="1"/>
            </p:cNvSpPr>
            <p:nvPr/>
          </p:nvSpPr>
          <p:spPr bwMode="auto">
            <a:xfrm>
              <a:off x="2721" y="1865"/>
              <a:ext cx="703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NULL</a:t>
              </a:r>
            </a:p>
          </p:txBody>
        </p:sp>
        <p:sp>
          <p:nvSpPr>
            <p:cNvPr id="13338" name="Text Box 8"/>
            <p:cNvSpPr txBox="1">
              <a:spLocks noChangeArrowheads="1"/>
            </p:cNvSpPr>
            <p:nvPr/>
          </p:nvSpPr>
          <p:spPr bwMode="auto">
            <a:xfrm>
              <a:off x="2494" y="1872"/>
              <a:ext cx="224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594953" name="Group 9"/>
          <p:cNvGrpSpPr>
            <a:grpSpLocks/>
          </p:cNvGrpSpPr>
          <p:nvPr/>
        </p:nvGrpSpPr>
        <p:grpSpPr bwMode="auto">
          <a:xfrm>
            <a:off x="6264275" y="2960688"/>
            <a:ext cx="1571625" cy="1552575"/>
            <a:chOff x="3946" y="1865"/>
            <a:chExt cx="990" cy="978"/>
          </a:xfrm>
        </p:grpSpPr>
        <p:grpSp>
          <p:nvGrpSpPr>
            <p:cNvPr id="13326" name="Group 10"/>
            <p:cNvGrpSpPr>
              <a:grpSpLocks/>
            </p:cNvGrpSpPr>
            <p:nvPr/>
          </p:nvGrpSpPr>
          <p:grpSpPr bwMode="auto">
            <a:xfrm>
              <a:off x="3946" y="1865"/>
              <a:ext cx="499" cy="978"/>
              <a:chOff x="3946" y="1865"/>
              <a:chExt cx="499" cy="978"/>
            </a:xfrm>
          </p:grpSpPr>
          <p:sp>
            <p:nvSpPr>
              <p:cNvPr id="13328" name="Rectangle 11"/>
              <p:cNvSpPr>
                <a:spLocks noChangeArrowheads="1"/>
              </p:cNvSpPr>
              <p:nvPr/>
            </p:nvSpPr>
            <p:spPr bwMode="auto">
              <a:xfrm>
                <a:off x="3946" y="2517"/>
                <a:ext cx="499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29" name="Rectangle 12"/>
              <p:cNvSpPr>
                <a:spLocks noChangeArrowheads="1"/>
              </p:cNvSpPr>
              <p:nvPr/>
            </p:nvSpPr>
            <p:spPr bwMode="auto">
              <a:xfrm>
                <a:off x="3946" y="2191"/>
                <a:ext cx="499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0" name="Rectangle 13"/>
              <p:cNvSpPr>
                <a:spLocks noChangeArrowheads="1"/>
              </p:cNvSpPr>
              <p:nvPr/>
            </p:nvSpPr>
            <p:spPr bwMode="auto">
              <a:xfrm>
                <a:off x="3946" y="1865"/>
                <a:ext cx="499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1" name="Line 14"/>
              <p:cNvSpPr>
                <a:spLocks noChangeShapeType="1"/>
              </p:cNvSpPr>
              <p:nvPr/>
            </p:nvSpPr>
            <p:spPr bwMode="auto">
              <a:xfrm>
                <a:off x="3946" y="1865"/>
                <a:ext cx="49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2" name="Line 15"/>
              <p:cNvSpPr>
                <a:spLocks noChangeShapeType="1"/>
              </p:cNvSpPr>
              <p:nvPr/>
            </p:nvSpPr>
            <p:spPr bwMode="auto">
              <a:xfrm>
                <a:off x="3946" y="2191"/>
                <a:ext cx="49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3" name="Line 16"/>
              <p:cNvSpPr>
                <a:spLocks noChangeShapeType="1"/>
              </p:cNvSpPr>
              <p:nvPr/>
            </p:nvSpPr>
            <p:spPr bwMode="auto">
              <a:xfrm>
                <a:off x="3946" y="2517"/>
                <a:ext cx="49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4" name="Line 17"/>
              <p:cNvSpPr>
                <a:spLocks noChangeShapeType="1"/>
              </p:cNvSpPr>
              <p:nvPr/>
            </p:nvSpPr>
            <p:spPr bwMode="auto">
              <a:xfrm>
                <a:off x="3946" y="2843"/>
                <a:ext cx="49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5" name="Line 18"/>
              <p:cNvSpPr>
                <a:spLocks noChangeShapeType="1"/>
              </p:cNvSpPr>
              <p:nvPr/>
            </p:nvSpPr>
            <p:spPr bwMode="auto">
              <a:xfrm>
                <a:off x="3946" y="1865"/>
                <a:ext cx="0" cy="97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6" name="Line 19"/>
              <p:cNvSpPr>
                <a:spLocks noChangeShapeType="1"/>
              </p:cNvSpPr>
              <p:nvPr/>
            </p:nvSpPr>
            <p:spPr bwMode="auto">
              <a:xfrm>
                <a:off x="4445" y="1865"/>
                <a:ext cx="0" cy="97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327" name="Text Box 20"/>
            <p:cNvSpPr txBox="1">
              <a:spLocks noChangeArrowheads="1"/>
            </p:cNvSpPr>
            <p:nvPr/>
          </p:nvSpPr>
          <p:spPr bwMode="auto">
            <a:xfrm>
              <a:off x="4432" y="1886"/>
              <a:ext cx="504" cy="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2010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2014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4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2018</a:t>
              </a:r>
            </a:p>
          </p:txBody>
        </p:sp>
      </p:grpSp>
      <p:sp>
        <p:nvSpPr>
          <p:cNvPr id="594965" name="Text Box 21"/>
          <p:cNvSpPr txBox="1">
            <a:spLocks noChangeArrowheads="1"/>
          </p:cNvSpPr>
          <p:nvPr/>
        </p:nvSpPr>
        <p:spPr bwMode="auto">
          <a:xfrm>
            <a:off x="4360863" y="2960688"/>
            <a:ext cx="1039812" cy="51911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2010</a:t>
            </a:r>
          </a:p>
        </p:txBody>
      </p:sp>
      <p:sp>
        <p:nvSpPr>
          <p:cNvPr id="594966" name="Line 22"/>
          <p:cNvSpPr>
            <a:spLocks noChangeShapeType="1"/>
          </p:cNvSpPr>
          <p:nvPr/>
        </p:nvSpPr>
        <p:spPr bwMode="auto">
          <a:xfrm>
            <a:off x="5472113" y="3213100"/>
            <a:ext cx="79216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967" name="Text Box 23"/>
          <p:cNvSpPr txBox="1">
            <a:spLocks noChangeArrowheads="1"/>
          </p:cNvSpPr>
          <p:nvPr/>
        </p:nvSpPr>
        <p:spPr bwMode="auto">
          <a:xfrm>
            <a:off x="5472113" y="2816225"/>
            <a:ext cx="6985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594969" name="Text Box 25"/>
          <p:cNvSpPr txBox="1">
            <a:spLocks noChangeArrowheads="1"/>
          </p:cNvSpPr>
          <p:nvPr/>
        </p:nvSpPr>
        <p:spPr bwMode="auto">
          <a:xfrm>
            <a:off x="3559175" y="4702175"/>
            <a:ext cx="5410200" cy="830263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函数释放的是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所指向的动态存储空间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并没有被释放</a:t>
            </a:r>
          </a:p>
        </p:txBody>
      </p:sp>
      <p:sp>
        <p:nvSpPr>
          <p:cNvPr id="594970" name="Rectangle 26"/>
          <p:cNvSpPr>
            <a:spLocks noChangeArrowheads="1"/>
          </p:cNvSpPr>
          <p:nvPr/>
        </p:nvSpPr>
        <p:spPr bwMode="auto">
          <a:xfrm>
            <a:off x="149225" y="3408363"/>
            <a:ext cx="43275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&lt;3;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("%d\n", *(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p+i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</p:txBody>
      </p:sp>
      <p:sp>
        <p:nvSpPr>
          <p:cNvPr id="594971" name="AutoShape 27"/>
          <p:cNvSpPr>
            <a:spLocks noChangeArrowheads="1"/>
          </p:cNvSpPr>
          <p:nvPr/>
        </p:nvSpPr>
        <p:spPr bwMode="auto">
          <a:xfrm>
            <a:off x="3959225" y="4976813"/>
            <a:ext cx="3097213" cy="1296987"/>
          </a:xfrm>
          <a:prstGeom prst="cloudCallout">
            <a:avLst>
              <a:gd name="adj1" fmla="val -83727"/>
              <a:gd name="adj2" fmla="val -75583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是否有输出？</a:t>
            </a:r>
          </a:p>
        </p:txBody>
      </p:sp>
      <p:sp>
        <p:nvSpPr>
          <p:cNvPr id="13325" name="Text Box 28"/>
          <p:cNvSpPr txBox="1">
            <a:spLocks noChangeArrowheads="1"/>
          </p:cNvSpPr>
          <p:nvPr/>
        </p:nvSpPr>
        <p:spPr bwMode="auto">
          <a:xfrm>
            <a:off x="107950" y="101600"/>
            <a:ext cx="563968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Tx/>
              <a:buNone/>
              <a:tabLst/>
              <a:defRPr/>
            </a:pP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6.6.3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动态内存分配和释放函数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4625" y="2994026"/>
            <a:ext cx="15544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free(p);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63243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9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59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9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59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594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5949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5" dur="500"/>
                                        <p:tgtEl>
                                          <p:spTgt spid="5949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8" dur="500"/>
                                        <p:tgtEl>
                                          <p:spTgt spid="5949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496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9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46" grpId="0" animBg="1"/>
      <p:bldP spid="594946" grpId="1" animBg="1"/>
      <p:bldP spid="594949" grpId="0" build="allAtOnce"/>
      <p:bldP spid="594967" grpId="0"/>
      <p:bldP spid="594967" grpId="1"/>
      <p:bldP spid="594969" grpId="0" animBg="1"/>
      <p:bldP spid="594970" grpId="0"/>
      <p:bldP spid="594971" grpId="0" animBg="1"/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ChangeArrowheads="1"/>
          </p:cNvSpPr>
          <p:nvPr/>
        </p:nvSpPr>
        <p:spPr bwMode="auto">
          <a:xfrm>
            <a:off x="458788" y="2416175"/>
            <a:ext cx="4113212" cy="1595438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66675" y="484188"/>
            <a:ext cx="8229600" cy="650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main( )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n,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*p=NULL;  float  sum=0,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&amp;n);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p=(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*)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calloc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(n,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if (p==NULL)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("\n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内存不足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!\n");    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exit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(-1);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for(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&lt;n;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("%d",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p+i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sum=sum+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*(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p+i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=sum/n;   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=%.2f \n",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free(p);</a:t>
            </a: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0" y="26988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6.23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计算某班英语成绩平均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用一维动态数组实现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8022" name="AutoShape 6"/>
          <p:cNvSpPr>
            <a:spLocks noChangeArrowheads="1"/>
          </p:cNvSpPr>
          <p:nvPr/>
        </p:nvSpPr>
        <p:spPr bwMode="auto">
          <a:xfrm>
            <a:off x="4319588" y="4384675"/>
            <a:ext cx="4213225" cy="1116013"/>
          </a:xfrm>
          <a:prstGeom prst="wedgeRectCallout">
            <a:avLst>
              <a:gd name="adj1" fmla="val -53208"/>
              <a:gd name="adj2" fmla="val -111778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分配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内存后必须检查指针变量是否为空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使用空指针可能导致程序瘫痪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98024" name="AutoShape 8"/>
          <p:cNvSpPr>
            <a:spLocks noChangeArrowheads="1"/>
          </p:cNvSpPr>
          <p:nvPr/>
        </p:nvSpPr>
        <p:spPr bwMode="auto">
          <a:xfrm>
            <a:off x="5548313" y="1911350"/>
            <a:ext cx="2984500" cy="431800"/>
          </a:xfrm>
          <a:prstGeom prst="wedgeRectCallout">
            <a:avLst>
              <a:gd name="adj1" fmla="val -91102"/>
              <a:gd name="adj2" fmla="val 34903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p=(int *)malloc(n*4);</a:t>
            </a:r>
          </a:p>
        </p:txBody>
      </p:sp>
    </p:spTree>
    <p:extLst>
      <p:ext uri="{BB962C8B-B14F-4D97-AF65-F5344CB8AC3E}">
        <p14:creationId xmlns:p14="http://schemas.microsoft.com/office/powerpoint/2010/main" val="78630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3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3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598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59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9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3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3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3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3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3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31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331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331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331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18" grpId="0" animBg="1"/>
      <p:bldP spid="598022" grpId="0" animBg="1"/>
      <p:bldP spid="5980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57A3D-704B-4267-88B0-3C834901B5EF}" type="slidenum">
              <a:rPr lang="zh-CN" altLang="en-US" smtClean="0"/>
              <a:t>59</a:t>
            </a:fld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3AD8796-42EB-E241-9402-8DA80FEDDCE2}"/>
              </a:ext>
            </a:extLst>
          </p:cNvPr>
          <p:cNvGrpSpPr/>
          <p:nvPr/>
        </p:nvGrpSpPr>
        <p:grpSpPr>
          <a:xfrm>
            <a:off x="203301" y="963604"/>
            <a:ext cx="5455970" cy="5128496"/>
            <a:chOff x="3090210" y="1067776"/>
            <a:chExt cx="5455970" cy="5128496"/>
          </a:xfrm>
        </p:grpSpPr>
        <p:sp>
          <p:nvSpPr>
            <p:cNvPr id="3" name="任意多边形 477" descr="UJN_博园">
              <a:extLst>
                <a:ext uri="{FF2B5EF4-FFF2-40B4-BE49-F238E27FC236}">
                  <a16:creationId xmlns:a16="http://schemas.microsoft.com/office/drawing/2014/main" id="{3493010C-736F-0EF8-CA6F-97F9C78E7F2B}"/>
                </a:ext>
              </a:extLst>
            </p:cNvPr>
            <p:cNvSpPr/>
            <p:nvPr/>
          </p:nvSpPr>
          <p:spPr>
            <a:xfrm>
              <a:off x="3090210" y="3676272"/>
              <a:ext cx="2988000" cy="2520000"/>
            </a:xfrm>
            <a:custGeom>
              <a:avLst/>
              <a:gdLst/>
              <a:ahLst/>
              <a:cxnLst>
                <a:cxn ang="0">
                  <a:pos x="0" y="80086"/>
                </a:cxn>
                <a:cxn ang="0">
                  <a:pos x="36315" y="0"/>
                </a:cxn>
                <a:cxn ang="0">
                  <a:pos x="132168" y="0"/>
                </a:cxn>
                <a:cxn ang="0">
                  <a:pos x="168483" y="80086"/>
                </a:cxn>
                <a:cxn ang="0">
                  <a:pos x="132168" y="160171"/>
                </a:cxn>
                <a:cxn ang="0">
                  <a:pos x="36315" y="160171"/>
                </a:cxn>
                <a:cxn ang="0">
                  <a:pos x="0" y="80086"/>
                </a:cxn>
              </a:cxnLst>
              <a:rect l="0" t="0" r="0" b="0"/>
              <a:pathLst>
                <a:path w="1930971" h="1664833">
                  <a:moveTo>
                    <a:pt x="0" y="832417"/>
                  </a:moveTo>
                  <a:lnTo>
                    <a:pt x="416208" y="0"/>
                  </a:lnTo>
                  <a:lnTo>
                    <a:pt x="1514763" y="0"/>
                  </a:lnTo>
                  <a:lnTo>
                    <a:pt x="1930971" y="832417"/>
                  </a:lnTo>
                  <a:lnTo>
                    <a:pt x="1514763" y="1664833"/>
                  </a:lnTo>
                  <a:lnTo>
                    <a:pt x="416208" y="1664833"/>
                  </a:lnTo>
                  <a:lnTo>
                    <a:pt x="0" y="832417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  <a:ln w="25400" cap="flat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任意多边形 485">
              <a:extLst>
                <a:ext uri="{FF2B5EF4-FFF2-40B4-BE49-F238E27FC236}">
                  <a16:creationId xmlns:a16="http://schemas.microsoft.com/office/drawing/2014/main" id="{102C410C-E257-CA2C-DF66-BD2C67B2A1CA}"/>
                </a:ext>
              </a:extLst>
            </p:cNvPr>
            <p:cNvSpPr/>
            <p:nvPr/>
          </p:nvSpPr>
          <p:spPr>
            <a:xfrm>
              <a:off x="5558180" y="2392747"/>
              <a:ext cx="2988000" cy="2520000"/>
            </a:xfrm>
            <a:custGeom>
              <a:avLst/>
              <a:gdLst/>
              <a:ahLst/>
              <a:cxnLst>
                <a:cxn ang="0">
                  <a:pos x="0" y="80086"/>
                </a:cxn>
                <a:cxn ang="0">
                  <a:pos x="36315" y="0"/>
                </a:cxn>
                <a:cxn ang="0">
                  <a:pos x="132168" y="0"/>
                </a:cxn>
                <a:cxn ang="0">
                  <a:pos x="168483" y="80086"/>
                </a:cxn>
                <a:cxn ang="0">
                  <a:pos x="132168" y="160171"/>
                </a:cxn>
                <a:cxn ang="0">
                  <a:pos x="36315" y="160171"/>
                </a:cxn>
                <a:cxn ang="0">
                  <a:pos x="0" y="80086"/>
                </a:cxn>
              </a:cxnLst>
              <a:rect l="0" t="0" r="0" b="0"/>
              <a:pathLst>
                <a:path w="1930971" h="1664833">
                  <a:moveTo>
                    <a:pt x="0" y="832417"/>
                  </a:moveTo>
                  <a:lnTo>
                    <a:pt x="416208" y="0"/>
                  </a:lnTo>
                  <a:lnTo>
                    <a:pt x="1514763" y="0"/>
                  </a:lnTo>
                  <a:lnTo>
                    <a:pt x="1930971" y="832417"/>
                  </a:lnTo>
                  <a:lnTo>
                    <a:pt x="1514763" y="1664833"/>
                  </a:lnTo>
                  <a:lnTo>
                    <a:pt x="416208" y="1664833"/>
                  </a:lnTo>
                  <a:lnTo>
                    <a:pt x="0" y="832417"/>
                  </a:lnTo>
                  <a:close/>
                </a:path>
              </a:pathLst>
            </a:custGeom>
            <a:blipFill rotWithShape="1">
              <a:blip r:embed="rId3"/>
              <a:stretch>
                <a:fillRect/>
              </a:stretch>
            </a:blipFill>
            <a:ln w="25400" cap="flat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任意多边形 485">
              <a:extLst>
                <a:ext uri="{FF2B5EF4-FFF2-40B4-BE49-F238E27FC236}">
                  <a16:creationId xmlns:a16="http://schemas.microsoft.com/office/drawing/2014/main" id="{C2CC672C-AF6B-6F7D-9FE5-1B4FB9BE53F7}"/>
                </a:ext>
              </a:extLst>
            </p:cNvPr>
            <p:cNvSpPr/>
            <p:nvPr/>
          </p:nvSpPr>
          <p:spPr>
            <a:xfrm>
              <a:off x="3109575" y="1067776"/>
              <a:ext cx="2988000" cy="2520000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18" y="0"/>
                </a:cxn>
                <a:cxn ang="0">
                  <a:pos x="66" y="0"/>
                </a:cxn>
                <a:cxn ang="0">
                  <a:pos x="84" y="40"/>
                </a:cxn>
                <a:cxn ang="0">
                  <a:pos x="66" y="80"/>
                </a:cxn>
                <a:cxn ang="0">
                  <a:pos x="18" y="80"/>
                </a:cxn>
                <a:cxn ang="0">
                  <a:pos x="0" y="40"/>
                </a:cxn>
              </a:cxnLst>
              <a:rect l="0" t="0" r="0" b="0"/>
              <a:pathLst>
                <a:path w="1930971" h="1664833">
                  <a:moveTo>
                    <a:pt x="0" y="832417"/>
                  </a:moveTo>
                  <a:lnTo>
                    <a:pt x="416208" y="0"/>
                  </a:lnTo>
                  <a:lnTo>
                    <a:pt x="1514763" y="0"/>
                  </a:lnTo>
                  <a:lnTo>
                    <a:pt x="1930971" y="832417"/>
                  </a:lnTo>
                  <a:lnTo>
                    <a:pt x="1514763" y="1664833"/>
                  </a:lnTo>
                  <a:lnTo>
                    <a:pt x="416208" y="1664833"/>
                  </a:lnTo>
                  <a:lnTo>
                    <a:pt x="0" y="832417"/>
                  </a:lnTo>
                  <a:close/>
                </a:path>
              </a:pathLst>
            </a:custGeom>
            <a:blipFill rotWithShape="1">
              <a:blip r:embed="rId4"/>
              <a:stretch>
                <a:fillRect/>
              </a:stretch>
            </a:blipFill>
            <a:ln w="25400" cap="flat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Text Box 3">
            <a:extLst>
              <a:ext uri="{FF2B5EF4-FFF2-40B4-BE49-F238E27FC236}">
                <a16:creationId xmlns:a16="http://schemas.microsoft.com/office/drawing/2014/main" id="{158FCCF6-5B7B-390C-4A4E-D448D62E358E}"/>
              </a:ext>
            </a:extLst>
          </p:cNvPr>
          <p:cNvSpPr txBox="1"/>
          <p:nvPr/>
        </p:nvSpPr>
        <p:spPr>
          <a:xfrm>
            <a:off x="5659271" y="2667996"/>
            <a:ext cx="3405099" cy="1631216"/>
          </a:xfrm>
          <a:prstGeom prst="rect">
            <a:avLst/>
          </a:prstGeom>
          <a:noFill/>
          <a:ln w="9525">
            <a:noFill/>
          </a:ln>
          <a:effectLst>
            <a:outerShdw dist="28398" dir="1593903" algn="ctr" rotWithShape="0">
              <a:srgbClr val="808080">
                <a:alpha val="50000"/>
              </a:srgbClr>
            </a:outerShdw>
          </a:effectLst>
        </p:spPr>
        <p:txBody>
          <a:bodyPr wrap="non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000" b="1" dirty="0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培养创新思维 </a:t>
            </a:r>
            <a:endParaRPr lang="en-US" altLang="zh-CN" sz="4000" b="1" dirty="0">
              <a:solidFill>
                <a:srgbClr val="0033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4000" b="1" dirty="0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提升编程能力</a:t>
            </a:r>
          </a:p>
        </p:txBody>
      </p:sp>
    </p:spTree>
    <p:extLst>
      <p:ext uri="{BB962C8B-B14F-4D97-AF65-F5344CB8AC3E}">
        <p14:creationId xmlns:p14="http://schemas.microsoft.com/office/powerpoint/2010/main" val="346690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algn="l" eaLnBrk="1" hangingPunct="1">
          <a:spcBef>
            <a:spcPts val="600"/>
          </a:spcBef>
          <a:buSzTx/>
          <a:buFontTx/>
          <a:buNone/>
          <a:defRPr sz="2400" b="1" dirty="0" smtClean="0">
            <a:latin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2709</TotalTime>
  <Words>7437</Words>
  <Application>Microsoft Office PowerPoint</Application>
  <PresentationFormat>全屏显示(4:3)</PresentationFormat>
  <Paragraphs>1592</Paragraphs>
  <Slides>59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8" baseType="lpstr">
      <vt:lpstr>GulimChe</vt:lpstr>
      <vt:lpstr>等线</vt:lpstr>
      <vt:lpstr>等线 Light</vt:lpstr>
      <vt:lpstr>黑体</vt:lpstr>
      <vt:lpstr>华文行楷</vt:lpstr>
      <vt:lpstr>华文楷体</vt:lpstr>
      <vt:lpstr>华文新魏</vt:lpstr>
      <vt:lpstr>华文中宋</vt:lpstr>
      <vt:lpstr>楷体</vt:lpstr>
      <vt:lpstr>楷体_GB2312</vt:lpstr>
      <vt:lpstr>宋体</vt:lpstr>
      <vt:lpstr>Arial</vt:lpstr>
      <vt:lpstr>Calibri</vt:lpstr>
      <vt:lpstr>Calibri Light</vt:lpstr>
      <vt:lpstr>Symbol</vt:lpstr>
      <vt:lpstr>Tahoma</vt:lpstr>
      <vt:lpstr>Times New Roman</vt:lpstr>
      <vt:lpstr>Wingdings</vt:lpstr>
      <vt:lpstr>Office 主题​​</vt:lpstr>
      <vt:lpstr> 程序设计基础（c 语言）</vt:lpstr>
      <vt:lpstr>第6章   指针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6.2.2 返回指针值的函数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6.5.1 指针数组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6.6 指针与动态内存分配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程序设计基础（c 语言）</dc:title>
  <dc:creator>China</dc:creator>
  <cp:lastModifiedBy>Microsoft</cp:lastModifiedBy>
  <cp:revision>125</cp:revision>
  <dcterms:created xsi:type="dcterms:W3CDTF">2023-06-27T02:50:00Z</dcterms:created>
  <dcterms:modified xsi:type="dcterms:W3CDTF">2025-12-08T04:40:40Z</dcterms:modified>
</cp:coreProperties>
</file>